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7"/>
    <p:sldId id="297" r:id="rId48"/>
    <p:sldId id="298" r:id="rId49"/>
    <p:sldId id="299" r:id="rId50"/>
    <p:sldId id="300" r:id="rId51"/>
    <p:sldId id="301" r:id="rId52"/>
    <p:sldId id="302" r:id="rId53"/>
    <p:sldId id="303" r:id="rId54"/>
    <p:sldId id="304" r:id="rId55"/>
    <p:sldId id="305" r:id="rId56"/>
    <p:sldId id="306" r:id="rId57"/>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33C"/>
        </a:solidFill>
      </p:bgPr>
    </p:bg>
    <p:spTree>
      <p:nvGrpSpPr>
        <p:cNvPr id="1" name=""/>
        <p:cNvGrpSpPr/>
        <p:nvPr/>
      </p:nvGrpSpPr>
      <p:grpSpPr>
        <a:xfrm>
          <a:off x="0" y="0"/>
          <a:ext cx="0" cy="0"/>
          <a:chOff x="0" y="0"/>
          <a:chExt cx="0" cy="0"/>
        </a:xfrm>
      </p:grpSpPr>
      <p:sp>
        <p:nvSpPr>
          <p:cNvPr id="2" name="Shape 0"/>
          <p:cNvSpPr/>
          <p:nvPr/>
        </p:nvSpPr>
        <p:spPr>
          <a:xfrm>
            <a:off x="576072" y="877824"/>
            <a:ext cx="77724" cy="4709160"/>
          </a:xfrm>
          <a:prstGeom prst="rect">
            <a:avLst/>
          </a:prstGeom>
          <a:solidFill>
            <a:srgbClr val="1AA6B7"/>
          </a:solidFill>
          <a:ln w="12700">
            <a:solidFill>
              <a:srgbClr val="1AA6B7">
                <a:alpha val="0"/>
              </a:srgbClr>
            </a:solidFill>
            <a:prstDash val="solid"/>
          </a:ln>
        </p:spPr>
      </p:sp>
      <p:sp>
        <p:nvSpPr>
          <p:cNvPr id="3" name="Text 1"/>
          <p:cNvSpPr/>
          <p:nvPr/>
        </p:nvSpPr>
        <p:spPr>
          <a:xfrm>
            <a:off x="932688" y="1353312"/>
            <a:ext cx="1042416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ptos" pitchFamily="34" charset="0"/>
                <a:ea typeface="Aptos" pitchFamily="34" charset="-122"/>
                <a:cs typeface="Aptos" pitchFamily="34" charset="-120"/>
              </a:rPr>
              <a:t>WINNING THE SPACE RACE</a:t>
            </a:r>
            <a:endParaRPr lang="en-US" sz="3600" dirty="0"/>
          </a:p>
        </p:txBody>
      </p:sp>
      <p:sp>
        <p:nvSpPr>
          <p:cNvPr id="4" name="Text 2"/>
          <p:cNvSpPr/>
          <p:nvPr/>
        </p:nvSpPr>
        <p:spPr>
          <a:xfrm>
            <a:off x="932688" y="2240280"/>
            <a:ext cx="10424160" cy="914400"/>
          </a:xfrm>
          <a:prstGeom prst="rect">
            <a:avLst/>
          </a:prstGeom>
          <a:noFill/>
          <a:ln/>
        </p:spPr>
        <p:txBody>
          <a:bodyPr wrap="square" lIns="0" tIns="0" rIns="0" bIns="0" rtlCol="0" anchor="ctr">
            <a:normAutofit/>
          </a:bodyPr>
          <a:lstStyle/>
          <a:p>
            <a:pPr indent="0" marL="0">
              <a:buNone/>
            </a:pPr>
            <a:r>
              <a:rPr lang="en-US" sz="3600" b="1" dirty="0">
                <a:solidFill>
                  <a:srgbClr val="79E6EE"/>
                </a:solidFill>
                <a:latin typeface="Aptos" pitchFamily="34" charset="0"/>
                <a:ea typeface="Aptos" pitchFamily="34" charset="-122"/>
                <a:cs typeface="Aptos" pitchFamily="34" charset="-120"/>
              </a:rPr>
              <a:t>WITH DATA SCIENCE</a:t>
            </a:r>
            <a:endParaRPr lang="en-US" sz="3600" dirty="0"/>
          </a:p>
        </p:txBody>
      </p:sp>
      <p:sp>
        <p:nvSpPr>
          <p:cNvPr id="5" name="Text 3"/>
          <p:cNvSpPr/>
          <p:nvPr/>
        </p:nvSpPr>
        <p:spPr>
          <a:xfrm>
            <a:off x="941832" y="3694176"/>
            <a:ext cx="9966960" cy="448056"/>
          </a:xfrm>
          <a:prstGeom prst="rect">
            <a:avLst/>
          </a:prstGeom>
          <a:noFill/>
          <a:ln/>
        </p:spPr>
        <p:txBody>
          <a:bodyPr wrap="square" lIns="0" tIns="0" rIns="0" bIns="0" rtlCol="0" anchor="ctr">
            <a:normAutofit/>
          </a:bodyPr>
          <a:lstStyle/>
          <a:p>
            <a:pPr indent="0" marL="0">
              <a:buNone/>
            </a:pPr>
            <a:r>
              <a:rPr lang="en-US" sz="2000" dirty="0">
                <a:solidFill>
                  <a:srgbClr val="FFFFFF"/>
                </a:solidFill>
                <a:latin typeface="Aptos" pitchFamily="34" charset="0"/>
                <a:ea typeface="Aptos" pitchFamily="34" charset="-122"/>
                <a:cs typeface="Aptos" pitchFamily="34" charset="-120"/>
              </a:rPr>
              <a:t>Predicting Falcon 9 first-stage landing outcomes</a:t>
            </a:r>
            <a:endParaRPr lang="en-US" sz="2000" dirty="0"/>
          </a:p>
        </p:txBody>
      </p:sp>
      <p:sp>
        <p:nvSpPr>
          <p:cNvPr id="6" name="Text 4"/>
          <p:cNvSpPr/>
          <p:nvPr/>
        </p:nvSpPr>
        <p:spPr>
          <a:xfrm>
            <a:off x="941832" y="5157216"/>
            <a:ext cx="9966960" cy="438912"/>
          </a:xfrm>
          <a:prstGeom prst="rect">
            <a:avLst/>
          </a:prstGeom>
          <a:noFill/>
          <a:ln/>
        </p:spPr>
        <p:txBody>
          <a:bodyPr wrap="square" lIns="0" tIns="0" rIns="0" bIns="0" rtlCol="0" anchor="ctr">
            <a:normAutofit/>
          </a:bodyPr>
          <a:lstStyle/>
          <a:p>
            <a:pPr indent="0" marL="0">
              <a:buNone/>
            </a:pPr>
            <a:r>
              <a:rPr lang="en-US" sz="1300" dirty="0">
                <a:solidFill>
                  <a:srgbClr val="B7CADB"/>
                </a:solidFill>
                <a:latin typeface="Aptos" pitchFamily="34" charset="0"/>
                <a:ea typeface="Aptos" pitchFamily="34" charset="-122"/>
                <a:cs typeface="Aptos" pitchFamily="34" charset="-120"/>
              </a:rPr>
              <a:t>Ckyree Campbell  |  IBM Applied Data Science Capstone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Outline</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02</a:t>
            </a:r>
            <a:endParaRPr lang="en-US" sz="900" dirty="0"/>
          </a:p>
        </p:txBody>
      </p:sp>
      <p:sp>
        <p:nvSpPr>
          <p:cNvPr id="8" name="Shape 6"/>
          <p:cNvSpPr/>
          <p:nvPr/>
        </p:nvSpPr>
        <p:spPr>
          <a:xfrm>
            <a:off x="777240" y="1435608"/>
            <a:ext cx="10515600" cy="685800"/>
          </a:xfrm>
          <a:prstGeom prst="rect">
            <a:avLst/>
          </a:prstGeom>
          <a:solidFill>
            <a:srgbClr val="F3F8FE"/>
          </a:solidFill>
          <a:ln w="12700">
            <a:solidFill>
              <a:srgbClr val="F3F8FE">
                <a:alpha val="0"/>
              </a:srgbClr>
            </a:solidFill>
            <a:prstDash val="solid"/>
          </a:ln>
        </p:spPr>
      </p:sp>
      <p:sp>
        <p:nvSpPr>
          <p:cNvPr id="9" name="Shape 7"/>
          <p:cNvSpPr/>
          <p:nvPr/>
        </p:nvSpPr>
        <p:spPr>
          <a:xfrm>
            <a:off x="777240" y="1435608"/>
            <a:ext cx="50292" cy="685800"/>
          </a:xfrm>
          <a:prstGeom prst="rect">
            <a:avLst/>
          </a:prstGeom>
          <a:solidFill>
            <a:srgbClr val="1AA6B7"/>
          </a:solidFill>
          <a:ln w="12700">
            <a:solidFill>
              <a:srgbClr val="1AA6B7">
                <a:alpha val="0"/>
              </a:srgbClr>
            </a:solidFill>
            <a:prstDash val="solid"/>
          </a:ln>
        </p:spPr>
      </p:sp>
      <p:sp>
        <p:nvSpPr>
          <p:cNvPr id="10" name="Text 8"/>
          <p:cNvSpPr/>
          <p:nvPr/>
        </p:nvSpPr>
        <p:spPr>
          <a:xfrm>
            <a:off x="978408" y="1563624"/>
            <a:ext cx="101498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01</a:t>
            </a:r>
            <a:endParaRPr lang="en-US" sz="1500" dirty="0"/>
          </a:p>
        </p:txBody>
      </p:sp>
      <p:sp>
        <p:nvSpPr>
          <p:cNvPr id="11" name="Text 9"/>
          <p:cNvSpPr/>
          <p:nvPr/>
        </p:nvSpPr>
        <p:spPr>
          <a:xfrm>
            <a:off x="978408" y="1874520"/>
            <a:ext cx="10122408" cy="1828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Problem + methods</a:t>
            </a:r>
            <a:endParaRPr lang="en-US" sz="1320" dirty="0"/>
          </a:p>
        </p:txBody>
      </p:sp>
      <p:sp>
        <p:nvSpPr>
          <p:cNvPr id="12" name="Shape 10"/>
          <p:cNvSpPr/>
          <p:nvPr/>
        </p:nvSpPr>
        <p:spPr>
          <a:xfrm>
            <a:off x="777240" y="2313432"/>
            <a:ext cx="10515600" cy="685800"/>
          </a:xfrm>
          <a:prstGeom prst="rect">
            <a:avLst/>
          </a:prstGeom>
          <a:solidFill>
            <a:srgbClr val="F3F8FE"/>
          </a:solidFill>
          <a:ln w="12700">
            <a:solidFill>
              <a:srgbClr val="F3F8FE">
                <a:alpha val="0"/>
              </a:srgbClr>
            </a:solidFill>
            <a:prstDash val="solid"/>
          </a:ln>
        </p:spPr>
      </p:sp>
      <p:sp>
        <p:nvSpPr>
          <p:cNvPr id="13" name="Shape 11"/>
          <p:cNvSpPr/>
          <p:nvPr/>
        </p:nvSpPr>
        <p:spPr>
          <a:xfrm>
            <a:off x="777240" y="2313432"/>
            <a:ext cx="50292" cy="685800"/>
          </a:xfrm>
          <a:prstGeom prst="rect">
            <a:avLst/>
          </a:prstGeom>
          <a:solidFill>
            <a:srgbClr val="1AA6B7"/>
          </a:solidFill>
          <a:ln w="12700">
            <a:solidFill>
              <a:srgbClr val="1AA6B7">
                <a:alpha val="0"/>
              </a:srgbClr>
            </a:solidFill>
            <a:prstDash val="solid"/>
          </a:ln>
        </p:spPr>
      </p:sp>
      <p:sp>
        <p:nvSpPr>
          <p:cNvPr id="14" name="Text 12"/>
          <p:cNvSpPr/>
          <p:nvPr/>
        </p:nvSpPr>
        <p:spPr>
          <a:xfrm>
            <a:off x="978408" y="2441448"/>
            <a:ext cx="101498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02</a:t>
            </a:r>
            <a:endParaRPr lang="en-US" sz="1500" dirty="0"/>
          </a:p>
        </p:txBody>
      </p:sp>
      <p:sp>
        <p:nvSpPr>
          <p:cNvPr id="15" name="Text 13"/>
          <p:cNvSpPr/>
          <p:nvPr/>
        </p:nvSpPr>
        <p:spPr>
          <a:xfrm>
            <a:off x="978408" y="2752344"/>
            <a:ext cx="10122408" cy="1828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Exploratory visual analysis</a:t>
            </a:r>
            <a:endParaRPr lang="en-US" sz="1320" dirty="0"/>
          </a:p>
        </p:txBody>
      </p:sp>
      <p:sp>
        <p:nvSpPr>
          <p:cNvPr id="16" name="Shape 14"/>
          <p:cNvSpPr/>
          <p:nvPr/>
        </p:nvSpPr>
        <p:spPr>
          <a:xfrm>
            <a:off x="777240" y="3191256"/>
            <a:ext cx="10515600" cy="685800"/>
          </a:xfrm>
          <a:prstGeom prst="rect">
            <a:avLst/>
          </a:prstGeom>
          <a:solidFill>
            <a:srgbClr val="F3F8FE"/>
          </a:solidFill>
          <a:ln w="12700">
            <a:solidFill>
              <a:srgbClr val="F3F8FE">
                <a:alpha val="0"/>
              </a:srgbClr>
            </a:solidFill>
            <a:prstDash val="solid"/>
          </a:ln>
        </p:spPr>
      </p:sp>
      <p:sp>
        <p:nvSpPr>
          <p:cNvPr id="17" name="Shape 15"/>
          <p:cNvSpPr/>
          <p:nvPr/>
        </p:nvSpPr>
        <p:spPr>
          <a:xfrm>
            <a:off x="777240" y="3191256"/>
            <a:ext cx="50292" cy="685800"/>
          </a:xfrm>
          <a:prstGeom prst="rect">
            <a:avLst/>
          </a:prstGeom>
          <a:solidFill>
            <a:srgbClr val="1AA6B7"/>
          </a:solidFill>
          <a:ln w="12700">
            <a:solidFill>
              <a:srgbClr val="1AA6B7">
                <a:alpha val="0"/>
              </a:srgbClr>
            </a:solidFill>
            <a:prstDash val="solid"/>
          </a:ln>
        </p:spPr>
      </p:sp>
      <p:sp>
        <p:nvSpPr>
          <p:cNvPr id="18" name="Text 16"/>
          <p:cNvSpPr/>
          <p:nvPr/>
        </p:nvSpPr>
        <p:spPr>
          <a:xfrm>
            <a:off x="978408" y="3319272"/>
            <a:ext cx="101498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03</a:t>
            </a:r>
            <a:endParaRPr lang="en-US" sz="1500" dirty="0"/>
          </a:p>
        </p:txBody>
      </p:sp>
      <p:sp>
        <p:nvSpPr>
          <p:cNvPr id="19" name="Text 17"/>
          <p:cNvSpPr/>
          <p:nvPr/>
        </p:nvSpPr>
        <p:spPr>
          <a:xfrm>
            <a:off x="978408" y="3630168"/>
            <a:ext cx="10122408" cy="1828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SQL results</a:t>
            </a:r>
            <a:endParaRPr lang="en-US" sz="1320" dirty="0"/>
          </a:p>
        </p:txBody>
      </p:sp>
      <p:sp>
        <p:nvSpPr>
          <p:cNvPr id="20" name="Shape 18"/>
          <p:cNvSpPr/>
          <p:nvPr/>
        </p:nvSpPr>
        <p:spPr>
          <a:xfrm>
            <a:off x="777240" y="4069080"/>
            <a:ext cx="10515600" cy="685800"/>
          </a:xfrm>
          <a:prstGeom prst="rect">
            <a:avLst/>
          </a:prstGeom>
          <a:solidFill>
            <a:srgbClr val="F3F8FE"/>
          </a:solidFill>
          <a:ln w="12700">
            <a:solidFill>
              <a:srgbClr val="F3F8FE">
                <a:alpha val="0"/>
              </a:srgbClr>
            </a:solidFill>
            <a:prstDash val="solid"/>
          </a:ln>
        </p:spPr>
      </p:sp>
      <p:sp>
        <p:nvSpPr>
          <p:cNvPr id="21" name="Shape 19"/>
          <p:cNvSpPr/>
          <p:nvPr/>
        </p:nvSpPr>
        <p:spPr>
          <a:xfrm>
            <a:off x="777240" y="4069080"/>
            <a:ext cx="50292" cy="685800"/>
          </a:xfrm>
          <a:prstGeom prst="rect">
            <a:avLst/>
          </a:prstGeom>
          <a:solidFill>
            <a:srgbClr val="1AA6B7"/>
          </a:solidFill>
          <a:ln w="12700">
            <a:solidFill>
              <a:srgbClr val="1AA6B7">
                <a:alpha val="0"/>
              </a:srgbClr>
            </a:solidFill>
            <a:prstDash val="solid"/>
          </a:ln>
        </p:spPr>
      </p:sp>
      <p:sp>
        <p:nvSpPr>
          <p:cNvPr id="22" name="Text 20"/>
          <p:cNvSpPr/>
          <p:nvPr/>
        </p:nvSpPr>
        <p:spPr>
          <a:xfrm>
            <a:off x="978408" y="4197096"/>
            <a:ext cx="101498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04</a:t>
            </a:r>
            <a:endParaRPr lang="en-US" sz="1500" dirty="0"/>
          </a:p>
        </p:txBody>
      </p:sp>
      <p:sp>
        <p:nvSpPr>
          <p:cNvPr id="23" name="Text 21"/>
          <p:cNvSpPr/>
          <p:nvPr/>
        </p:nvSpPr>
        <p:spPr>
          <a:xfrm>
            <a:off x="978408" y="4507992"/>
            <a:ext cx="10122408" cy="1828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Mapping + interactive analytics</a:t>
            </a:r>
            <a:endParaRPr lang="en-US" sz="1320" dirty="0"/>
          </a:p>
        </p:txBody>
      </p:sp>
      <p:sp>
        <p:nvSpPr>
          <p:cNvPr id="24" name="Shape 22"/>
          <p:cNvSpPr/>
          <p:nvPr/>
        </p:nvSpPr>
        <p:spPr>
          <a:xfrm>
            <a:off x="777240" y="4946904"/>
            <a:ext cx="10515600" cy="685800"/>
          </a:xfrm>
          <a:prstGeom prst="rect">
            <a:avLst/>
          </a:prstGeom>
          <a:solidFill>
            <a:srgbClr val="F3F8FE"/>
          </a:solidFill>
          <a:ln w="12700">
            <a:solidFill>
              <a:srgbClr val="F3F8FE">
                <a:alpha val="0"/>
              </a:srgbClr>
            </a:solidFill>
            <a:prstDash val="solid"/>
          </a:ln>
        </p:spPr>
      </p:sp>
      <p:sp>
        <p:nvSpPr>
          <p:cNvPr id="25" name="Shape 23"/>
          <p:cNvSpPr/>
          <p:nvPr/>
        </p:nvSpPr>
        <p:spPr>
          <a:xfrm>
            <a:off x="777240" y="4946904"/>
            <a:ext cx="50292" cy="685800"/>
          </a:xfrm>
          <a:prstGeom prst="rect">
            <a:avLst/>
          </a:prstGeom>
          <a:solidFill>
            <a:srgbClr val="1AA6B7"/>
          </a:solidFill>
          <a:ln w="12700">
            <a:solidFill>
              <a:srgbClr val="1AA6B7">
                <a:alpha val="0"/>
              </a:srgbClr>
            </a:solidFill>
            <a:prstDash val="solid"/>
          </a:ln>
        </p:spPr>
      </p:sp>
      <p:sp>
        <p:nvSpPr>
          <p:cNvPr id="26" name="Text 24"/>
          <p:cNvSpPr/>
          <p:nvPr/>
        </p:nvSpPr>
        <p:spPr>
          <a:xfrm>
            <a:off x="978408" y="5074920"/>
            <a:ext cx="101498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05</a:t>
            </a:r>
            <a:endParaRPr lang="en-US" sz="1500" dirty="0"/>
          </a:p>
        </p:txBody>
      </p:sp>
      <p:sp>
        <p:nvSpPr>
          <p:cNvPr id="27" name="Text 25"/>
          <p:cNvSpPr/>
          <p:nvPr/>
        </p:nvSpPr>
        <p:spPr>
          <a:xfrm>
            <a:off x="978408" y="5385816"/>
            <a:ext cx="10122408" cy="1828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Classification + conclusions</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Executive summary | Tested findings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03</a:t>
            </a:r>
            <a:endParaRPr lang="en-US" sz="900" dirty="0"/>
          </a:p>
        </p:txBody>
      </p:sp>
      <p:sp>
        <p:nvSpPr>
          <p:cNvPr id="8" name="Shape 6"/>
          <p:cNvSpPr/>
          <p:nvPr/>
        </p:nvSpPr>
        <p:spPr>
          <a:xfrm>
            <a:off x="694944" y="1490472"/>
            <a:ext cx="10762488" cy="868680"/>
          </a:xfrm>
          <a:prstGeom prst="rect">
            <a:avLst/>
          </a:prstGeom>
          <a:solidFill>
            <a:srgbClr val="F3F8FE"/>
          </a:solidFill>
          <a:ln w="12700">
            <a:solidFill>
              <a:srgbClr val="F3F8FE">
                <a:alpha val="0"/>
              </a:srgbClr>
            </a:solidFill>
            <a:prstDash val="solid"/>
          </a:ln>
        </p:spPr>
      </p:sp>
      <p:sp>
        <p:nvSpPr>
          <p:cNvPr id="9" name="Shape 7"/>
          <p:cNvSpPr/>
          <p:nvPr/>
        </p:nvSpPr>
        <p:spPr>
          <a:xfrm>
            <a:off x="694944" y="1490472"/>
            <a:ext cx="50292" cy="868680"/>
          </a:xfrm>
          <a:prstGeom prst="rect">
            <a:avLst/>
          </a:prstGeom>
          <a:solidFill>
            <a:srgbClr val="1AA6B7"/>
          </a:solidFill>
          <a:ln w="12700">
            <a:solidFill>
              <a:srgbClr val="1AA6B7">
                <a:alpha val="0"/>
              </a:srgbClr>
            </a:solidFill>
            <a:prstDash val="solid"/>
          </a:ln>
        </p:spPr>
      </p:sp>
      <p:sp>
        <p:nvSpPr>
          <p:cNvPr id="10" name="Text 8"/>
          <p:cNvSpPr/>
          <p:nvPr/>
        </p:nvSpPr>
        <p:spPr>
          <a:xfrm>
            <a:off x="896112" y="1618488"/>
            <a:ext cx="10396728"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WHY</a:t>
            </a:r>
            <a:endParaRPr lang="en-US" sz="1500" dirty="0"/>
          </a:p>
        </p:txBody>
      </p:sp>
      <p:sp>
        <p:nvSpPr>
          <p:cNvPr id="11" name="Text 9"/>
          <p:cNvSpPr/>
          <p:nvPr/>
        </p:nvSpPr>
        <p:spPr>
          <a:xfrm>
            <a:off x="896112" y="1929384"/>
            <a:ext cx="10369296" cy="36576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commercial objective is to understand which launch characteristics correlate with first-stage recovery, potentially informing assessments of booster reuse.</a:t>
            </a:r>
            <a:endParaRPr lang="en-US" sz="1320" dirty="0"/>
          </a:p>
        </p:txBody>
      </p:sp>
      <p:sp>
        <p:nvSpPr>
          <p:cNvPr id="12" name="Shape 10"/>
          <p:cNvSpPr/>
          <p:nvPr/>
        </p:nvSpPr>
        <p:spPr>
          <a:xfrm>
            <a:off x="694944" y="2569464"/>
            <a:ext cx="10762488" cy="932688"/>
          </a:xfrm>
          <a:prstGeom prst="rect">
            <a:avLst/>
          </a:prstGeom>
          <a:solidFill>
            <a:srgbClr val="F3F8FE"/>
          </a:solidFill>
          <a:ln w="12700">
            <a:solidFill>
              <a:srgbClr val="F3F8FE">
                <a:alpha val="0"/>
              </a:srgbClr>
            </a:solidFill>
            <a:prstDash val="solid"/>
          </a:ln>
        </p:spPr>
      </p:sp>
      <p:sp>
        <p:nvSpPr>
          <p:cNvPr id="13" name="Shape 11"/>
          <p:cNvSpPr/>
          <p:nvPr/>
        </p:nvSpPr>
        <p:spPr>
          <a:xfrm>
            <a:off x="694944" y="2569464"/>
            <a:ext cx="50292" cy="932688"/>
          </a:xfrm>
          <a:prstGeom prst="rect">
            <a:avLst/>
          </a:prstGeom>
          <a:solidFill>
            <a:srgbClr val="1AA6B7"/>
          </a:solidFill>
          <a:ln w="12700">
            <a:solidFill>
              <a:srgbClr val="1AA6B7">
                <a:alpha val="0"/>
              </a:srgbClr>
            </a:solidFill>
            <a:prstDash val="solid"/>
          </a:ln>
        </p:spPr>
      </p:sp>
      <p:sp>
        <p:nvSpPr>
          <p:cNvPr id="14" name="Text 12"/>
          <p:cNvSpPr/>
          <p:nvPr/>
        </p:nvSpPr>
        <p:spPr>
          <a:xfrm>
            <a:off x="896112" y="2697480"/>
            <a:ext cx="10396728"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METHOD</a:t>
            </a:r>
            <a:endParaRPr lang="en-US" sz="1500" dirty="0"/>
          </a:p>
        </p:txBody>
      </p:sp>
      <p:sp>
        <p:nvSpPr>
          <p:cNvPr id="15" name="Text 13"/>
          <p:cNvSpPr/>
          <p:nvPr/>
        </p:nvSpPr>
        <p:spPr>
          <a:xfrm>
            <a:off x="896112" y="3008376"/>
            <a:ext cx="10369296" cy="429768"/>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Transcribed the 56-row public IBM dashboard sample; conducted ten SQL queries, six exploratory plots, geographic mapping, and cross-validated training of four classifiers.</a:t>
            </a:r>
            <a:endParaRPr lang="en-US" sz="1320" dirty="0"/>
          </a:p>
        </p:txBody>
      </p:sp>
      <p:sp>
        <p:nvSpPr>
          <p:cNvPr id="16" name="Shape 14"/>
          <p:cNvSpPr/>
          <p:nvPr/>
        </p:nvSpPr>
        <p:spPr>
          <a:xfrm>
            <a:off x="694944" y="3712464"/>
            <a:ext cx="10762488" cy="1078992"/>
          </a:xfrm>
          <a:prstGeom prst="rect">
            <a:avLst/>
          </a:prstGeom>
          <a:solidFill>
            <a:srgbClr val="F3F8FE"/>
          </a:solidFill>
          <a:ln w="12700">
            <a:solidFill>
              <a:srgbClr val="F3F8FE">
                <a:alpha val="0"/>
              </a:srgbClr>
            </a:solidFill>
            <a:prstDash val="solid"/>
          </a:ln>
        </p:spPr>
      </p:sp>
      <p:sp>
        <p:nvSpPr>
          <p:cNvPr id="17" name="Shape 15"/>
          <p:cNvSpPr/>
          <p:nvPr/>
        </p:nvSpPr>
        <p:spPr>
          <a:xfrm>
            <a:off x="694944" y="3712464"/>
            <a:ext cx="50292" cy="1078992"/>
          </a:xfrm>
          <a:prstGeom prst="rect">
            <a:avLst/>
          </a:prstGeom>
          <a:solidFill>
            <a:srgbClr val="1AA6B7"/>
          </a:solidFill>
          <a:ln w="12700">
            <a:solidFill>
              <a:srgbClr val="1AA6B7">
                <a:alpha val="0"/>
              </a:srgbClr>
            </a:solidFill>
            <a:prstDash val="solid"/>
          </a:ln>
        </p:spPr>
      </p:sp>
      <p:sp>
        <p:nvSpPr>
          <p:cNvPr id="18" name="Text 16"/>
          <p:cNvSpPr/>
          <p:nvPr/>
        </p:nvSpPr>
        <p:spPr>
          <a:xfrm>
            <a:off x="896112" y="3840480"/>
            <a:ext cx="10396728"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MEASURED OUTCOMES</a:t>
            </a:r>
            <a:endParaRPr lang="en-US" sz="1500" dirty="0"/>
          </a:p>
        </p:txBody>
      </p:sp>
      <p:sp>
        <p:nvSpPr>
          <p:cNvPr id="19" name="Text 17"/>
          <p:cNvSpPr/>
          <p:nvPr/>
        </p:nvSpPr>
        <p:spPr>
          <a:xfrm>
            <a:off x="896112" y="4151376"/>
            <a:ext cx="10369296" cy="576072"/>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24 of 56 historical records indicate successful recovery (42.9%). A tuned linear SVM led 3-fold cross-validation (78.6%) and scored 78.6% on the 14-record holdout. The dataset is small.</a:t>
            </a:r>
            <a:endParaRPr lang="en-US" sz="1320" dirty="0"/>
          </a:p>
        </p:txBody>
      </p:sp>
      <p:sp>
        <p:nvSpPr>
          <p:cNvPr id="20" name="Shape 18"/>
          <p:cNvSpPr/>
          <p:nvPr/>
        </p:nvSpPr>
        <p:spPr>
          <a:xfrm>
            <a:off x="694944" y="5020056"/>
            <a:ext cx="10762488" cy="950976"/>
          </a:xfrm>
          <a:prstGeom prst="rect">
            <a:avLst/>
          </a:prstGeom>
          <a:solidFill>
            <a:srgbClr val="F3F8FE"/>
          </a:solidFill>
          <a:ln w="12700">
            <a:solidFill>
              <a:srgbClr val="F3F8FE">
                <a:alpha val="0"/>
              </a:srgbClr>
            </a:solidFill>
            <a:prstDash val="solid"/>
          </a:ln>
        </p:spPr>
      </p:sp>
      <p:sp>
        <p:nvSpPr>
          <p:cNvPr id="21" name="Shape 19"/>
          <p:cNvSpPr/>
          <p:nvPr/>
        </p:nvSpPr>
        <p:spPr>
          <a:xfrm>
            <a:off x="694944" y="5020056"/>
            <a:ext cx="50292" cy="950976"/>
          </a:xfrm>
          <a:prstGeom prst="rect">
            <a:avLst/>
          </a:prstGeom>
          <a:solidFill>
            <a:srgbClr val="1AA6B7"/>
          </a:solidFill>
          <a:ln w="12700">
            <a:solidFill>
              <a:srgbClr val="1AA6B7">
                <a:alpha val="0"/>
              </a:srgbClr>
            </a:solidFill>
            <a:prstDash val="solid"/>
          </a:ln>
        </p:spPr>
      </p:sp>
      <p:sp>
        <p:nvSpPr>
          <p:cNvPr id="22" name="Text 20"/>
          <p:cNvSpPr/>
          <p:nvPr/>
        </p:nvSpPr>
        <p:spPr>
          <a:xfrm>
            <a:off x="896112" y="5148072"/>
            <a:ext cx="10396728"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DECISION IMPLICATION</a:t>
            </a:r>
            <a:endParaRPr lang="en-US" sz="1500" dirty="0"/>
          </a:p>
        </p:txBody>
      </p:sp>
      <p:sp>
        <p:nvSpPr>
          <p:cNvPr id="23" name="Text 21"/>
          <p:cNvSpPr/>
          <p:nvPr/>
        </p:nvSpPr>
        <p:spPr>
          <a:xfrm>
            <a:off x="896112" y="5458968"/>
            <a:ext cx="10369296" cy="44805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Flight maturity and booster generation show relationships with landing outcome, but site and payload differences are confounded. These exploratory models are not operational forecasts.</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Introduction | Business question and boundaries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04</a:t>
            </a:r>
            <a:endParaRPr lang="en-US" sz="900" dirty="0"/>
          </a:p>
        </p:txBody>
      </p:sp>
      <p:sp>
        <p:nvSpPr>
          <p:cNvPr id="8" name="Shape 6"/>
          <p:cNvSpPr/>
          <p:nvPr/>
        </p:nvSpPr>
        <p:spPr>
          <a:xfrm>
            <a:off x="694944" y="1527048"/>
            <a:ext cx="10789920" cy="1097280"/>
          </a:xfrm>
          <a:prstGeom prst="rect">
            <a:avLst/>
          </a:prstGeom>
          <a:solidFill>
            <a:srgbClr val="F3F8FE"/>
          </a:solidFill>
          <a:ln w="12700">
            <a:solidFill>
              <a:srgbClr val="F3F8FE">
                <a:alpha val="0"/>
              </a:srgbClr>
            </a:solidFill>
            <a:prstDash val="solid"/>
          </a:ln>
        </p:spPr>
      </p:sp>
      <p:sp>
        <p:nvSpPr>
          <p:cNvPr id="9" name="Shape 7"/>
          <p:cNvSpPr/>
          <p:nvPr/>
        </p:nvSpPr>
        <p:spPr>
          <a:xfrm>
            <a:off x="694944" y="1527048"/>
            <a:ext cx="50292" cy="1097280"/>
          </a:xfrm>
          <a:prstGeom prst="rect">
            <a:avLst/>
          </a:prstGeom>
          <a:solidFill>
            <a:srgbClr val="1AA6B7"/>
          </a:solidFill>
          <a:ln w="12700">
            <a:solidFill>
              <a:srgbClr val="1AA6B7">
                <a:alpha val="0"/>
              </a:srgbClr>
            </a:solidFill>
            <a:prstDash val="solid"/>
          </a:ln>
        </p:spPr>
      </p:sp>
      <p:sp>
        <p:nvSpPr>
          <p:cNvPr id="10" name="Text 8"/>
          <p:cNvSpPr/>
          <p:nvPr/>
        </p:nvSpPr>
        <p:spPr>
          <a:xfrm>
            <a:off x="896112" y="1655064"/>
            <a:ext cx="1042416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BUSINESS PROBLEM</a:t>
            </a:r>
            <a:endParaRPr lang="en-US" sz="1500" dirty="0"/>
          </a:p>
        </p:txBody>
      </p:sp>
      <p:sp>
        <p:nvSpPr>
          <p:cNvPr id="11" name="Text 9"/>
          <p:cNvSpPr/>
          <p:nvPr/>
        </p:nvSpPr>
        <p:spPr>
          <a:xfrm>
            <a:off x="896112" y="1965960"/>
            <a:ext cx="10396728" cy="59436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Falcon 9 reusability affects the economics of launch services. The analytical question: can historical mission characteristics help classify successful first-stage recovery?</a:t>
            </a:r>
            <a:endParaRPr lang="en-US" sz="1320" dirty="0"/>
          </a:p>
        </p:txBody>
      </p:sp>
      <p:sp>
        <p:nvSpPr>
          <p:cNvPr id="12" name="Shape 10"/>
          <p:cNvSpPr/>
          <p:nvPr/>
        </p:nvSpPr>
        <p:spPr>
          <a:xfrm>
            <a:off x="694944" y="2843784"/>
            <a:ext cx="10789920" cy="1097280"/>
          </a:xfrm>
          <a:prstGeom prst="rect">
            <a:avLst/>
          </a:prstGeom>
          <a:solidFill>
            <a:srgbClr val="F3F8FE"/>
          </a:solidFill>
          <a:ln w="12700">
            <a:solidFill>
              <a:srgbClr val="F3F8FE">
                <a:alpha val="0"/>
              </a:srgbClr>
            </a:solidFill>
            <a:prstDash val="solid"/>
          </a:ln>
        </p:spPr>
      </p:sp>
      <p:sp>
        <p:nvSpPr>
          <p:cNvPr id="13" name="Shape 11"/>
          <p:cNvSpPr/>
          <p:nvPr/>
        </p:nvSpPr>
        <p:spPr>
          <a:xfrm>
            <a:off x="694944" y="2843784"/>
            <a:ext cx="50292" cy="1097280"/>
          </a:xfrm>
          <a:prstGeom prst="rect">
            <a:avLst/>
          </a:prstGeom>
          <a:solidFill>
            <a:srgbClr val="1AA6B7"/>
          </a:solidFill>
          <a:ln w="12700">
            <a:solidFill>
              <a:srgbClr val="1AA6B7">
                <a:alpha val="0"/>
              </a:srgbClr>
            </a:solidFill>
            <a:prstDash val="solid"/>
          </a:ln>
        </p:spPr>
      </p:sp>
      <p:sp>
        <p:nvSpPr>
          <p:cNvPr id="14" name="Text 12"/>
          <p:cNvSpPr/>
          <p:nvPr/>
        </p:nvSpPr>
        <p:spPr>
          <a:xfrm>
            <a:off x="896112" y="2971800"/>
            <a:ext cx="1042416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LABEL</a:t>
            </a:r>
            <a:endParaRPr lang="en-US" sz="1500" dirty="0"/>
          </a:p>
        </p:txBody>
      </p:sp>
      <p:sp>
        <p:nvSpPr>
          <p:cNvPr id="15" name="Text 13"/>
          <p:cNvSpPr/>
          <p:nvPr/>
        </p:nvSpPr>
        <p:spPr>
          <a:xfrm>
            <a:off x="896112" y="3282696"/>
            <a:ext cx="10396728" cy="59436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Class = 1 denotes a favorable historical landing outcome in the public dashboard sample; Class = 0 denotes the opposite. This must not be confused with overall mission success.</a:t>
            </a:r>
            <a:endParaRPr lang="en-US" sz="1320" dirty="0"/>
          </a:p>
        </p:txBody>
      </p:sp>
      <p:sp>
        <p:nvSpPr>
          <p:cNvPr id="16" name="Shape 14"/>
          <p:cNvSpPr/>
          <p:nvPr/>
        </p:nvSpPr>
        <p:spPr>
          <a:xfrm>
            <a:off x="694944" y="4178808"/>
            <a:ext cx="10789920" cy="1307592"/>
          </a:xfrm>
          <a:prstGeom prst="rect">
            <a:avLst/>
          </a:prstGeom>
          <a:solidFill>
            <a:srgbClr val="F3F8FE"/>
          </a:solidFill>
          <a:ln w="12700">
            <a:solidFill>
              <a:srgbClr val="F3F8FE">
                <a:alpha val="0"/>
              </a:srgbClr>
            </a:solidFill>
            <a:prstDash val="solid"/>
          </a:ln>
        </p:spPr>
      </p:sp>
      <p:sp>
        <p:nvSpPr>
          <p:cNvPr id="17" name="Shape 15"/>
          <p:cNvSpPr/>
          <p:nvPr/>
        </p:nvSpPr>
        <p:spPr>
          <a:xfrm>
            <a:off x="694944" y="4178808"/>
            <a:ext cx="50292" cy="1307592"/>
          </a:xfrm>
          <a:prstGeom prst="rect">
            <a:avLst/>
          </a:prstGeom>
          <a:solidFill>
            <a:srgbClr val="1AA6B7"/>
          </a:solidFill>
          <a:ln w="12700">
            <a:solidFill>
              <a:srgbClr val="1AA6B7">
                <a:alpha val="0"/>
              </a:srgbClr>
            </a:solidFill>
            <a:prstDash val="solid"/>
          </a:ln>
        </p:spPr>
      </p:sp>
      <p:sp>
        <p:nvSpPr>
          <p:cNvPr id="18" name="Text 16"/>
          <p:cNvSpPr/>
          <p:nvPr/>
        </p:nvSpPr>
        <p:spPr>
          <a:xfrm>
            <a:off x="896112" y="4306824"/>
            <a:ext cx="1042416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SCOPE</a:t>
            </a:r>
            <a:endParaRPr lang="en-US" sz="1500" dirty="0"/>
          </a:p>
        </p:txBody>
      </p:sp>
      <p:sp>
        <p:nvSpPr>
          <p:cNvPr id="19" name="Text 17"/>
          <p:cNvSpPr/>
          <p:nvPr/>
        </p:nvSpPr>
        <p:spPr>
          <a:xfrm>
            <a:off x="896112" y="4617720"/>
            <a:ext cx="10396728" cy="804672"/>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executed evidence in this report is based on 56 public, historical dashboard rows. IBM also uses a separate 90-launch API dataset. Results across these datasets cannot be combined without reconciliation.</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Methodology | End-to-end research design</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05</a:t>
            </a:r>
            <a:endParaRPr lang="en-US" sz="900" dirty="0"/>
          </a:p>
        </p:txBody>
      </p:sp>
      <p:sp>
        <p:nvSpPr>
          <p:cNvPr id="8" name="Shape 6"/>
          <p:cNvSpPr/>
          <p:nvPr/>
        </p:nvSpPr>
        <p:spPr>
          <a:xfrm>
            <a:off x="731520" y="1490472"/>
            <a:ext cx="10671048" cy="521208"/>
          </a:xfrm>
          <a:prstGeom prst="rect">
            <a:avLst/>
          </a:prstGeom>
          <a:solidFill>
            <a:srgbClr val="F4F8FD"/>
          </a:solidFill>
          <a:ln w="12700">
            <a:solidFill>
              <a:srgbClr val="F4F8FD">
                <a:alpha val="0"/>
              </a:srgbClr>
            </a:solidFill>
            <a:prstDash val="solid"/>
          </a:ln>
        </p:spPr>
      </p:sp>
      <p:sp>
        <p:nvSpPr>
          <p:cNvPr id="9" name="Text 7"/>
          <p:cNvSpPr/>
          <p:nvPr/>
        </p:nvSpPr>
        <p:spPr>
          <a:xfrm>
            <a:off x="996696" y="1572768"/>
            <a:ext cx="10149840" cy="292608"/>
          </a:xfrm>
          <a:prstGeom prst="rect">
            <a:avLst/>
          </a:prstGeom>
          <a:noFill/>
          <a:ln/>
        </p:spPr>
        <p:txBody>
          <a:bodyPr wrap="square" lIns="0" tIns="0" rIns="0" bIns="0" rtlCol="0" anchor="ctr">
            <a:normAutofit/>
          </a:bodyPr>
          <a:lstStyle/>
          <a:p>
            <a:pPr indent="0" marL="0">
              <a:buNone/>
            </a:pPr>
            <a:r>
              <a:rPr lang="en-US" sz="1600" b="1" dirty="0">
                <a:solidFill>
                  <a:srgbClr val="18304C"/>
                </a:solidFill>
                <a:latin typeface="Aptos" pitchFamily="34" charset="0"/>
                <a:ea typeface="Aptos" pitchFamily="34" charset="-122"/>
                <a:cs typeface="Aptos" pitchFamily="34" charset="-120"/>
              </a:rPr>
              <a:t>1.  Source &amp; transcribe public course CSV</a:t>
            </a:r>
            <a:endParaRPr lang="en-US" sz="1600" dirty="0"/>
          </a:p>
        </p:txBody>
      </p:sp>
      <p:sp>
        <p:nvSpPr>
          <p:cNvPr id="10" name="Shape 8"/>
          <p:cNvSpPr/>
          <p:nvPr/>
        </p:nvSpPr>
        <p:spPr>
          <a:xfrm>
            <a:off x="731520" y="2185416"/>
            <a:ext cx="10671048" cy="521208"/>
          </a:xfrm>
          <a:prstGeom prst="rect">
            <a:avLst/>
          </a:prstGeom>
          <a:solidFill>
            <a:srgbClr val="E8F0FB"/>
          </a:solidFill>
          <a:ln w="12700">
            <a:solidFill>
              <a:srgbClr val="E8F0FB">
                <a:alpha val="0"/>
              </a:srgbClr>
            </a:solidFill>
            <a:prstDash val="solid"/>
          </a:ln>
        </p:spPr>
      </p:sp>
      <p:sp>
        <p:nvSpPr>
          <p:cNvPr id="11" name="Text 9"/>
          <p:cNvSpPr/>
          <p:nvPr/>
        </p:nvSpPr>
        <p:spPr>
          <a:xfrm>
            <a:off x="996696" y="2267712"/>
            <a:ext cx="10149840" cy="292608"/>
          </a:xfrm>
          <a:prstGeom prst="rect">
            <a:avLst/>
          </a:prstGeom>
          <a:noFill/>
          <a:ln/>
        </p:spPr>
        <p:txBody>
          <a:bodyPr wrap="square" lIns="0" tIns="0" rIns="0" bIns="0" rtlCol="0" anchor="ctr">
            <a:normAutofit/>
          </a:bodyPr>
          <a:lstStyle/>
          <a:p>
            <a:pPr indent="0" marL="0">
              <a:buNone/>
            </a:pPr>
            <a:r>
              <a:rPr lang="en-US" sz="1600" dirty="0">
                <a:solidFill>
                  <a:srgbClr val="18304C"/>
                </a:solidFill>
                <a:latin typeface="Aptos" pitchFamily="34" charset="0"/>
                <a:ea typeface="Aptos" pitchFamily="34" charset="-122"/>
                <a:cs typeface="Aptos" pitchFamily="34" charset="-120"/>
              </a:rPr>
              <a:t>2.  Validate 56 rows and target labels</a:t>
            </a:r>
            <a:endParaRPr lang="en-US" sz="1600" dirty="0"/>
          </a:p>
        </p:txBody>
      </p:sp>
      <p:sp>
        <p:nvSpPr>
          <p:cNvPr id="12" name="Shape 10"/>
          <p:cNvSpPr/>
          <p:nvPr/>
        </p:nvSpPr>
        <p:spPr>
          <a:xfrm>
            <a:off x="731520" y="2880360"/>
            <a:ext cx="10671048" cy="521208"/>
          </a:xfrm>
          <a:prstGeom prst="rect">
            <a:avLst/>
          </a:prstGeom>
          <a:solidFill>
            <a:srgbClr val="F4F8FD"/>
          </a:solidFill>
          <a:ln w="12700">
            <a:solidFill>
              <a:srgbClr val="F4F8FD">
                <a:alpha val="0"/>
              </a:srgbClr>
            </a:solidFill>
            <a:prstDash val="solid"/>
          </a:ln>
        </p:spPr>
      </p:sp>
      <p:sp>
        <p:nvSpPr>
          <p:cNvPr id="13" name="Text 11"/>
          <p:cNvSpPr/>
          <p:nvPr/>
        </p:nvSpPr>
        <p:spPr>
          <a:xfrm>
            <a:off x="996696" y="2962656"/>
            <a:ext cx="10149840" cy="292608"/>
          </a:xfrm>
          <a:prstGeom prst="rect">
            <a:avLst/>
          </a:prstGeom>
          <a:noFill/>
          <a:ln/>
        </p:spPr>
        <p:txBody>
          <a:bodyPr wrap="square" lIns="0" tIns="0" rIns="0" bIns="0" rtlCol="0" anchor="ctr">
            <a:normAutofit/>
          </a:bodyPr>
          <a:lstStyle/>
          <a:p>
            <a:pPr indent="0" marL="0">
              <a:buNone/>
            </a:pPr>
            <a:r>
              <a:rPr lang="en-US" sz="1600" dirty="0">
                <a:solidFill>
                  <a:srgbClr val="18304C"/>
                </a:solidFill>
                <a:latin typeface="Aptos" pitchFamily="34" charset="0"/>
                <a:ea typeface="Aptos" pitchFamily="34" charset="-122"/>
                <a:cs typeface="Aptos" pitchFamily="34" charset="-120"/>
              </a:rPr>
              <a:t>3.  SQL aggregation &amp; EDA charts</a:t>
            </a:r>
            <a:endParaRPr lang="en-US" sz="1600" dirty="0"/>
          </a:p>
        </p:txBody>
      </p:sp>
      <p:sp>
        <p:nvSpPr>
          <p:cNvPr id="14" name="Shape 12"/>
          <p:cNvSpPr/>
          <p:nvPr/>
        </p:nvSpPr>
        <p:spPr>
          <a:xfrm>
            <a:off x="731520" y="3575304"/>
            <a:ext cx="10671048" cy="521208"/>
          </a:xfrm>
          <a:prstGeom prst="rect">
            <a:avLst/>
          </a:prstGeom>
          <a:solidFill>
            <a:srgbClr val="E8F0FB"/>
          </a:solidFill>
          <a:ln w="12700">
            <a:solidFill>
              <a:srgbClr val="E8F0FB">
                <a:alpha val="0"/>
              </a:srgbClr>
            </a:solidFill>
            <a:prstDash val="solid"/>
          </a:ln>
        </p:spPr>
      </p:sp>
      <p:sp>
        <p:nvSpPr>
          <p:cNvPr id="15" name="Text 13"/>
          <p:cNvSpPr/>
          <p:nvPr/>
        </p:nvSpPr>
        <p:spPr>
          <a:xfrm>
            <a:off x="996696" y="3657600"/>
            <a:ext cx="10149840" cy="292608"/>
          </a:xfrm>
          <a:prstGeom prst="rect">
            <a:avLst/>
          </a:prstGeom>
          <a:noFill/>
          <a:ln/>
        </p:spPr>
        <p:txBody>
          <a:bodyPr wrap="square" lIns="0" tIns="0" rIns="0" bIns="0" rtlCol="0" anchor="ctr">
            <a:normAutofit/>
          </a:bodyPr>
          <a:lstStyle/>
          <a:p>
            <a:pPr indent="0" marL="0">
              <a:buNone/>
            </a:pPr>
            <a:r>
              <a:rPr lang="en-US" sz="1600" dirty="0">
                <a:solidFill>
                  <a:srgbClr val="18304C"/>
                </a:solidFill>
                <a:latin typeface="Aptos" pitchFamily="34" charset="0"/>
                <a:ea typeface="Aptos" pitchFamily="34" charset="-122"/>
                <a:cs typeface="Aptos" pitchFamily="34" charset="-120"/>
              </a:rPr>
              <a:t>4.  Map site coordinates and outcomes</a:t>
            </a:r>
            <a:endParaRPr lang="en-US" sz="1600" dirty="0"/>
          </a:p>
        </p:txBody>
      </p:sp>
      <p:sp>
        <p:nvSpPr>
          <p:cNvPr id="16" name="Shape 14"/>
          <p:cNvSpPr/>
          <p:nvPr/>
        </p:nvSpPr>
        <p:spPr>
          <a:xfrm>
            <a:off x="731520" y="4270248"/>
            <a:ext cx="10671048" cy="521208"/>
          </a:xfrm>
          <a:prstGeom prst="rect">
            <a:avLst/>
          </a:prstGeom>
          <a:solidFill>
            <a:srgbClr val="F4F8FD"/>
          </a:solidFill>
          <a:ln w="12700">
            <a:solidFill>
              <a:srgbClr val="F4F8FD">
                <a:alpha val="0"/>
              </a:srgbClr>
            </a:solidFill>
            <a:prstDash val="solid"/>
          </a:ln>
        </p:spPr>
      </p:sp>
      <p:sp>
        <p:nvSpPr>
          <p:cNvPr id="17" name="Text 15"/>
          <p:cNvSpPr/>
          <p:nvPr/>
        </p:nvSpPr>
        <p:spPr>
          <a:xfrm>
            <a:off x="996696" y="4352544"/>
            <a:ext cx="10149840" cy="292608"/>
          </a:xfrm>
          <a:prstGeom prst="rect">
            <a:avLst/>
          </a:prstGeom>
          <a:noFill/>
          <a:ln/>
        </p:spPr>
        <p:txBody>
          <a:bodyPr wrap="square" lIns="0" tIns="0" rIns="0" bIns="0" rtlCol="0" anchor="ctr">
            <a:normAutofit/>
          </a:bodyPr>
          <a:lstStyle/>
          <a:p>
            <a:pPr indent="0" marL="0">
              <a:buNone/>
            </a:pPr>
            <a:r>
              <a:rPr lang="en-US" sz="1600" dirty="0">
                <a:solidFill>
                  <a:srgbClr val="18304C"/>
                </a:solidFill>
                <a:latin typeface="Aptos" pitchFamily="34" charset="0"/>
                <a:ea typeface="Aptos" pitchFamily="34" charset="-122"/>
                <a:cs typeface="Aptos" pitchFamily="34" charset="-120"/>
              </a:rPr>
              <a:t>5.  Create static dashboard views</a:t>
            </a:r>
            <a:endParaRPr lang="en-US" sz="1600" dirty="0"/>
          </a:p>
        </p:txBody>
      </p:sp>
      <p:sp>
        <p:nvSpPr>
          <p:cNvPr id="18" name="Shape 16"/>
          <p:cNvSpPr/>
          <p:nvPr/>
        </p:nvSpPr>
        <p:spPr>
          <a:xfrm>
            <a:off x="731520" y="4965192"/>
            <a:ext cx="10671048" cy="521208"/>
          </a:xfrm>
          <a:prstGeom prst="rect">
            <a:avLst/>
          </a:prstGeom>
          <a:solidFill>
            <a:srgbClr val="E8F0FB"/>
          </a:solidFill>
          <a:ln w="12700">
            <a:solidFill>
              <a:srgbClr val="E8F0FB">
                <a:alpha val="0"/>
              </a:srgbClr>
            </a:solidFill>
            <a:prstDash val="solid"/>
          </a:ln>
        </p:spPr>
      </p:sp>
      <p:sp>
        <p:nvSpPr>
          <p:cNvPr id="19" name="Text 17"/>
          <p:cNvSpPr/>
          <p:nvPr/>
        </p:nvSpPr>
        <p:spPr>
          <a:xfrm>
            <a:off x="996696" y="5047488"/>
            <a:ext cx="10149840" cy="292608"/>
          </a:xfrm>
          <a:prstGeom prst="rect">
            <a:avLst/>
          </a:prstGeom>
          <a:noFill/>
          <a:ln/>
        </p:spPr>
        <p:txBody>
          <a:bodyPr wrap="square" lIns="0" tIns="0" rIns="0" bIns="0" rtlCol="0" anchor="ctr">
            <a:normAutofit/>
          </a:bodyPr>
          <a:lstStyle/>
          <a:p>
            <a:pPr indent="0" marL="0">
              <a:buNone/>
            </a:pPr>
            <a:r>
              <a:rPr lang="en-US" sz="1600" dirty="0">
                <a:solidFill>
                  <a:srgbClr val="18304C"/>
                </a:solidFill>
                <a:latin typeface="Aptos" pitchFamily="34" charset="0"/>
                <a:ea typeface="Aptos" pitchFamily="34" charset="-122"/>
                <a:cs typeface="Aptos" pitchFamily="34" charset="-120"/>
              </a:rPr>
              <a:t>6.  Train four models, tune &amp; test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Data collection | SpaceX REST API workflow</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06</a:t>
            </a:r>
            <a:endParaRPr lang="en-US" sz="900" dirty="0"/>
          </a:p>
        </p:txBody>
      </p:sp>
      <p:sp>
        <p:nvSpPr>
          <p:cNvPr id="8" name="Shape 6"/>
          <p:cNvSpPr/>
          <p:nvPr/>
        </p:nvSpPr>
        <p:spPr>
          <a:xfrm>
            <a:off x="694944" y="1499616"/>
            <a:ext cx="10799064" cy="1143000"/>
          </a:xfrm>
          <a:prstGeom prst="rect">
            <a:avLst/>
          </a:prstGeom>
          <a:solidFill>
            <a:srgbClr val="F3F8FE"/>
          </a:solidFill>
          <a:ln w="12700">
            <a:solidFill>
              <a:srgbClr val="F3F8FE">
                <a:alpha val="0"/>
              </a:srgbClr>
            </a:solidFill>
            <a:prstDash val="solid"/>
          </a:ln>
        </p:spPr>
      </p:sp>
      <p:sp>
        <p:nvSpPr>
          <p:cNvPr id="9" name="Shape 7"/>
          <p:cNvSpPr/>
          <p:nvPr/>
        </p:nvSpPr>
        <p:spPr>
          <a:xfrm>
            <a:off x="694944" y="1499616"/>
            <a:ext cx="50292" cy="1143000"/>
          </a:xfrm>
          <a:prstGeom prst="rect">
            <a:avLst/>
          </a:prstGeom>
          <a:solidFill>
            <a:srgbClr val="1AA6B7"/>
          </a:solidFill>
          <a:ln w="12700">
            <a:solidFill>
              <a:srgbClr val="1AA6B7">
                <a:alpha val="0"/>
              </a:srgbClr>
            </a:solidFill>
            <a:prstDash val="solid"/>
          </a:ln>
        </p:spPr>
      </p:sp>
      <p:sp>
        <p:nvSpPr>
          <p:cNvPr id="10" name="Text 8"/>
          <p:cNvSpPr/>
          <p:nvPr/>
        </p:nvSpPr>
        <p:spPr>
          <a:xfrm>
            <a:off x="896112" y="1627632"/>
            <a:ext cx="1043330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PROCESS</a:t>
            </a:r>
            <a:endParaRPr lang="en-US" sz="1500" dirty="0"/>
          </a:p>
        </p:txBody>
      </p:sp>
      <p:sp>
        <p:nvSpPr>
          <p:cNvPr id="11" name="Text 9"/>
          <p:cNvSpPr/>
          <p:nvPr/>
        </p:nvSpPr>
        <p:spPr>
          <a:xfrm>
            <a:off x="896112" y="1938528"/>
            <a:ext cx="10405872" cy="6400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GET /v4/launches/past → JSON normalization → join rocket, payload, core and launchpad records → choose Falcon 9 → export a rectangular analysis table.</a:t>
            </a:r>
            <a:endParaRPr lang="en-US" sz="1320" dirty="0"/>
          </a:p>
        </p:txBody>
      </p:sp>
      <p:sp>
        <p:nvSpPr>
          <p:cNvPr id="12" name="Shape 10"/>
          <p:cNvSpPr/>
          <p:nvPr/>
        </p:nvSpPr>
        <p:spPr>
          <a:xfrm>
            <a:off x="694944" y="2944368"/>
            <a:ext cx="10799064" cy="1280160"/>
          </a:xfrm>
          <a:prstGeom prst="rect">
            <a:avLst/>
          </a:prstGeom>
          <a:solidFill>
            <a:srgbClr val="F3F8FE"/>
          </a:solidFill>
          <a:ln w="12700">
            <a:solidFill>
              <a:srgbClr val="F3F8FE">
                <a:alpha val="0"/>
              </a:srgbClr>
            </a:solidFill>
            <a:prstDash val="solid"/>
          </a:ln>
        </p:spPr>
      </p:sp>
      <p:sp>
        <p:nvSpPr>
          <p:cNvPr id="13" name="Shape 11"/>
          <p:cNvSpPr/>
          <p:nvPr/>
        </p:nvSpPr>
        <p:spPr>
          <a:xfrm>
            <a:off x="694944" y="2944368"/>
            <a:ext cx="50292" cy="1280160"/>
          </a:xfrm>
          <a:prstGeom prst="rect">
            <a:avLst/>
          </a:prstGeom>
          <a:solidFill>
            <a:srgbClr val="1AA6B7"/>
          </a:solidFill>
          <a:ln w="12700">
            <a:solidFill>
              <a:srgbClr val="1AA6B7">
                <a:alpha val="0"/>
              </a:srgbClr>
            </a:solidFill>
            <a:prstDash val="solid"/>
          </a:ln>
        </p:spPr>
      </p:sp>
      <p:sp>
        <p:nvSpPr>
          <p:cNvPr id="14" name="Text 12"/>
          <p:cNvSpPr/>
          <p:nvPr/>
        </p:nvSpPr>
        <p:spPr>
          <a:xfrm>
            <a:off x="896112" y="3072384"/>
            <a:ext cx="1043330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WEB AND API SOURCES</a:t>
            </a:r>
            <a:endParaRPr lang="en-US" sz="1500" dirty="0"/>
          </a:p>
        </p:txBody>
      </p:sp>
      <p:sp>
        <p:nvSpPr>
          <p:cNvPr id="15" name="Text 13"/>
          <p:cNvSpPr/>
          <p:nvPr/>
        </p:nvSpPr>
        <p:spPr>
          <a:xfrm>
            <a:off x="896112" y="3383280"/>
            <a:ext cx="10405872" cy="77724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API practice endpoint: api.spacexdata.com/v4/launches/past. The executed charts here use the historical dashboard CSV sourced from a publicly available course repository, not a newly issued live API request.</a:t>
            </a:r>
            <a:endParaRPr lang="en-US" sz="1320" dirty="0"/>
          </a:p>
        </p:txBody>
      </p:sp>
      <p:sp>
        <p:nvSpPr>
          <p:cNvPr id="16" name="Shape 14"/>
          <p:cNvSpPr/>
          <p:nvPr/>
        </p:nvSpPr>
        <p:spPr>
          <a:xfrm>
            <a:off x="694944" y="4535424"/>
            <a:ext cx="10799064" cy="1234440"/>
          </a:xfrm>
          <a:prstGeom prst="rect">
            <a:avLst/>
          </a:prstGeom>
          <a:solidFill>
            <a:srgbClr val="F3F8FE"/>
          </a:solidFill>
          <a:ln w="12700">
            <a:solidFill>
              <a:srgbClr val="F3F8FE">
                <a:alpha val="0"/>
              </a:srgbClr>
            </a:solidFill>
            <a:prstDash val="solid"/>
          </a:ln>
        </p:spPr>
      </p:sp>
      <p:sp>
        <p:nvSpPr>
          <p:cNvPr id="17" name="Shape 15"/>
          <p:cNvSpPr/>
          <p:nvPr/>
        </p:nvSpPr>
        <p:spPr>
          <a:xfrm>
            <a:off x="694944" y="4535424"/>
            <a:ext cx="50292" cy="1234440"/>
          </a:xfrm>
          <a:prstGeom prst="rect">
            <a:avLst/>
          </a:prstGeom>
          <a:solidFill>
            <a:srgbClr val="1AA6B7"/>
          </a:solidFill>
          <a:ln w="12700">
            <a:solidFill>
              <a:srgbClr val="1AA6B7">
                <a:alpha val="0"/>
              </a:srgbClr>
            </a:solidFill>
            <a:prstDash val="solid"/>
          </a:ln>
        </p:spPr>
      </p:sp>
      <p:sp>
        <p:nvSpPr>
          <p:cNvPr id="18" name="Text 16"/>
          <p:cNvSpPr/>
          <p:nvPr/>
        </p:nvSpPr>
        <p:spPr>
          <a:xfrm>
            <a:off x="896112" y="4663440"/>
            <a:ext cx="1043330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REPRODUCIBILITY LINK</a:t>
            </a:r>
            <a:endParaRPr lang="en-US" sz="1500" dirty="0"/>
          </a:p>
        </p:txBody>
      </p:sp>
      <p:sp>
        <p:nvSpPr>
          <p:cNvPr id="19" name="Text 17"/>
          <p:cNvSpPr/>
          <p:nvPr/>
        </p:nvSpPr>
        <p:spPr>
          <a:xfrm>
            <a:off x="896112" y="4974336"/>
            <a:ext cx="10405872" cy="73152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Source dataset: github.com/Ahmed-Nezar/IBM-Data-Science-Capstone-SpaceX/blob/main/spacex_launch_dash.csv. A personal GitHub repository with the completed course notebooks remains outstanding.</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Data collection | Wikipedia web scraping</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07</a:t>
            </a:r>
            <a:endParaRPr lang="en-US" sz="900" dirty="0"/>
          </a:p>
        </p:txBody>
      </p:sp>
      <p:sp>
        <p:nvSpPr>
          <p:cNvPr id="8" name="Shape 6"/>
          <p:cNvSpPr/>
          <p:nvPr/>
        </p:nvSpPr>
        <p:spPr>
          <a:xfrm>
            <a:off x="694944" y="1591056"/>
            <a:ext cx="10744200" cy="1252728"/>
          </a:xfrm>
          <a:prstGeom prst="rect">
            <a:avLst/>
          </a:prstGeom>
          <a:solidFill>
            <a:srgbClr val="F3F8FE"/>
          </a:solidFill>
          <a:ln w="12700">
            <a:solidFill>
              <a:srgbClr val="F3F8FE">
                <a:alpha val="0"/>
              </a:srgbClr>
            </a:solidFill>
            <a:prstDash val="solid"/>
          </a:ln>
        </p:spPr>
      </p:sp>
      <p:sp>
        <p:nvSpPr>
          <p:cNvPr id="9" name="Shape 7"/>
          <p:cNvSpPr/>
          <p:nvPr/>
        </p:nvSpPr>
        <p:spPr>
          <a:xfrm>
            <a:off x="694944" y="1591056"/>
            <a:ext cx="50292" cy="1252728"/>
          </a:xfrm>
          <a:prstGeom prst="rect">
            <a:avLst/>
          </a:prstGeom>
          <a:solidFill>
            <a:srgbClr val="1AA6B7"/>
          </a:solidFill>
          <a:ln w="12700">
            <a:solidFill>
              <a:srgbClr val="1AA6B7">
                <a:alpha val="0"/>
              </a:srgbClr>
            </a:solidFill>
            <a:prstDash val="solid"/>
          </a:ln>
        </p:spPr>
      </p:sp>
      <p:sp>
        <p:nvSpPr>
          <p:cNvPr id="10" name="Text 8"/>
          <p:cNvSpPr/>
          <p:nvPr/>
        </p:nvSpPr>
        <p:spPr>
          <a:xfrm>
            <a:off x="896112" y="1719072"/>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EXTRACTION WORKFLOW</a:t>
            </a:r>
            <a:endParaRPr lang="en-US" sz="1500" dirty="0"/>
          </a:p>
        </p:txBody>
      </p:sp>
      <p:sp>
        <p:nvSpPr>
          <p:cNvPr id="11" name="Text 9"/>
          <p:cNvSpPr/>
          <p:nvPr/>
        </p:nvSpPr>
        <p:spPr>
          <a:xfrm>
            <a:off x="896112" y="2029968"/>
            <a:ext cx="10351008" cy="749808"/>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GET Wikipedia list of Falcon 9 and Falcon Heavy launches → BeautifulSoup parse HTML → inspect tables → extract launch identifiers, dates, sites and outcomes → standardize fields → dataframe.</a:t>
            </a:r>
            <a:endParaRPr lang="en-US" sz="1320" dirty="0"/>
          </a:p>
        </p:txBody>
      </p:sp>
      <p:sp>
        <p:nvSpPr>
          <p:cNvPr id="12" name="Shape 10"/>
          <p:cNvSpPr/>
          <p:nvPr/>
        </p:nvSpPr>
        <p:spPr>
          <a:xfrm>
            <a:off x="694944" y="3099816"/>
            <a:ext cx="10744200" cy="1170432"/>
          </a:xfrm>
          <a:prstGeom prst="rect">
            <a:avLst/>
          </a:prstGeom>
          <a:solidFill>
            <a:srgbClr val="F3F8FE"/>
          </a:solidFill>
          <a:ln w="12700">
            <a:solidFill>
              <a:srgbClr val="F3F8FE">
                <a:alpha val="0"/>
              </a:srgbClr>
            </a:solidFill>
            <a:prstDash val="solid"/>
          </a:ln>
        </p:spPr>
      </p:sp>
      <p:sp>
        <p:nvSpPr>
          <p:cNvPr id="13" name="Shape 11"/>
          <p:cNvSpPr/>
          <p:nvPr/>
        </p:nvSpPr>
        <p:spPr>
          <a:xfrm>
            <a:off x="694944" y="3099816"/>
            <a:ext cx="50292" cy="1170432"/>
          </a:xfrm>
          <a:prstGeom prst="rect">
            <a:avLst/>
          </a:prstGeom>
          <a:solidFill>
            <a:srgbClr val="1AA6B7"/>
          </a:solidFill>
          <a:ln w="12700">
            <a:solidFill>
              <a:srgbClr val="1AA6B7">
                <a:alpha val="0"/>
              </a:srgbClr>
            </a:solidFill>
            <a:prstDash val="solid"/>
          </a:ln>
        </p:spPr>
      </p:sp>
      <p:sp>
        <p:nvSpPr>
          <p:cNvPr id="14" name="Text 12"/>
          <p:cNvSpPr/>
          <p:nvPr/>
        </p:nvSpPr>
        <p:spPr>
          <a:xfrm>
            <a:off x="896112" y="3227832"/>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QUALITY CONTROLS</a:t>
            </a:r>
            <a:endParaRPr lang="en-US" sz="1500" dirty="0"/>
          </a:p>
        </p:txBody>
      </p:sp>
      <p:sp>
        <p:nvSpPr>
          <p:cNvPr id="15" name="Text 13"/>
          <p:cNvSpPr/>
          <p:nvPr/>
        </p:nvSpPr>
        <p:spPr>
          <a:xfrm>
            <a:off x="896112" y="3538728"/>
            <a:ext cx="10351008" cy="667512"/>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Inspect table headings before parsing, clean footnote markers, remove incomplete or duplicated launch records, align recovery outcome terminology, and record source snapshots.</a:t>
            </a:r>
            <a:endParaRPr lang="en-US" sz="1320" dirty="0"/>
          </a:p>
        </p:txBody>
      </p:sp>
      <p:sp>
        <p:nvSpPr>
          <p:cNvPr id="16" name="Shape 14"/>
          <p:cNvSpPr/>
          <p:nvPr/>
        </p:nvSpPr>
        <p:spPr>
          <a:xfrm>
            <a:off x="694944" y="4535424"/>
            <a:ext cx="10744200" cy="1243584"/>
          </a:xfrm>
          <a:prstGeom prst="rect">
            <a:avLst/>
          </a:prstGeom>
          <a:solidFill>
            <a:srgbClr val="F3F8FE"/>
          </a:solidFill>
          <a:ln w="12700">
            <a:solidFill>
              <a:srgbClr val="F3F8FE">
                <a:alpha val="0"/>
              </a:srgbClr>
            </a:solidFill>
            <a:prstDash val="solid"/>
          </a:ln>
        </p:spPr>
      </p:sp>
      <p:sp>
        <p:nvSpPr>
          <p:cNvPr id="17" name="Shape 15"/>
          <p:cNvSpPr/>
          <p:nvPr/>
        </p:nvSpPr>
        <p:spPr>
          <a:xfrm>
            <a:off x="694944" y="4535424"/>
            <a:ext cx="50292" cy="1243584"/>
          </a:xfrm>
          <a:prstGeom prst="rect">
            <a:avLst/>
          </a:prstGeom>
          <a:solidFill>
            <a:srgbClr val="1AA6B7"/>
          </a:solidFill>
          <a:ln w="12700">
            <a:solidFill>
              <a:srgbClr val="1AA6B7">
                <a:alpha val="0"/>
              </a:srgbClr>
            </a:solidFill>
            <a:prstDash val="solid"/>
          </a:ln>
        </p:spPr>
      </p:sp>
      <p:sp>
        <p:nvSpPr>
          <p:cNvPr id="18" name="Text 16"/>
          <p:cNvSpPr/>
          <p:nvPr/>
        </p:nvSpPr>
        <p:spPr>
          <a:xfrm>
            <a:off x="896112" y="46634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EVIDENCE STATUS</a:t>
            </a:r>
            <a:endParaRPr lang="en-US" sz="1500" dirty="0"/>
          </a:p>
        </p:txBody>
      </p:sp>
      <p:sp>
        <p:nvSpPr>
          <p:cNvPr id="19" name="Text 17"/>
          <p:cNvSpPr/>
          <p:nvPr/>
        </p:nvSpPr>
        <p:spPr>
          <a:xfrm>
            <a:off x="896112" y="4974336"/>
            <a:ext cx="10351008" cy="740664"/>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This describes the IBM course methodology. No original web-scraping notebook output or completed personal notebook URL was supplied; this section is not represented as an executed scrape.</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Data wrangling | Steps actually applied</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08</a:t>
            </a:r>
            <a:endParaRPr lang="en-US" sz="900" dirty="0"/>
          </a:p>
        </p:txBody>
      </p:sp>
      <p:sp>
        <p:nvSpPr>
          <p:cNvPr id="8" name="Shape 6"/>
          <p:cNvSpPr/>
          <p:nvPr/>
        </p:nvSpPr>
        <p:spPr>
          <a:xfrm>
            <a:off x="694944" y="1499616"/>
            <a:ext cx="10789920" cy="1115568"/>
          </a:xfrm>
          <a:prstGeom prst="rect">
            <a:avLst/>
          </a:prstGeom>
          <a:solidFill>
            <a:srgbClr val="F3F8FE"/>
          </a:solidFill>
          <a:ln w="12700">
            <a:solidFill>
              <a:srgbClr val="F3F8FE">
                <a:alpha val="0"/>
              </a:srgbClr>
            </a:solidFill>
            <a:prstDash val="solid"/>
          </a:ln>
        </p:spPr>
      </p:sp>
      <p:sp>
        <p:nvSpPr>
          <p:cNvPr id="9" name="Shape 7"/>
          <p:cNvSpPr/>
          <p:nvPr/>
        </p:nvSpPr>
        <p:spPr>
          <a:xfrm>
            <a:off x="694944" y="1499616"/>
            <a:ext cx="50292" cy="1115568"/>
          </a:xfrm>
          <a:prstGeom prst="rect">
            <a:avLst/>
          </a:prstGeom>
          <a:solidFill>
            <a:srgbClr val="1AA6B7"/>
          </a:solidFill>
          <a:ln w="12700">
            <a:solidFill>
              <a:srgbClr val="1AA6B7">
                <a:alpha val="0"/>
              </a:srgbClr>
            </a:solidFill>
            <a:prstDash val="solid"/>
          </a:ln>
        </p:spPr>
      </p:sp>
      <p:sp>
        <p:nvSpPr>
          <p:cNvPr id="10" name="Text 8"/>
          <p:cNvSpPr/>
          <p:nvPr/>
        </p:nvSpPr>
        <p:spPr>
          <a:xfrm>
            <a:off x="896112" y="1627632"/>
            <a:ext cx="1042416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NORMALIZATION</a:t>
            </a:r>
            <a:endParaRPr lang="en-US" sz="1500" dirty="0"/>
          </a:p>
        </p:txBody>
      </p:sp>
      <p:sp>
        <p:nvSpPr>
          <p:cNvPr id="11" name="Text 9"/>
          <p:cNvSpPr/>
          <p:nvPr/>
        </p:nvSpPr>
        <p:spPr>
          <a:xfrm>
            <a:off x="896112" y="1938528"/>
            <a:ext cx="10396728" cy="612648"/>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Created named columns for flight number, site, landing Class, payload mass (kg) and booster category; validated 56 distinct flight identifiers and binary labels.</a:t>
            </a:r>
            <a:endParaRPr lang="en-US" sz="1320" dirty="0"/>
          </a:p>
        </p:txBody>
      </p:sp>
      <p:sp>
        <p:nvSpPr>
          <p:cNvPr id="12" name="Shape 10"/>
          <p:cNvSpPr/>
          <p:nvPr/>
        </p:nvSpPr>
        <p:spPr>
          <a:xfrm>
            <a:off x="694944" y="2843784"/>
            <a:ext cx="10789920" cy="1115568"/>
          </a:xfrm>
          <a:prstGeom prst="rect">
            <a:avLst/>
          </a:prstGeom>
          <a:solidFill>
            <a:srgbClr val="F3F8FE"/>
          </a:solidFill>
          <a:ln w="12700">
            <a:solidFill>
              <a:srgbClr val="F3F8FE">
                <a:alpha val="0"/>
              </a:srgbClr>
            </a:solidFill>
            <a:prstDash val="solid"/>
          </a:ln>
        </p:spPr>
      </p:sp>
      <p:sp>
        <p:nvSpPr>
          <p:cNvPr id="13" name="Shape 11"/>
          <p:cNvSpPr/>
          <p:nvPr/>
        </p:nvSpPr>
        <p:spPr>
          <a:xfrm>
            <a:off x="694944" y="2843784"/>
            <a:ext cx="50292" cy="1115568"/>
          </a:xfrm>
          <a:prstGeom prst="rect">
            <a:avLst/>
          </a:prstGeom>
          <a:solidFill>
            <a:srgbClr val="1AA6B7"/>
          </a:solidFill>
          <a:ln w="12700">
            <a:solidFill>
              <a:srgbClr val="1AA6B7">
                <a:alpha val="0"/>
              </a:srgbClr>
            </a:solidFill>
            <a:prstDash val="solid"/>
          </a:ln>
        </p:spPr>
      </p:sp>
      <p:sp>
        <p:nvSpPr>
          <p:cNvPr id="14" name="Text 12"/>
          <p:cNvSpPr/>
          <p:nvPr/>
        </p:nvSpPr>
        <p:spPr>
          <a:xfrm>
            <a:off x="896112" y="2971800"/>
            <a:ext cx="1042416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DATA CLEANING</a:t>
            </a:r>
            <a:endParaRPr lang="en-US" sz="1500" dirty="0"/>
          </a:p>
        </p:txBody>
      </p:sp>
      <p:sp>
        <p:nvSpPr>
          <p:cNvPr id="15" name="Text 13"/>
          <p:cNvSpPr/>
          <p:nvPr/>
        </p:nvSpPr>
        <p:spPr>
          <a:xfrm>
            <a:off x="896112" y="3282696"/>
            <a:ext cx="10396728" cy="612648"/>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Kept source-reported payload values including zeros; did not impute unknown outcomes or rewrite labels. Exported the complete 56-row analysis CSV and a SQLite database.</a:t>
            </a:r>
            <a:endParaRPr lang="en-US" sz="1320" dirty="0"/>
          </a:p>
        </p:txBody>
      </p:sp>
      <p:sp>
        <p:nvSpPr>
          <p:cNvPr id="16" name="Shape 14"/>
          <p:cNvSpPr/>
          <p:nvPr/>
        </p:nvSpPr>
        <p:spPr>
          <a:xfrm>
            <a:off x="694944" y="4187952"/>
            <a:ext cx="10789920" cy="1307592"/>
          </a:xfrm>
          <a:prstGeom prst="rect">
            <a:avLst/>
          </a:prstGeom>
          <a:solidFill>
            <a:srgbClr val="F3F8FE"/>
          </a:solidFill>
          <a:ln w="12700">
            <a:solidFill>
              <a:srgbClr val="F3F8FE">
                <a:alpha val="0"/>
              </a:srgbClr>
            </a:solidFill>
            <a:prstDash val="solid"/>
          </a:ln>
        </p:spPr>
      </p:sp>
      <p:sp>
        <p:nvSpPr>
          <p:cNvPr id="17" name="Shape 15"/>
          <p:cNvSpPr/>
          <p:nvPr/>
        </p:nvSpPr>
        <p:spPr>
          <a:xfrm>
            <a:off x="694944" y="4187952"/>
            <a:ext cx="50292" cy="1307592"/>
          </a:xfrm>
          <a:prstGeom prst="rect">
            <a:avLst/>
          </a:prstGeom>
          <a:solidFill>
            <a:srgbClr val="1AA6B7"/>
          </a:solidFill>
          <a:ln w="12700">
            <a:solidFill>
              <a:srgbClr val="1AA6B7">
                <a:alpha val="0"/>
              </a:srgbClr>
            </a:solidFill>
            <a:prstDash val="solid"/>
          </a:ln>
        </p:spPr>
      </p:sp>
      <p:sp>
        <p:nvSpPr>
          <p:cNvPr id="18" name="Text 16"/>
          <p:cNvSpPr/>
          <p:nvPr/>
        </p:nvSpPr>
        <p:spPr>
          <a:xfrm>
            <a:off x="896112" y="4315968"/>
            <a:ext cx="1042416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MODEL FEATURES</a:t>
            </a:r>
            <a:endParaRPr lang="en-US" sz="1500" dirty="0"/>
          </a:p>
        </p:txBody>
      </p:sp>
      <p:sp>
        <p:nvSpPr>
          <p:cNvPr id="19" name="Text 17"/>
          <p:cNvSpPr/>
          <p:nvPr/>
        </p:nvSpPr>
        <p:spPr>
          <a:xfrm>
            <a:off x="896112" y="4626864"/>
            <a:ext cx="10396728" cy="804672"/>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Used flight number and payload as continuous predictors, and one-hot encoded launch site and booster category. Split 75% training/25% testing with stratification and fixed random state.</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EDA methodology | Chart selection</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09</a:t>
            </a:r>
            <a:endParaRPr lang="en-US" sz="900" dirty="0"/>
          </a:p>
        </p:txBody>
      </p:sp>
      <p:sp>
        <p:nvSpPr>
          <p:cNvPr id="8" name="Shape 6"/>
          <p:cNvSpPr/>
          <p:nvPr/>
        </p:nvSpPr>
        <p:spPr>
          <a:xfrm>
            <a:off x="694944" y="1536192"/>
            <a:ext cx="10780776" cy="1060704"/>
          </a:xfrm>
          <a:prstGeom prst="rect">
            <a:avLst/>
          </a:prstGeom>
          <a:solidFill>
            <a:srgbClr val="F3F8FE"/>
          </a:solidFill>
          <a:ln w="12700">
            <a:solidFill>
              <a:srgbClr val="F3F8FE">
                <a:alpha val="0"/>
              </a:srgbClr>
            </a:solidFill>
            <a:prstDash val="solid"/>
          </a:ln>
        </p:spPr>
      </p:sp>
      <p:sp>
        <p:nvSpPr>
          <p:cNvPr id="9" name="Shape 7"/>
          <p:cNvSpPr/>
          <p:nvPr/>
        </p:nvSpPr>
        <p:spPr>
          <a:xfrm>
            <a:off x="694944" y="1536192"/>
            <a:ext cx="50292" cy="1060704"/>
          </a:xfrm>
          <a:prstGeom prst="rect">
            <a:avLst/>
          </a:prstGeom>
          <a:solidFill>
            <a:srgbClr val="1AA6B7"/>
          </a:solidFill>
          <a:ln w="12700">
            <a:solidFill>
              <a:srgbClr val="1AA6B7">
                <a:alpha val="0"/>
              </a:srgbClr>
            </a:solidFill>
            <a:prstDash val="solid"/>
          </a:ln>
        </p:spPr>
      </p:sp>
      <p:sp>
        <p:nvSpPr>
          <p:cNvPr id="10" name="Text 8"/>
          <p:cNvSpPr/>
          <p:nvPr/>
        </p:nvSpPr>
        <p:spPr>
          <a:xfrm>
            <a:off x="896112" y="1664208"/>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SCATTER PLOTS</a:t>
            </a:r>
            <a:endParaRPr lang="en-US" sz="1500" dirty="0"/>
          </a:p>
        </p:txBody>
      </p:sp>
      <p:sp>
        <p:nvSpPr>
          <p:cNvPr id="11" name="Text 9"/>
          <p:cNvSpPr/>
          <p:nvPr/>
        </p:nvSpPr>
        <p:spPr>
          <a:xfrm>
            <a:off x="896112" y="1975104"/>
            <a:ext cx="10387584" cy="557784"/>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Flight number or payload mass by launch site and by booster group, colored by Class. This exposes separation, overlap, launch cadence, and possible outliers.</a:t>
            </a:r>
            <a:endParaRPr lang="en-US" sz="1320" dirty="0"/>
          </a:p>
        </p:txBody>
      </p:sp>
      <p:sp>
        <p:nvSpPr>
          <p:cNvPr id="12" name="Shape 10"/>
          <p:cNvSpPr/>
          <p:nvPr/>
        </p:nvSpPr>
        <p:spPr>
          <a:xfrm>
            <a:off x="694944" y="2852928"/>
            <a:ext cx="10780776" cy="1060704"/>
          </a:xfrm>
          <a:prstGeom prst="rect">
            <a:avLst/>
          </a:prstGeom>
          <a:solidFill>
            <a:srgbClr val="F3F8FE"/>
          </a:solidFill>
          <a:ln w="12700">
            <a:solidFill>
              <a:srgbClr val="F3F8FE">
                <a:alpha val="0"/>
              </a:srgbClr>
            </a:solidFill>
            <a:prstDash val="solid"/>
          </a:ln>
        </p:spPr>
      </p:sp>
      <p:sp>
        <p:nvSpPr>
          <p:cNvPr id="13" name="Shape 11"/>
          <p:cNvSpPr/>
          <p:nvPr/>
        </p:nvSpPr>
        <p:spPr>
          <a:xfrm>
            <a:off x="694944" y="2852928"/>
            <a:ext cx="50292" cy="1060704"/>
          </a:xfrm>
          <a:prstGeom prst="rect">
            <a:avLst/>
          </a:prstGeom>
          <a:solidFill>
            <a:srgbClr val="1AA6B7"/>
          </a:solidFill>
          <a:ln w="12700">
            <a:solidFill>
              <a:srgbClr val="1AA6B7">
                <a:alpha val="0"/>
              </a:srgbClr>
            </a:solidFill>
            <a:prstDash val="solid"/>
          </a:ln>
        </p:spPr>
      </p:sp>
      <p:sp>
        <p:nvSpPr>
          <p:cNvPr id="14" name="Text 12"/>
          <p:cNvSpPr/>
          <p:nvPr/>
        </p:nvSpPr>
        <p:spPr>
          <a:xfrm>
            <a:off x="896112" y="2980944"/>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BAR CHARTS</a:t>
            </a:r>
            <a:endParaRPr lang="en-US" sz="1500" dirty="0"/>
          </a:p>
        </p:txBody>
      </p:sp>
      <p:sp>
        <p:nvSpPr>
          <p:cNvPr id="15" name="Text 13"/>
          <p:cNvSpPr/>
          <p:nvPr/>
        </p:nvSpPr>
        <p:spPr>
          <a:xfrm>
            <a:off x="896112" y="3291840"/>
            <a:ext cx="10387584" cy="557784"/>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Mean of Class grouped by site and booster generation represents percent favorable landing outcome. Each label includes its sample size to highlight instability.</a:t>
            </a:r>
            <a:endParaRPr lang="en-US" sz="1320" dirty="0"/>
          </a:p>
        </p:txBody>
      </p:sp>
      <p:sp>
        <p:nvSpPr>
          <p:cNvPr id="16" name="Shape 14"/>
          <p:cNvSpPr/>
          <p:nvPr/>
        </p:nvSpPr>
        <p:spPr>
          <a:xfrm>
            <a:off x="694944" y="4160520"/>
            <a:ext cx="10780776" cy="1234440"/>
          </a:xfrm>
          <a:prstGeom prst="rect">
            <a:avLst/>
          </a:prstGeom>
          <a:solidFill>
            <a:srgbClr val="F3F8FE"/>
          </a:solidFill>
          <a:ln w="12700">
            <a:solidFill>
              <a:srgbClr val="F3F8FE">
                <a:alpha val="0"/>
              </a:srgbClr>
            </a:solidFill>
            <a:prstDash val="solid"/>
          </a:ln>
        </p:spPr>
      </p:sp>
      <p:sp>
        <p:nvSpPr>
          <p:cNvPr id="17" name="Shape 15"/>
          <p:cNvSpPr/>
          <p:nvPr/>
        </p:nvSpPr>
        <p:spPr>
          <a:xfrm>
            <a:off x="694944" y="4160520"/>
            <a:ext cx="50292" cy="1234440"/>
          </a:xfrm>
          <a:prstGeom prst="rect">
            <a:avLst/>
          </a:prstGeom>
          <a:solidFill>
            <a:srgbClr val="1AA6B7"/>
          </a:solidFill>
          <a:ln w="12700">
            <a:solidFill>
              <a:srgbClr val="1AA6B7">
                <a:alpha val="0"/>
              </a:srgbClr>
            </a:solidFill>
            <a:prstDash val="solid"/>
          </a:ln>
        </p:spPr>
      </p:sp>
      <p:sp>
        <p:nvSpPr>
          <p:cNvPr id="18" name="Text 16"/>
          <p:cNvSpPr/>
          <p:nvPr/>
        </p:nvSpPr>
        <p:spPr>
          <a:xfrm>
            <a:off x="896112" y="4288536"/>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TEMPORAL PROXY</a:t>
            </a:r>
            <a:endParaRPr lang="en-US" sz="1500" dirty="0"/>
          </a:p>
        </p:txBody>
      </p:sp>
      <p:sp>
        <p:nvSpPr>
          <p:cNvPr id="19" name="Text 17"/>
          <p:cNvSpPr/>
          <p:nvPr/>
        </p:nvSpPr>
        <p:spPr>
          <a:xfrm>
            <a:off x="896112" y="4599432"/>
            <a:ext cx="10387584" cy="73152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56-row Dash dataset lacks launch dates. Flight-number quartiles serve only as a chronological proxy; the figure is explicitly not called a calendar-year trend.</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methodology | Questions addressed</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94944" y="1499616"/>
            <a:ext cx="10780776" cy="1152144"/>
          </a:xfrm>
          <a:prstGeom prst="rect">
            <a:avLst/>
          </a:prstGeom>
          <a:solidFill>
            <a:srgbClr val="F3F8FE"/>
          </a:solidFill>
          <a:ln w="12700">
            <a:solidFill>
              <a:srgbClr val="F3F8FE">
                <a:alpha val="0"/>
              </a:srgbClr>
            </a:solidFill>
            <a:prstDash val="solid"/>
          </a:ln>
        </p:spPr>
      </p:sp>
      <p:sp>
        <p:nvSpPr>
          <p:cNvPr id="9" name="Shape 7"/>
          <p:cNvSpPr/>
          <p:nvPr/>
        </p:nvSpPr>
        <p:spPr>
          <a:xfrm>
            <a:off x="694944" y="1499616"/>
            <a:ext cx="50292" cy="1152144"/>
          </a:xfrm>
          <a:prstGeom prst="rect">
            <a:avLst/>
          </a:prstGeom>
          <a:solidFill>
            <a:srgbClr val="1AA6B7"/>
          </a:solidFill>
          <a:ln w="12700">
            <a:solidFill>
              <a:srgbClr val="1AA6B7">
                <a:alpha val="0"/>
              </a:srgbClr>
            </a:solidFill>
            <a:prstDash val="solid"/>
          </a:ln>
        </p:spPr>
      </p:sp>
      <p:sp>
        <p:nvSpPr>
          <p:cNvPr id="10" name="Text 8"/>
          <p:cNvSpPr/>
          <p:nvPr/>
        </p:nvSpPr>
        <p:spPr>
          <a:xfrm>
            <a:off x="896112" y="1627632"/>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QUERY CLASSES</a:t>
            </a:r>
            <a:endParaRPr lang="en-US" sz="1500" dirty="0"/>
          </a:p>
        </p:txBody>
      </p:sp>
      <p:sp>
        <p:nvSpPr>
          <p:cNvPr id="11" name="Text 9"/>
          <p:cNvSpPr/>
          <p:nvPr/>
        </p:nvSpPr>
        <p:spPr>
          <a:xfrm>
            <a:off x="896112" y="1938528"/>
            <a:ext cx="10387584" cy="649224"/>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GROUP BY site / booster; COUNT flights; AVG(Class) as a landing proportion; payload averages/maxima; CASE payload bands; SELECT ... LIMIT; ORDER BY rankings.</a:t>
            </a:r>
            <a:endParaRPr lang="en-US" sz="1320" dirty="0"/>
          </a:p>
        </p:txBody>
      </p:sp>
      <p:sp>
        <p:nvSpPr>
          <p:cNvPr id="12" name="Shape 10"/>
          <p:cNvSpPr/>
          <p:nvPr/>
        </p:nvSpPr>
        <p:spPr>
          <a:xfrm>
            <a:off x="694944" y="2944368"/>
            <a:ext cx="10780776" cy="1024128"/>
          </a:xfrm>
          <a:prstGeom prst="rect">
            <a:avLst/>
          </a:prstGeom>
          <a:solidFill>
            <a:srgbClr val="F3F8FE"/>
          </a:solidFill>
          <a:ln w="12700">
            <a:solidFill>
              <a:srgbClr val="F3F8FE">
                <a:alpha val="0"/>
              </a:srgbClr>
            </a:solidFill>
            <a:prstDash val="solid"/>
          </a:ln>
        </p:spPr>
      </p:sp>
      <p:sp>
        <p:nvSpPr>
          <p:cNvPr id="13" name="Shape 11"/>
          <p:cNvSpPr/>
          <p:nvPr/>
        </p:nvSpPr>
        <p:spPr>
          <a:xfrm>
            <a:off x="694944" y="2944368"/>
            <a:ext cx="50292" cy="1024128"/>
          </a:xfrm>
          <a:prstGeom prst="rect">
            <a:avLst/>
          </a:prstGeom>
          <a:solidFill>
            <a:srgbClr val="1AA6B7"/>
          </a:solidFill>
          <a:ln w="12700">
            <a:solidFill>
              <a:srgbClr val="1AA6B7">
                <a:alpha val="0"/>
              </a:srgbClr>
            </a:solidFill>
            <a:prstDash val="solid"/>
          </a:ln>
        </p:spPr>
      </p:sp>
      <p:sp>
        <p:nvSpPr>
          <p:cNvPr id="14" name="Text 12"/>
          <p:cNvSpPr/>
          <p:nvPr/>
        </p:nvSpPr>
        <p:spPr>
          <a:xfrm>
            <a:off x="896112" y="3072384"/>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SYSTEM</a:t>
            </a:r>
            <a:endParaRPr lang="en-US" sz="1500" dirty="0"/>
          </a:p>
        </p:txBody>
      </p:sp>
      <p:sp>
        <p:nvSpPr>
          <p:cNvPr id="15" name="Text 13"/>
          <p:cNvSpPr/>
          <p:nvPr/>
        </p:nvSpPr>
        <p:spPr>
          <a:xfrm>
            <a:off x="896112" y="3383280"/>
            <a:ext cx="10387584" cy="521208"/>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SQLite database built from the same 56-row historical CSV to keep query totals consistent with the visualizations. Ten query outputs are reproduced below.</a:t>
            </a:r>
            <a:endParaRPr lang="en-US" sz="1320" dirty="0"/>
          </a:p>
        </p:txBody>
      </p:sp>
      <p:sp>
        <p:nvSpPr>
          <p:cNvPr id="16" name="Shape 14"/>
          <p:cNvSpPr/>
          <p:nvPr/>
        </p:nvSpPr>
        <p:spPr>
          <a:xfrm>
            <a:off x="694944" y="4242816"/>
            <a:ext cx="10780776" cy="1280160"/>
          </a:xfrm>
          <a:prstGeom prst="rect">
            <a:avLst/>
          </a:prstGeom>
          <a:solidFill>
            <a:srgbClr val="F3F8FE"/>
          </a:solidFill>
          <a:ln w="12700">
            <a:solidFill>
              <a:srgbClr val="F3F8FE">
                <a:alpha val="0"/>
              </a:srgbClr>
            </a:solidFill>
            <a:prstDash val="solid"/>
          </a:ln>
        </p:spPr>
      </p:sp>
      <p:sp>
        <p:nvSpPr>
          <p:cNvPr id="17" name="Shape 15"/>
          <p:cNvSpPr/>
          <p:nvPr/>
        </p:nvSpPr>
        <p:spPr>
          <a:xfrm>
            <a:off x="694944" y="4242816"/>
            <a:ext cx="50292" cy="1280160"/>
          </a:xfrm>
          <a:prstGeom prst="rect">
            <a:avLst/>
          </a:prstGeom>
          <a:solidFill>
            <a:srgbClr val="1AA6B7"/>
          </a:solidFill>
          <a:ln w="12700">
            <a:solidFill>
              <a:srgbClr val="1AA6B7">
                <a:alpha val="0"/>
              </a:srgbClr>
            </a:solidFill>
            <a:prstDash val="solid"/>
          </a:ln>
        </p:spPr>
      </p:sp>
      <p:sp>
        <p:nvSpPr>
          <p:cNvPr id="18" name="Text 16"/>
          <p:cNvSpPr/>
          <p:nvPr/>
        </p:nvSpPr>
        <p:spPr>
          <a:xfrm>
            <a:off x="896112" y="4370832"/>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IMPORTANT LIMIT</a:t>
            </a:r>
            <a:endParaRPr lang="en-US" sz="1500" dirty="0"/>
          </a:p>
        </p:txBody>
      </p:sp>
      <p:sp>
        <p:nvSpPr>
          <p:cNvPr id="19" name="Text 17"/>
          <p:cNvSpPr/>
          <p:nvPr/>
        </p:nvSpPr>
        <p:spPr>
          <a:xfrm>
            <a:off x="896112" y="4681728"/>
            <a:ext cx="10387584" cy="77724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This CSV has recovery Class, not separate mission outcomes or the same NASA-booster labels as the IBM SQL lab. Rather than invent those missing observations, analyses are limited to available fields.</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Interactive mapping and dashboard methodology</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94944" y="1545336"/>
            <a:ext cx="10780776" cy="1042416"/>
          </a:xfrm>
          <a:prstGeom prst="rect">
            <a:avLst/>
          </a:prstGeom>
          <a:solidFill>
            <a:srgbClr val="F3F8FE"/>
          </a:solidFill>
          <a:ln w="12700">
            <a:solidFill>
              <a:srgbClr val="F3F8FE">
                <a:alpha val="0"/>
              </a:srgbClr>
            </a:solidFill>
            <a:prstDash val="solid"/>
          </a:ln>
        </p:spPr>
      </p:sp>
      <p:sp>
        <p:nvSpPr>
          <p:cNvPr id="9" name="Shape 7"/>
          <p:cNvSpPr/>
          <p:nvPr/>
        </p:nvSpPr>
        <p:spPr>
          <a:xfrm>
            <a:off x="694944" y="1545336"/>
            <a:ext cx="50292" cy="1042416"/>
          </a:xfrm>
          <a:prstGeom prst="rect">
            <a:avLst/>
          </a:prstGeom>
          <a:solidFill>
            <a:srgbClr val="1AA6B7"/>
          </a:solidFill>
          <a:ln w="12700">
            <a:solidFill>
              <a:srgbClr val="1AA6B7">
                <a:alpha val="0"/>
              </a:srgbClr>
            </a:solidFill>
            <a:prstDash val="solid"/>
          </a:ln>
        </p:spPr>
      </p:sp>
      <p:sp>
        <p:nvSpPr>
          <p:cNvPr id="10" name="Text 8"/>
          <p:cNvSpPr/>
          <p:nvPr/>
        </p:nvSpPr>
        <p:spPr>
          <a:xfrm>
            <a:off x="896112" y="1673352"/>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FOLIUM</a:t>
            </a:r>
            <a:endParaRPr lang="en-US" sz="1500" dirty="0"/>
          </a:p>
        </p:txBody>
      </p:sp>
      <p:sp>
        <p:nvSpPr>
          <p:cNvPr id="11" name="Text 9"/>
          <p:cNvSpPr/>
          <p:nvPr/>
        </p:nvSpPr>
        <p:spPr>
          <a:xfrm>
            <a:off x="896112" y="1984248"/>
            <a:ext cx="10387584" cy="53949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Map site coordinates and scale CircleMarkers by observed flight count. Marker tooltips include total launches and successful outcomes; the delivered HTML remains interactive.</a:t>
            </a:r>
            <a:endParaRPr lang="en-US" sz="1320" dirty="0"/>
          </a:p>
        </p:txBody>
      </p:sp>
      <p:sp>
        <p:nvSpPr>
          <p:cNvPr id="12" name="Shape 10"/>
          <p:cNvSpPr/>
          <p:nvPr/>
        </p:nvSpPr>
        <p:spPr>
          <a:xfrm>
            <a:off x="694944" y="2889504"/>
            <a:ext cx="10780776" cy="1088136"/>
          </a:xfrm>
          <a:prstGeom prst="rect">
            <a:avLst/>
          </a:prstGeom>
          <a:solidFill>
            <a:srgbClr val="F3F8FE"/>
          </a:solidFill>
          <a:ln w="12700">
            <a:solidFill>
              <a:srgbClr val="F3F8FE">
                <a:alpha val="0"/>
              </a:srgbClr>
            </a:solidFill>
            <a:prstDash val="solid"/>
          </a:ln>
        </p:spPr>
      </p:sp>
      <p:sp>
        <p:nvSpPr>
          <p:cNvPr id="13" name="Shape 11"/>
          <p:cNvSpPr/>
          <p:nvPr/>
        </p:nvSpPr>
        <p:spPr>
          <a:xfrm>
            <a:off x="694944" y="2889504"/>
            <a:ext cx="50292" cy="1088136"/>
          </a:xfrm>
          <a:prstGeom prst="rect">
            <a:avLst/>
          </a:prstGeom>
          <a:solidFill>
            <a:srgbClr val="1AA6B7"/>
          </a:solidFill>
          <a:ln w="12700">
            <a:solidFill>
              <a:srgbClr val="1AA6B7">
                <a:alpha val="0"/>
              </a:srgbClr>
            </a:solidFill>
            <a:prstDash val="solid"/>
          </a:ln>
        </p:spPr>
      </p:sp>
      <p:sp>
        <p:nvSpPr>
          <p:cNvPr id="14" name="Text 12"/>
          <p:cNvSpPr/>
          <p:nvPr/>
        </p:nvSpPr>
        <p:spPr>
          <a:xfrm>
            <a:off x="896112" y="3017520"/>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DASH ANALYTICS</a:t>
            </a:r>
            <a:endParaRPr lang="en-US" sz="1500" dirty="0"/>
          </a:p>
        </p:txBody>
      </p:sp>
      <p:sp>
        <p:nvSpPr>
          <p:cNvPr id="15" name="Text 13"/>
          <p:cNvSpPr/>
          <p:nvPr/>
        </p:nvSpPr>
        <p:spPr>
          <a:xfrm>
            <a:off x="896112" y="3328416"/>
            <a:ext cx="10387584" cy="585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Site dropdown, payload filter, outcome distribution and payload-vs-flight scatter views are constructed from the same historical sample. Static exports appear in this report.</a:t>
            </a:r>
            <a:endParaRPr lang="en-US" sz="1320" dirty="0"/>
          </a:p>
        </p:txBody>
      </p:sp>
      <p:sp>
        <p:nvSpPr>
          <p:cNvPr id="16" name="Shape 14"/>
          <p:cNvSpPr/>
          <p:nvPr/>
        </p:nvSpPr>
        <p:spPr>
          <a:xfrm>
            <a:off x="694944" y="4270248"/>
            <a:ext cx="10780776" cy="1188720"/>
          </a:xfrm>
          <a:prstGeom prst="rect">
            <a:avLst/>
          </a:prstGeom>
          <a:solidFill>
            <a:srgbClr val="F3F8FE"/>
          </a:solidFill>
          <a:ln w="12700">
            <a:solidFill>
              <a:srgbClr val="F3F8FE">
                <a:alpha val="0"/>
              </a:srgbClr>
            </a:solidFill>
            <a:prstDash val="solid"/>
          </a:ln>
        </p:spPr>
      </p:sp>
      <p:sp>
        <p:nvSpPr>
          <p:cNvPr id="17" name="Shape 15"/>
          <p:cNvSpPr/>
          <p:nvPr/>
        </p:nvSpPr>
        <p:spPr>
          <a:xfrm>
            <a:off x="694944" y="4270248"/>
            <a:ext cx="50292" cy="1188720"/>
          </a:xfrm>
          <a:prstGeom prst="rect">
            <a:avLst/>
          </a:prstGeom>
          <a:solidFill>
            <a:srgbClr val="1AA6B7"/>
          </a:solidFill>
          <a:ln w="12700">
            <a:solidFill>
              <a:srgbClr val="1AA6B7">
                <a:alpha val="0"/>
              </a:srgbClr>
            </a:solidFill>
            <a:prstDash val="solid"/>
          </a:ln>
        </p:spPr>
      </p:sp>
      <p:sp>
        <p:nvSpPr>
          <p:cNvPr id="18" name="Text 16"/>
          <p:cNvSpPr/>
          <p:nvPr/>
        </p:nvSpPr>
        <p:spPr>
          <a:xfrm>
            <a:off x="896112" y="4398264"/>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NOTES</a:t>
            </a:r>
            <a:endParaRPr lang="en-US" sz="1500" dirty="0"/>
          </a:p>
        </p:txBody>
      </p:sp>
      <p:sp>
        <p:nvSpPr>
          <p:cNvPr id="19" name="Text 17"/>
          <p:cNvSpPr/>
          <p:nvPr/>
        </p:nvSpPr>
        <p:spPr>
          <a:xfrm>
            <a:off x="896112" y="4709160"/>
            <a:ext cx="10387584" cy="68580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A geographic coordinate figure is a genuine generated plot but not a browser screenshot. Do not claim local infrastructure-proximity distances without a geospatial layer.</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Predictive analysis methodology</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94944" y="1490472"/>
            <a:ext cx="10780776" cy="1060704"/>
          </a:xfrm>
          <a:prstGeom prst="rect">
            <a:avLst/>
          </a:prstGeom>
          <a:solidFill>
            <a:srgbClr val="F3F8FE"/>
          </a:solidFill>
          <a:ln w="12700">
            <a:solidFill>
              <a:srgbClr val="F3F8FE">
                <a:alpha val="0"/>
              </a:srgbClr>
            </a:solidFill>
            <a:prstDash val="solid"/>
          </a:ln>
        </p:spPr>
      </p:sp>
      <p:sp>
        <p:nvSpPr>
          <p:cNvPr id="9" name="Shape 7"/>
          <p:cNvSpPr/>
          <p:nvPr/>
        </p:nvSpPr>
        <p:spPr>
          <a:xfrm>
            <a:off x="694944" y="1490472"/>
            <a:ext cx="50292" cy="1060704"/>
          </a:xfrm>
          <a:prstGeom prst="rect">
            <a:avLst/>
          </a:prstGeom>
          <a:solidFill>
            <a:srgbClr val="1AA6B7"/>
          </a:solidFill>
          <a:ln w="12700">
            <a:solidFill>
              <a:srgbClr val="1AA6B7">
                <a:alpha val="0"/>
              </a:srgbClr>
            </a:solidFill>
            <a:prstDash val="solid"/>
          </a:ln>
        </p:spPr>
      </p:sp>
      <p:sp>
        <p:nvSpPr>
          <p:cNvPr id="10" name="Text 8"/>
          <p:cNvSpPr/>
          <p:nvPr/>
        </p:nvSpPr>
        <p:spPr>
          <a:xfrm>
            <a:off x="896112" y="1618488"/>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ESTIMATORS</a:t>
            </a:r>
            <a:endParaRPr lang="en-US" sz="1500" dirty="0"/>
          </a:p>
        </p:txBody>
      </p:sp>
      <p:sp>
        <p:nvSpPr>
          <p:cNvPr id="11" name="Text 9"/>
          <p:cNvSpPr/>
          <p:nvPr/>
        </p:nvSpPr>
        <p:spPr>
          <a:xfrm>
            <a:off x="896112" y="1929384"/>
            <a:ext cx="10387584" cy="557784"/>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Logistic regression, support vector machine, decision tree, and k-nearest neighbors trained on identical splits; train count 42 / test count 14.</a:t>
            </a:r>
            <a:endParaRPr lang="en-US" sz="1320" dirty="0"/>
          </a:p>
        </p:txBody>
      </p:sp>
      <p:sp>
        <p:nvSpPr>
          <p:cNvPr id="12" name="Shape 10"/>
          <p:cNvSpPr/>
          <p:nvPr/>
        </p:nvSpPr>
        <p:spPr>
          <a:xfrm>
            <a:off x="694944" y="2843784"/>
            <a:ext cx="10780776" cy="1060704"/>
          </a:xfrm>
          <a:prstGeom prst="rect">
            <a:avLst/>
          </a:prstGeom>
          <a:solidFill>
            <a:srgbClr val="F3F8FE"/>
          </a:solidFill>
          <a:ln w="12700">
            <a:solidFill>
              <a:srgbClr val="F3F8FE">
                <a:alpha val="0"/>
              </a:srgbClr>
            </a:solidFill>
            <a:prstDash val="solid"/>
          </a:ln>
        </p:spPr>
      </p:sp>
      <p:sp>
        <p:nvSpPr>
          <p:cNvPr id="13" name="Shape 11"/>
          <p:cNvSpPr/>
          <p:nvPr/>
        </p:nvSpPr>
        <p:spPr>
          <a:xfrm>
            <a:off x="694944" y="2843784"/>
            <a:ext cx="50292" cy="1060704"/>
          </a:xfrm>
          <a:prstGeom prst="rect">
            <a:avLst/>
          </a:prstGeom>
          <a:solidFill>
            <a:srgbClr val="1AA6B7"/>
          </a:solidFill>
          <a:ln w="12700">
            <a:solidFill>
              <a:srgbClr val="1AA6B7">
                <a:alpha val="0"/>
              </a:srgbClr>
            </a:solidFill>
            <a:prstDash val="solid"/>
          </a:ln>
        </p:spPr>
      </p:sp>
      <p:sp>
        <p:nvSpPr>
          <p:cNvPr id="14" name="Text 12"/>
          <p:cNvSpPr/>
          <p:nvPr/>
        </p:nvSpPr>
        <p:spPr>
          <a:xfrm>
            <a:off x="896112" y="2971800"/>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TUNING</a:t>
            </a:r>
            <a:endParaRPr lang="en-US" sz="1500" dirty="0"/>
          </a:p>
        </p:txBody>
      </p:sp>
      <p:sp>
        <p:nvSpPr>
          <p:cNvPr id="15" name="Text 13"/>
          <p:cNvSpPr/>
          <p:nvPr/>
        </p:nvSpPr>
        <p:spPr>
          <a:xfrm>
            <a:off x="896112" y="3282696"/>
            <a:ext cx="10387584" cy="557784"/>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Stratified 3-fold cross-validation on training observations and parameter-grid search. Optimize mean validation accuracy, then report holdout test accuracy separately.</a:t>
            </a:r>
            <a:endParaRPr lang="en-US" sz="1320" dirty="0"/>
          </a:p>
        </p:txBody>
      </p:sp>
      <p:sp>
        <p:nvSpPr>
          <p:cNvPr id="16" name="Shape 14"/>
          <p:cNvSpPr/>
          <p:nvPr/>
        </p:nvSpPr>
        <p:spPr>
          <a:xfrm>
            <a:off x="694944" y="4178808"/>
            <a:ext cx="10780776" cy="1243584"/>
          </a:xfrm>
          <a:prstGeom prst="rect">
            <a:avLst/>
          </a:prstGeom>
          <a:solidFill>
            <a:srgbClr val="F3F8FE"/>
          </a:solidFill>
          <a:ln w="12700">
            <a:solidFill>
              <a:srgbClr val="F3F8FE">
                <a:alpha val="0"/>
              </a:srgbClr>
            </a:solidFill>
            <a:prstDash val="solid"/>
          </a:ln>
        </p:spPr>
      </p:sp>
      <p:sp>
        <p:nvSpPr>
          <p:cNvPr id="17" name="Shape 15"/>
          <p:cNvSpPr/>
          <p:nvPr/>
        </p:nvSpPr>
        <p:spPr>
          <a:xfrm>
            <a:off x="694944" y="4178808"/>
            <a:ext cx="50292" cy="1243584"/>
          </a:xfrm>
          <a:prstGeom prst="rect">
            <a:avLst/>
          </a:prstGeom>
          <a:solidFill>
            <a:srgbClr val="1AA6B7"/>
          </a:solidFill>
          <a:ln w="12700">
            <a:solidFill>
              <a:srgbClr val="1AA6B7">
                <a:alpha val="0"/>
              </a:srgbClr>
            </a:solidFill>
            <a:prstDash val="solid"/>
          </a:ln>
        </p:spPr>
      </p:sp>
      <p:sp>
        <p:nvSpPr>
          <p:cNvPr id="18" name="Text 16"/>
          <p:cNvSpPr/>
          <p:nvPr/>
        </p:nvSpPr>
        <p:spPr>
          <a:xfrm>
            <a:off x="896112" y="4306824"/>
            <a:ext cx="10415016"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EVALUATION</a:t>
            </a:r>
            <a:endParaRPr lang="en-US" sz="1500" dirty="0"/>
          </a:p>
        </p:txBody>
      </p:sp>
      <p:sp>
        <p:nvSpPr>
          <p:cNvPr id="19" name="Text 17"/>
          <p:cNvSpPr/>
          <p:nvPr/>
        </p:nvSpPr>
        <p:spPr>
          <a:xfrm>
            <a:off x="896112" y="4617720"/>
            <a:ext cx="10387584" cy="740664"/>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Compare CV and test accuracy, select the winning estimator using cross-validation, inspect its confusion matrix, and acknowledge high sampling variance on fourteen test observations.</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Flight number vs. launch site</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13</a:t>
            </a:r>
            <a:endParaRPr lang="en-US" sz="900" dirty="0"/>
          </a:p>
        </p:txBody>
      </p:sp>
      <p:pic>
        <p:nvPicPr>
          <p:cNvPr id="8" name="Image 0" descr="/mnt/data/SpaceX_IBM_Final_Evidence/flight_by_site.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Recovery-positive launches concentrate more in later flight numbers, but early site-specific samples are limited.</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Each dot = one flight; blue/green denotes Class 1 and red denotes Class 0.</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Payload mass vs. launch site</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14</a:t>
            </a:r>
            <a:endParaRPr lang="en-US" sz="900" dirty="0"/>
          </a:p>
        </p:txBody>
      </p:sp>
      <p:pic>
        <p:nvPicPr>
          <p:cNvPr id="8" name="Image 0" descr="/mnt/data/SpaceX_IBM_Final_Evidence/payload_by_site.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Payload distributions overlap across sites; a site effect could reflect mission profile and booster generation.</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Position = mass/site, color = outcome. Zero-valued payloads are retained as in the source.</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Landing success by booster generation</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15</a:t>
            </a:r>
            <a:endParaRPr lang="en-US" sz="900" dirty="0"/>
          </a:p>
        </p:txBody>
      </p:sp>
      <p:pic>
        <p:nvPicPr>
          <p:cNvPr id="8" name="Image 0" descr="/mnt/data/SpaceX_IBM_Final_Evidence/success_by_booster.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Later booster categories have higher recovery proportions in this selected sample; small group sizes limit generalization.</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Bars are class means, shown as percentages and annotated with group sample sizes.</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Flight number vs. booster generation</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16</a:t>
            </a:r>
            <a:endParaRPr lang="en-US" sz="900" dirty="0"/>
          </a:p>
        </p:txBody>
      </p:sp>
      <p:pic>
        <p:nvPicPr>
          <p:cNvPr id="8" name="Image 0" descr="/mnt/data/SpaceX_IBM_Final_Evidence/flight_by_booster.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Booster generation changes over flight history, making a simple maturity narrative potentially confounded.</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Scatterplot of actual rows with one point per historical flight.</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Payload mass vs. booster generation</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17</a:t>
            </a:r>
            <a:endParaRPr lang="en-US" sz="900" dirty="0"/>
          </a:p>
        </p:txBody>
      </p:sp>
      <p:pic>
        <p:nvPicPr>
          <p:cNvPr id="8" name="Image 0" descr="/mnt/data/SpaceX_IBM_Final_Evidence/payload_by_booster.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range of payload masses differs across generations, so unadjusted recovery comparisons may be misleading.</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This chart is categorical-by-continuous; class labels are the two point colors.</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Flight progression vs. landing success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18</a:t>
            </a:r>
            <a:endParaRPr lang="en-US" sz="900" dirty="0"/>
          </a:p>
        </p:txBody>
      </p:sp>
      <p:pic>
        <p:nvPicPr>
          <p:cNvPr id="8" name="Image 0" descr="/mnt/data/SpaceX_IBM_Final_Evidence/success_by_flight_period.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Average historical recovery generally improves across successive flight-number groups in this extract.</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Four flight-number groups are used. NOT a calendar-year trend: the 56-row file contains no dates.</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EDA WITH SQL • ACTUAL QUERY OUTPUT</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01 | Launch sites and flight counts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67512" y="1600200"/>
            <a:ext cx="10698480" cy="1152144"/>
          </a:xfrm>
          <a:prstGeom prst="rect">
            <a:avLst/>
          </a:prstGeom>
          <a:solidFill>
            <a:srgbClr val="12243C"/>
          </a:solidFill>
          <a:ln w="12700">
            <a:solidFill>
              <a:srgbClr val="12243C">
                <a:alpha val="0"/>
              </a:srgbClr>
            </a:solidFill>
            <a:prstDash val="solid"/>
          </a:ln>
        </p:spPr>
      </p:sp>
      <p:sp>
        <p:nvSpPr>
          <p:cNvPr id="9" name="Text 7"/>
          <p:cNvSpPr/>
          <p:nvPr/>
        </p:nvSpPr>
        <p:spPr>
          <a:xfrm>
            <a:off x="850392" y="1755648"/>
            <a:ext cx="10332720" cy="859536"/>
          </a:xfrm>
          <a:prstGeom prst="rect">
            <a:avLst/>
          </a:prstGeom>
          <a:noFill/>
          <a:ln/>
        </p:spPr>
        <p:txBody>
          <a:bodyPr wrap="square" lIns="0" tIns="0" rIns="0" bIns="0" rtlCol="0" anchor="t">
            <a:normAutofit/>
          </a:bodyPr>
          <a:lstStyle/>
          <a:p>
            <a:pPr indent="0" marL="0">
              <a:buNone/>
            </a:pPr>
            <a:r>
              <a:rPr lang="en-US" sz="1210" dirty="0">
                <a:solidFill>
                  <a:srgbClr val="FFFFFF"/>
                </a:solidFill>
                <a:latin typeface="Consolas" pitchFamily="34" charset="0"/>
                <a:ea typeface="Consolas" pitchFamily="34" charset="-122"/>
                <a:cs typeface="Consolas" pitchFamily="34" charset="-120"/>
              </a:rPr>
              <a:t>SELECT LaunchSite, COUNT(*) AS launches FROM SPACEXTBL GROUP BY LaunchSite ORDER BY launches DESC</a:t>
            </a:r>
            <a:endParaRPr lang="en-US" sz="1210" dirty="0"/>
          </a:p>
        </p:txBody>
      </p:sp>
      <p:sp>
        <p:nvSpPr>
          <p:cNvPr id="10" name="Shape 8"/>
          <p:cNvSpPr/>
          <p:nvPr/>
        </p:nvSpPr>
        <p:spPr>
          <a:xfrm>
            <a:off x="676656" y="2944368"/>
            <a:ext cx="5353812" cy="384048"/>
          </a:xfrm>
          <a:prstGeom prst="rect">
            <a:avLst/>
          </a:prstGeom>
          <a:solidFill>
            <a:srgbClr val="1953B6"/>
          </a:solidFill>
          <a:ln w="12700">
            <a:solidFill>
              <a:srgbClr val="1953B6">
                <a:alpha val="0"/>
              </a:srgbClr>
            </a:solidFill>
            <a:prstDash val="solid"/>
          </a:ln>
        </p:spPr>
      </p:sp>
      <p:sp>
        <p:nvSpPr>
          <p:cNvPr id="11" name="Text 9"/>
          <p:cNvSpPr/>
          <p:nvPr/>
        </p:nvSpPr>
        <p:spPr>
          <a:xfrm>
            <a:off x="786384" y="2990088"/>
            <a:ext cx="51892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LaunchSite</a:t>
            </a:r>
            <a:endParaRPr lang="en-US" sz="1140" dirty="0"/>
          </a:p>
        </p:txBody>
      </p:sp>
      <p:sp>
        <p:nvSpPr>
          <p:cNvPr id="12" name="Shape 10"/>
          <p:cNvSpPr/>
          <p:nvPr/>
        </p:nvSpPr>
        <p:spPr>
          <a:xfrm>
            <a:off x="6048756" y="2944368"/>
            <a:ext cx="5353812" cy="384048"/>
          </a:xfrm>
          <a:prstGeom prst="rect">
            <a:avLst/>
          </a:prstGeom>
          <a:solidFill>
            <a:srgbClr val="1953B6"/>
          </a:solidFill>
          <a:ln w="12700">
            <a:solidFill>
              <a:srgbClr val="1953B6">
                <a:alpha val="0"/>
              </a:srgbClr>
            </a:solidFill>
            <a:prstDash val="solid"/>
          </a:ln>
        </p:spPr>
      </p:sp>
      <p:sp>
        <p:nvSpPr>
          <p:cNvPr id="13" name="Text 11"/>
          <p:cNvSpPr/>
          <p:nvPr/>
        </p:nvSpPr>
        <p:spPr>
          <a:xfrm>
            <a:off x="6158484" y="2990088"/>
            <a:ext cx="51892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launches</a:t>
            </a:r>
            <a:endParaRPr lang="en-US" sz="1140" dirty="0"/>
          </a:p>
        </p:txBody>
      </p:sp>
      <p:sp>
        <p:nvSpPr>
          <p:cNvPr id="14" name="Shape 12"/>
          <p:cNvSpPr/>
          <p:nvPr/>
        </p:nvSpPr>
        <p:spPr>
          <a:xfrm>
            <a:off x="676656" y="3346704"/>
            <a:ext cx="5353812" cy="338328"/>
          </a:xfrm>
          <a:prstGeom prst="rect">
            <a:avLst/>
          </a:prstGeom>
          <a:solidFill>
            <a:srgbClr val="F4F8FD"/>
          </a:solidFill>
          <a:ln w="12700">
            <a:solidFill>
              <a:srgbClr val="F4F8FD">
                <a:alpha val="0"/>
              </a:srgbClr>
            </a:solidFill>
            <a:prstDash val="solid"/>
          </a:ln>
        </p:spPr>
      </p:sp>
      <p:sp>
        <p:nvSpPr>
          <p:cNvPr id="15" name="Text 13"/>
          <p:cNvSpPr/>
          <p:nvPr/>
        </p:nvSpPr>
        <p:spPr>
          <a:xfrm>
            <a:off x="786384" y="3392424"/>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LC-40</a:t>
            </a:r>
            <a:endParaRPr lang="en-US" sz="1030" dirty="0"/>
          </a:p>
        </p:txBody>
      </p:sp>
      <p:sp>
        <p:nvSpPr>
          <p:cNvPr id="16" name="Shape 14"/>
          <p:cNvSpPr/>
          <p:nvPr/>
        </p:nvSpPr>
        <p:spPr>
          <a:xfrm>
            <a:off x="6048756" y="3346704"/>
            <a:ext cx="5353812" cy="338328"/>
          </a:xfrm>
          <a:prstGeom prst="rect">
            <a:avLst/>
          </a:prstGeom>
          <a:solidFill>
            <a:srgbClr val="F4F8FD"/>
          </a:solidFill>
          <a:ln w="12700">
            <a:solidFill>
              <a:srgbClr val="F4F8FD">
                <a:alpha val="0"/>
              </a:srgbClr>
            </a:solidFill>
            <a:prstDash val="solid"/>
          </a:ln>
        </p:spPr>
      </p:sp>
      <p:sp>
        <p:nvSpPr>
          <p:cNvPr id="17" name="Text 15"/>
          <p:cNvSpPr/>
          <p:nvPr/>
        </p:nvSpPr>
        <p:spPr>
          <a:xfrm>
            <a:off x="6158484" y="3392424"/>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26</a:t>
            </a:r>
            <a:endParaRPr lang="en-US" sz="1030" dirty="0"/>
          </a:p>
        </p:txBody>
      </p:sp>
      <p:sp>
        <p:nvSpPr>
          <p:cNvPr id="18" name="Shape 16"/>
          <p:cNvSpPr/>
          <p:nvPr/>
        </p:nvSpPr>
        <p:spPr>
          <a:xfrm>
            <a:off x="676656" y="3703320"/>
            <a:ext cx="5353812" cy="338328"/>
          </a:xfrm>
          <a:prstGeom prst="rect">
            <a:avLst/>
          </a:prstGeom>
          <a:solidFill>
            <a:srgbClr val="EAF2FB"/>
          </a:solidFill>
          <a:ln w="12700">
            <a:solidFill>
              <a:srgbClr val="EAF2FB">
                <a:alpha val="0"/>
              </a:srgbClr>
            </a:solidFill>
            <a:prstDash val="solid"/>
          </a:ln>
        </p:spPr>
      </p:sp>
      <p:sp>
        <p:nvSpPr>
          <p:cNvPr id="19" name="Text 17"/>
          <p:cNvSpPr/>
          <p:nvPr/>
        </p:nvSpPr>
        <p:spPr>
          <a:xfrm>
            <a:off x="786384" y="3749040"/>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KSC LC-39A</a:t>
            </a:r>
            <a:endParaRPr lang="en-US" sz="1030" dirty="0"/>
          </a:p>
        </p:txBody>
      </p:sp>
      <p:sp>
        <p:nvSpPr>
          <p:cNvPr id="20" name="Shape 18"/>
          <p:cNvSpPr/>
          <p:nvPr/>
        </p:nvSpPr>
        <p:spPr>
          <a:xfrm>
            <a:off x="6048756" y="3703320"/>
            <a:ext cx="5353812" cy="338328"/>
          </a:xfrm>
          <a:prstGeom prst="rect">
            <a:avLst/>
          </a:prstGeom>
          <a:solidFill>
            <a:srgbClr val="EAF2FB"/>
          </a:solidFill>
          <a:ln w="12700">
            <a:solidFill>
              <a:srgbClr val="EAF2FB">
                <a:alpha val="0"/>
              </a:srgbClr>
            </a:solidFill>
            <a:prstDash val="solid"/>
          </a:ln>
        </p:spPr>
      </p:sp>
      <p:sp>
        <p:nvSpPr>
          <p:cNvPr id="21" name="Text 19"/>
          <p:cNvSpPr/>
          <p:nvPr/>
        </p:nvSpPr>
        <p:spPr>
          <a:xfrm>
            <a:off x="6158484" y="3749040"/>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13</a:t>
            </a:r>
            <a:endParaRPr lang="en-US" sz="1030" dirty="0"/>
          </a:p>
        </p:txBody>
      </p:sp>
      <p:sp>
        <p:nvSpPr>
          <p:cNvPr id="22" name="Shape 20"/>
          <p:cNvSpPr/>
          <p:nvPr/>
        </p:nvSpPr>
        <p:spPr>
          <a:xfrm>
            <a:off x="676656" y="4059936"/>
            <a:ext cx="5353812" cy="338328"/>
          </a:xfrm>
          <a:prstGeom prst="rect">
            <a:avLst/>
          </a:prstGeom>
          <a:solidFill>
            <a:srgbClr val="F4F8FD"/>
          </a:solidFill>
          <a:ln w="12700">
            <a:solidFill>
              <a:srgbClr val="F4F8FD">
                <a:alpha val="0"/>
              </a:srgbClr>
            </a:solidFill>
            <a:prstDash val="solid"/>
          </a:ln>
        </p:spPr>
      </p:sp>
      <p:sp>
        <p:nvSpPr>
          <p:cNvPr id="23" name="Text 21"/>
          <p:cNvSpPr/>
          <p:nvPr/>
        </p:nvSpPr>
        <p:spPr>
          <a:xfrm>
            <a:off x="786384" y="4105656"/>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24" name="Shape 22"/>
          <p:cNvSpPr/>
          <p:nvPr/>
        </p:nvSpPr>
        <p:spPr>
          <a:xfrm>
            <a:off x="6048756" y="4059936"/>
            <a:ext cx="5353812" cy="338328"/>
          </a:xfrm>
          <a:prstGeom prst="rect">
            <a:avLst/>
          </a:prstGeom>
          <a:solidFill>
            <a:srgbClr val="F4F8FD"/>
          </a:solidFill>
          <a:ln w="12700">
            <a:solidFill>
              <a:srgbClr val="F4F8FD">
                <a:alpha val="0"/>
              </a:srgbClr>
            </a:solidFill>
            <a:prstDash val="solid"/>
          </a:ln>
        </p:spPr>
      </p:sp>
      <p:sp>
        <p:nvSpPr>
          <p:cNvPr id="25" name="Text 23"/>
          <p:cNvSpPr/>
          <p:nvPr/>
        </p:nvSpPr>
        <p:spPr>
          <a:xfrm>
            <a:off x="6158484" y="4105656"/>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10</a:t>
            </a:r>
            <a:endParaRPr lang="en-US" sz="1030" dirty="0"/>
          </a:p>
        </p:txBody>
      </p:sp>
      <p:sp>
        <p:nvSpPr>
          <p:cNvPr id="26" name="Shape 24"/>
          <p:cNvSpPr/>
          <p:nvPr/>
        </p:nvSpPr>
        <p:spPr>
          <a:xfrm>
            <a:off x="676656" y="4416552"/>
            <a:ext cx="5353812" cy="338328"/>
          </a:xfrm>
          <a:prstGeom prst="rect">
            <a:avLst/>
          </a:prstGeom>
          <a:solidFill>
            <a:srgbClr val="EAF2FB"/>
          </a:solidFill>
          <a:ln w="12700">
            <a:solidFill>
              <a:srgbClr val="EAF2FB">
                <a:alpha val="0"/>
              </a:srgbClr>
            </a:solidFill>
            <a:prstDash val="solid"/>
          </a:ln>
        </p:spPr>
      </p:sp>
      <p:sp>
        <p:nvSpPr>
          <p:cNvPr id="27" name="Text 25"/>
          <p:cNvSpPr/>
          <p:nvPr/>
        </p:nvSpPr>
        <p:spPr>
          <a:xfrm>
            <a:off x="786384" y="4462272"/>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SLC-40</a:t>
            </a:r>
            <a:endParaRPr lang="en-US" sz="1030" dirty="0"/>
          </a:p>
        </p:txBody>
      </p:sp>
      <p:sp>
        <p:nvSpPr>
          <p:cNvPr id="28" name="Shape 26"/>
          <p:cNvSpPr/>
          <p:nvPr/>
        </p:nvSpPr>
        <p:spPr>
          <a:xfrm>
            <a:off x="6048756" y="4416552"/>
            <a:ext cx="5353812" cy="338328"/>
          </a:xfrm>
          <a:prstGeom prst="rect">
            <a:avLst/>
          </a:prstGeom>
          <a:solidFill>
            <a:srgbClr val="EAF2FB"/>
          </a:solidFill>
          <a:ln w="12700">
            <a:solidFill>
              <a:srgbClr val="EAF2FB">
                <a:alpha val="0"/>
              </a:srgbClr>
            </a:solidFill>
            <a:prstDash val="solid"/>
          </a:ln>
        </p:spPr>
      </p:sp>
      <p:sp>
        <p:nvSpPr>
          <p:cNvPr id="29" name="Text 27"/>
          <p:cNvSpPr/>
          <p:nvPr/>
        </p:nvSpPr>
        <p:spPr>
          <a:xfrm>
            <a:off x="6158484" y="4462272"/>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a:t>
            </a:r>
            <a:endParaRPr lang="en-US" sz="1030" dirty="0"/>
          </a:p>
        </p:txBody>
      </p:sp>
      <p:sp>
        <p:nvSpPr>
          <p:cNvPr id="30" name="Shape 28"/>
          <p:cNvSpPr/>
          <p:nvPr/>
        </p:nvSpPr>
        <p:spPr>
          <a:xfrm>
            <a:off x="676656" y="5449824"/>
            <a:ext cx="10744200" cy="914400"/>
          </a:xfrm>
          <a:prstGeom prst="rect">
            <a:avLst/>
          </a:prstGeom>
          <a:solidFill>
            <a:srgbClr val="F3F8FE"/>
          </a:solidFill>
          <a:ln w="12700">
            <a:solidFill>
              <a:srgbClr val="F3F8FE">
                <a:alpha val="0"/>
              </a:srgbClr>
            </a:solidFill>
            <a:prstDash val="solid"/>
          </a:ln>
        </p:spPr>
      </p:sp>
      <p:sp>
        <p:nvSpPr>
          <p:cNvPr id="31" name="Shape 29"/>
          <p:cNvSpPr/>
          <p:nvPr/>
        </p:nvSpPr>
        <p:spPr>
          <a:xfrm>
            <a:off x="676656" y="5449824"/>
            <a:ext cx="50292" cy="914400"/>
          </a:xfrm>
          <a:prstGeom prst="rect">
            <a:avLst/>
          </a:prstGeom>
          <a:solidFill>
            <a:srgbClr val="1AA6B7"/>
          </a:solidFill>
          <a:ln w="12700">
            <a:solidFill>
              <a:srgbClr val="1AA6B7">
                <a:alpha val="0"/>
              </a:srgbClr>
            </a:solidFill>
            <a:prstDash val="solid"/>
          </a:ln>
        </p:spPr>
      </p:sp>
      <p:sp>
        <p:nvSpPr>
          <p:cNvPr id="32" name="Text 30"/>
          <p:cNvSpPr/>
          <p:nvPr/>
        </p:nvSpPr>
        <p:spPr>
          <a:xfrm>
            <a:off x="877824" y="55778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INTERPRETATION</a:t>
            </a:r>
            <a:endParaRPr lang="en-US" sz="1500" dirty="0"/>
          </a:p>
        </p:txBody>
      </p:sp>
      <p:sp>
        <p:nvSpPr>
          <p:cNvPr id="33" name="Text 31"/>
          <p:cNvSpPr/>
          <p:nvPr/>
        </p:nvSpPr>
        <p:spPr>
          <a:xfrm>
            <a:off x="877824" y="5888736"/>
            <a:ext cx="10351008" cy="4114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Two Cape Canaveral naming variants appear in the source and are kept separate to preserve provenance.</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EDA WITH SQL • ACTUAL QUERY OUTPUT</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02 | Landing success by site</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67512" y="1600200"/>
            <a:ext cx="10698480" cy="1152144"/>
          </a:xfrm>
          <a:prstGeom prst="rect">
            <a:avLst/>
          </a:prstGeom>
          <a:solidFill>
            <a:srgbClr val="12243C"/>
          </a:solidFill>
          <a:ln w="12700">
            <a:solidFill>
              <a:srgbClr val="12243C">
                <a:alpha val="0"/>
              </a:srgbClr>
            </a:solidFill>
            <a:prstDash val="solid"/>
          </a:ln>
        </p:spPr>
      </p:sp>
      <p:sp>
        <p:nvSpPr>
          <p:cNvPr id="9" name="Text 7"/>
          <p:cNvSpPr/>
          <p:nvPr/>
        </p:nvSpPr>
        <p:spPr>
          <a:xfrm>
            <a:off x="850392" y="1755648"/>
            <a:ext cx="10332720" cy="859536"/>
          </a:xfrm>
          <a:prstGeom prst="rect">
            <a:avLst/>
          </a:prstGeom>
          <a:noFill/>
          <a:ln/>
        </p:spPr>
        <p:txBody>
          <a:bodyPr wrap="square" lIns="0" tIns="0" rIns="0" bIns="0" rtlCol="0" anchor="t">
            <a:normAutofit/>
          </a:bodyPr>
          <a:lstStyle/>
          <a:p>
            <a:pPr indent="0" marL="0">
              <a:buNone/>
            </a:pPr>
            <a:r>
              <a:rPr lang="en-US" sz="1210" dirty="0">
                <a:solidFill>
                  <a:srgbClr val="FFFFFF"/>
                </a:solidFill>
                <a:latin typeface="Consolas" pitchFamily="34" charset="0"/>
                <a:ea typeface="Consolas" pitchFamily="34" charset="-122"/>
                <a:cs typeface="Consolas" pitchFamily="34" charset="-120"/>
              </a:rPr>
              <a:t>SELECT LaunchSite, COUNT(*) AS n, SUM(Class) AS successful, ROUND(100.0*AVG(Class),1) AS success_pct FROM SPACEXTBL GROUP BY LaunchSite ORDER BY success_pct DESC</a:t>
            </a:r>
            <a:endParaRPr lang="en-US" sz="1210" dirty="0"/>
          </a:p>
        </p:txBody>
      </p:sp>
      <p:sp>
        <p:nvSpPr>
          <p:cNvPr id="10" name="Shape 8"/>
          <p:cNvSpPr/>
          <p:nvPr/>
        </p:nvSpPr>
        <p:spPr>
          <a:xfrm>
            <a:off x="676656" y="2944368"/>
            <a:ext cx="2667762" cy="384048"/>
          </a:xfrm>
          <a:prstGeom prst="rect">
            <a:avLst/>
          </a:prstGeom>
          <a:solidFill>
            <a:srgbClr val="1953B6"/>
          </a:solidFill>
          <a:ln w="12700">
            <a:solidFill>
              <a:srgbClr val="1953B6">
                <a:alpha val="0"/>
              </a:srgbClr>
            </a:solidFill>
            <a:prstDash val="solid"/>
          </a:ln>
        </p:spPr>
      </p:sp>
      <p:sp>
        <p:nvSpPr>
          <p:cNvPr id="11" name="Text 9"/>
          <p:cNvSpPr/>
          <p:nvPr/>
        </p:nvSpPr>
        <p:spPr>
          <a:xfrm>
            <a:off x="78638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LaunchSite</a:t>
            </a:r>
            <a:endParaRPr lang="en-US" sz="1140" dirty="0"/>
          </a:p>
        </p:txBody>
      </p:sp>
      <p:sp>
        <p:nvSpPr>
          <p:cNvPr id="12" name="Shape 10"/>
          <p:cNvSpPr/>
          <p:nvPr/>
        </p:nvSpPr>
        <p:spPr>
          <a:xfrm>
            <a:off x="3362706" y="2944368"/>
            <a:ext cx="2667762" cy="384048"/>
          </a:xfrm>
          <a:prstGeom prst="rect">
            <a:avLst/>
          </a:prstGeom>
          <a:solidFill>
            <a:srgbClr val="1953B6"/>
          </a:solidFill>
          <a:ln w="12700">
            <a:solidFill>
              <a:srgbClr val="1953B6">
                <a:alpha val="0"/>
              </a:srgbClr>
            </a:solidFill>
            <a:prstDash val="solid"/>
          </a:ln>
        </p:spPr>
      </p:sp>
      <p:sp>
        <p:nvSpPr>
          <p:cNvPr id="13" name="Text 11"/>
          <p:cNvSpPr/>
          <p:nvPr/>
        </p:nvSpPr>
        <p:spPr>
          <a:xfrm>
            <a:off x="347243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n</a:t>
            </a:r>
            <a:endParaRPr lang="en-US" sz="1140" dirty="0"/>
          </a:p>
        </p:txBody>
      </p:sp>
      <p:sp>
        <p:nvSpPr>
          <p:cNvPr id="14" name="Shape 12"/>
          <p:cNvSpPr/>
          <p:nvPr/>
        </p:nvSpPr>
        <p:spPr>
          <a:xfrm>
            <a:off x="6048756" y="2944368"/>
            <a:ext cx="2667762" cy="384048"/>
          </a:xfrm>
          <a:prstGeom prst="rect">
            <a:avLst/>
          </a:prstGeom>
          <a:solidFill>
            <a:srgbClr val="1953B6"/>
          </a:solidFill>
          <a:ln w="12700">
            <a:solidFill>
              <a:srgbClr val="1953B6">
                <a:alpha val="0"/>
              </a:srgbClr>
            </a:solidFill>
            <a:prstDash val="solid"/>
          </a:ln>
        </p:spPr>
      </p:sp>
      <p:sp>
        <p:nvSpPr>
          <p:cNvPr id="15" name="Text 13"/>
          <p:cNvSpPr/>
          <p:nvPr/>
        </p:nvSpPr>
        <p:spPr>
          <a:xfrm>
            <a:off x="615848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successful</a:t>
            </a:r>
            <a:endParaRPr lang="en-US" sz="1140" dirty="0"/>
          </a:p>
        </p:txBody>
      </p:sp>
      <p:sp>
        <p:nvSpPr>
          <p:cNvPr id="16" name="Shape 14"/>
          <p:cNvSpPr/>
          <p:nvPr/>
        </p:nvSpPr>
        <p:spPr>
          <a:xfrm>
            <a:off x="8734806" y="2944368"/>
            <a:ext cx="2667762" cy="384048"/>
          </a:xfrm>
          <a:prstGeom prst="rect">
            <a:avLst/>
          </a:prstGeom>
          <a:solidFill>
            <a:srgbClr val="1953B6"/>
          </a:solidFill>
          <a:ln w="12700">
            <a:solidFill>
              <a:srgbClr val="1953B6">
                <a:alpha val="0"/>
              </a:srgbClr>
            </a:solidFill>
            <a:prstDash val="solid"/>
          </a:ln>
        </p:spPr>
      </p:sp>
      <p:sp>
        <p:nvSpPr>
          <p:cNvPr id="17" name="Text 15"/>
          <p:cNvSpPr/>
          <p:nvPr/>
        </p:nvSpPr>
        <p:spPr>
          <a:xfrm>
            <a:off x="884453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success_pct</a:t>
            </a:r>
            <a:endParaRPr lang="en-US" sz="1140" dirty="0"/>
          </a:p>
        </p:txBody>
      </p:sp>
      <p:sp>
        <p:nvSpPr>
          <p:cNvPr id="18" name="Shape 16"/>
          <p:cNvSpPr/>
          <p:nvPr/>
        </p:nvSpPr>
        <p:spPr>
          <a:xfrm>
            <a:off x="676656" y="3346704"/>
            <a:ext cx="2667762" cy="338328"/>
          </a:xfrm>
          <a:prstGeom prst="rect">
            <a:avLst/>
          </a:prstGeom>
          <a:solidFill>
            <a:srgbClr val="F4F8FD"/>
          </a:solidFill>
          <a:ln w="12700">
            <a:solidFill>
              <a:srgbClr val="F4F8FD">
                <a:alpha val="0"/>
              </a:srgbClr>
            </a:solidFill>
            <a:prstDash val="solid"/>
          </a:ln>
        </p:spPr>
      </p:sp>
      <p:sp>
        <p:nvSpPr>
          <p:cNvPr id="19" name="Text 17"/>
          <p:cNvSpPr/>
          <p:nvPr/>
        </p:nvSpPr>
        <p:spPr>
          <a:xfrm>
            <a:off x="78638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KSC LC-39A</a:t>
            </a:r>
            <a:endParaRPr lang="en-US" sz="1030" dirty="0"/>
          </a:p>
        </p:txBody>
      </p:sp>
      <p:sp>
        <p:nvSpPr>
          <p:cNvPr id="20" name="Shape 18"/>
          <p:cNvSpPr/>
          <p:nvPr/>
        </p:nvSpPr>
        <p:spPr>
          <a:xfrm>
            <a:off x="3362706" y="3346704"/>
            <a:ext cx="2667762" cy="338328"/>
          </a:xfrm>
          <a:prstGeom prst="rect">
            <a:avLst/>
          </a:prstGeom>
          <a:solidFill>
            <a:srgbClr val="F4F8FD"/>
          </a:solidFill>
          <a:ln w="12700">
            <a:solidFill>
              <a:srgbClr val="F4F8FD">
                <a:alpha val="0"/>
              </a:srgbClr>
            </a:solidFill>
            <a:prstDash val="solid"/>
          </a:ln>
        </p:spPr>
      </p:sp>
      <p:sp>
        <p:nvSpPr>
          <p:cNvPr id="21" name="Text 19"/>
          <p:cNvSpPr/>
          <p:nvPr/>
        </p:nvSpPr>
        <p:spPr>
          <a:xfrm>
            <a:off x="347243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13</a:t>
            </a:r>
            <a:endParaRPr lang="en-US" sz="1030" dirty="0"/>
          </a:p>
        </p:txBody>
      </p:sp>
      <p:sp>
        <p:nvSpPr>
          <p:cNvPr id="22" name="Shape 20"/>
          <p:cNvSpPr/>
          <p:nvPr/>
        </p:nvSpPr>
        <p:spPr>
          <a:xfrm>
            <a:off x="6048756" y="3346704"/>
            <a:ext cx="2667762" cy="338328"/>
          </a:xfrm>
          <a:prstGeom prst="rect">
            <a:avLst/>
          </a:prstGeom>
          <a:solidFill>
            <a:srgbClr val="F4F8FD"/>
          </a:solidFill>
          <a:ln w="12700">
            <a:solidFill>
              <a:srgbClr val="F4F8FD">
                <a:alpha val="0"/>
              </a:srgbClr>
            </a:solidFill>
            <a:prstDash val="solid"/>
          </a:ln>
        </p:spPr>
      </p:sp>
      <p:sp>
        <p:nvSpPr>
          <p:cNvPr id="23" name="Text 21"/>
          <p:cNvSpPr/>
          <p:nvPr/>
        </p:nvSpPr>
        <p:spPr>
          <a:xfrm>
            <a:off x="615848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10</a:t>
            </a:r>
            <a:endParaRPr lang="en-US" sz="1030" dirty="0"/>
          </a:p>
        </p:txBody>
      </p:sp>
      <p:sp>
        <p:nvSpPr>
          <p:cNvPr id="24" name="Shape 22"/>
          <p:cNvSpPr/>
          <p:nvPr/>
        </p:nvSpPr>
        <p:spPr>
          <a:xfrm>
            <a:off x="8734806" y="3346704"/>
            <a:ext cx="2667762" cy="338328"/>
          </a:xfrm>
          <a:prstGeom prst="rect">
            <a:avLst/>
          </a:prstGeom>
          <a:solidFill>
            <a:srgbClr val="F4F8FD"/>
          </a:solidFill>
          <a:ln w="12700">
            <a:solidFill>
              <a:srgbClr val="F4F8FD">
                <a:alpha val="0"/>
              </a:srgbClr>
            </a:solidFill>
            <a:prstDash val="solid"/>
          </a:ln>
        </p:spPr>
      </p:sp>
      <p:sp>
        <p:nvSpPr>
          <p:cNvPr id="25" name="Text 23"/>
          <p:cNvSpPr/>
          <p:nvPr/>
        </p:nvSpPr>
        <p:spPr>
          <a:xfrm>
            <a:off x="884453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76.9</a:t>
            </a:r>
            <a:endParaRPr lang="en-US" sz="1030" dirty="0"/>
          </a:p>
        </p:txBody>
      </p:sp>
      <p:sp>
        <p:nvSpPr>
          <p:cNvPr id="26" name="Shape 24"/>
          <p:cNvSpPr/>
          <p:nvPr/>
        </p:nvSpPr>
        <p:spPr>
          <a:xfrm>
            <a:off x="676656" y="3703320"/>
            <a:ext cx="2667762" cy="338328"/>
          </a:xfrm>
          <a:prstGeom prst="rect">
            <a:avLst/>
          </a:prstGeom>
          <a:solidFill>
            <a:srgbClr val="EAF2FB"/>
          </a:solidFill>
          <a:ln w="12700">
            <a:solidFill>
              <a:srgbClr val="EAF2FB">
                <a:alpha val="0"/>
              </a:srgbClr>
            </a:solidFill>
            <a:prstDash val="solid"/>
          </a:ln>
        </p:spPr>
      </p:sp>
      <p:sp>
        <p:nvSpPr>
          <p:cNvPr id="27" name="Text 25"/>
          <p:cNvSpPr/>
          <p:nvPr/>
        </p:nvSpPr>
        <p:spPr>
          <a:xfrm>
            <a:off x="78638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SLC-40</a:t>
            </a:r>
            <a:endParaRPr lang="en-US" sz="1030" dirty="0"/>
          </a:p>
        </p:txBody>
      </p:sp>
      <p:sp>
        <p:nvSpPr>
          <p:cNvPr id="28" name="Shape 26"/>
          <p:cNvSpPr/>
          <p:nvPr/>
        </p:nvSpPr>
        <p:spPr>
          <a:xfrm>
            <a:off x="3362706" y="3703320"/>
            <a:ext cx="2667762" cy="338328"/>
          </a:xfrm>
          <a:prstGeom prst="rect">
            <a:avLst/>
          </a:prstGeom>
          <a:solidFill>
            <a:srgbClr val="EAF2FB"/>
          </a:solidFill>
          <a:ln w="12700">
            <a:solidFill>
              <a:srgbClr val="EAF2FB">
                <a:alpha val="0"/>
              </a:srgbClr>
            </a:solidFill>
            <a:prstDash val="solid"/>
          </a:ln>
        </p:spPr>
      </p:sp>
      <p:sp>
        <p:nvSpPr>
          <p:cNvPr id="29" name="Text 27"/>
          <p:cNvSpPr/>
          <p:nvPr/>
        </p:nvSpPr>
        <p:spPr>
          <a:xfrm>
            <a:off x="347243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a:t>
            </a:r>
            <a:endParaRPr lang="en-US" sz="1030" dirty="0"/>
          </a:p>
        </p:txBody>
      </p:sp>
      <p:sp>
        <p:nvSpPr>
          <p:cNvPr id="30" name="Shape 28"/>
          <p:cNvSpPr/>
          <p:nvPr/>
        </p:nvSpPr>
        <p:spPr>
          <a:xfrm>
            <a:off x="6048756" y="3703320"/>
            <a:ext cx="2667762" cy="338328"/>
          </a:xfrm>
          <a:prstGeom prst="rect">
            <a:avLst/>
          </a:prstGeom>
          <a:solidFill>
            <a:srgbClr val="EAF2FB"/>
          </a:solidFill>
          <a:ln w="12700">
            <a:solidFill>
              <a:srgbClr val="EAF2FB">
                <a:alpha val="0"/>
              </a:srgbClr>
            </a:solidFill>
            <a:prstDash val="solid"/>
          </a:ln>
        </p:spPr>
      </p:sp>
      <p:sp>
        <p:nvSpPr>
          <p:cNvPr id="31" name="Text 29"/>
          <p:cNvSpPr/>
          <p:nvPr/>
        </p:nvSpPr>
        <p:spPr>
          <a:xfrm>
            <a:off x="615848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3</a:t>
            </a:r>
            <a:endParaRPr lang="en-US" sz="1030" dirty="0"/>
          </a:p>
        </p:txBody>
      </p:sp>
      <p:sp>
        <p:nvSpPr>
          <p:cNvPr id="32" name="Shape 30"/>
          <p:cNvSpPr/>
          <p:nvPr/>
        </p:nvSpPr>
        <p:spPr>
          <a:xfrm>
            <a:off x="8734806" y="3703320"/>
            <a:ext cx="2667762" cy="338328"/>
          </a:xfrm>
          <a:prstGeom prst="rect">
            <a:avLst/>
          </a:prstGeom>
          <a:solidFill>
            <a:srgbClr val="EAF2FB"/>
          </a:solidFill>
          <a:ln w="12700">
            <a:solidFill>
              <a:srgbClr val="EAF2FB">
                <a:alpha val="0"/>
              </a:srgbClr>
            </a:solidFill>
            <a:prstDash val="solid"/>
          </a:ln>
        </p:spPr>
      </p:sp>
      <p:sp>
        <p:nvSpPr>
          <p:cNvPr id="33" name="Text 31"/>
          <p:cNvSpPr/>
          <p:nvPr/>
        </p:nvSpPr>
        <p:spPr>
          <a:xfrm>
            <a:off x="884453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42.9</a:t>
            </a:r>
            <a:endParaRPr lang="en-US" sz="1030" dirty="0"/>
          </a:p>
        </p:txBody>
      </p:sp>
      <p:sp>
        <p:nvSpPr>
          <p:cNvPr id="34" name="Shape 32"/>
          <p:cNvSpPr/>
          <p:nvPr/>
        </p:nvSpPr>
        <p:spPr>
          <a:xfrm>
            <a:off x="676656" y="4059936"/>
            <a:ext cx="2667762" cy="338328"/>
          </a:xfrm>
          <a:prstGeom prst="rect">
            <a:avLst/>
          </a:prstGeom>
          <a:solidFill>
            <a:srgbClr val="F4F8FD"/>
          </a:solidFill>
          <a:ln w="12700">
            <a:solidFill>
              <a:srgbClr val="F4F8FD">
                <a:alpha val="0"/>
              </a:srgbClr>
            </a:solidFill>
            <a:prstDash val="solid"/>
          </a:ln>
        </p:spPr>
      </p:sp>
      <p:sp>
        <p:nvSpPr>
          <p:cNvPr id="35" name="Text 33"/>
          <p:cNvSpPr/>
          <p:nvPr/>
        </p:nvSpPr>
        <p:spPr>
          <a:xfrm>
            <a:off x="78638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36" name="Shape 34"/>
          <p:cNvSpPr/>
          <p:nvPr/>
        </p:nvSpPr>
        <p:spPr>
          <a:xfrm>
            <a:off x="3362706" y="4059936"/>
            <a:ext cx="2667762" cy="338328"/>
          </a:xfrm>
          <a:prstGeom prst="rect">
            <a:avLst/>
          </a:prstGeom>
          <a:solidFill>
            <a:srgbClr val="F4F8FD"/>
          </a:solidFill>
          <a:ln w="12700">
            <a:solidFill>
              <a:srgbClr val="F4F8FD">
                <a:alpha val="0"/>
              </a:srgbClr>
            </a:solidFill>
            <a:prstDash val="solid"/>
          </a:ln>
        </p:spPr>
      </p:sp>
      <p:sp>
        <p:nvSpPr>
          <p:cNvPr id="37" name="Text 35"/>
          <p:cNvSpPr/>
          <p:nvPr/>
        </p:nvSpPr>
        <p:spPr>
          <a:xfrm>
            <a:off x="347243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10</a:t>
            </a:r>
            <a:endParaRPr lang="en-US" sz="1030" dirty="0"/>
          </a:p>
        </p:txBody>
      </p:sp>
      <p:sp>
        <p:nvSpPr>
          <p:cNvPr id="38" name="Shape 36"/>
          <p:cNvSpPr/>
          <p:nvPr/>
        </p:nvSpPr>
        <p:spPr>
          <a:xfrm>
            <a:off x="6048756" y="4059936"/>
            <a:ext cx="2667762" cy="338328"/>
          </a:xfrm>
          <a:prstGeom prst="rect">
            <a:avLst/>
          </a:prstGeom>
          <a:solidFill>
            <a:srgbClr val="F4F8FD"/>
          </a:solidFill>
          <a:ln w="12700">
            <a:solidFill>
              <a:srgbClr val="F4F8FD">
                <a:alpha val="0"/>
              </a:srgbClr>
            </a:solidFill>
            <a:prstDash val="solid"/>
          </a:ln>
        </p:spPr>
      </p:sp>
      <p:sp>
        <p:nvSpPr>
          <p:cNvPr id="39" name="Text 37"/>
          <p:cNvSpPr/>
          <p:nvPr/>
        </p:nvSpPr>
        <p:spPr>
          <a:xfrm>
            <a:off x="615848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a:t>
            </a:r>
            <a:endParaRPr lang="en-US" sz="1030" dirty="0"/>
          </a:p>
        </p:txBody>
      </p:sp>
      <p:sp>
        <p:nvSpPr>
          <p:cNvPr id="40" name="Shape 38"/>
          <p:cNvSpPr/>
          <p:nvPr/>
        </p:nvSpPr>
        <p:spPr>
          <a:xfrm>
            <a:off x="8734806" y="4059936"/>
            <a:ext cx="2667762" cy="338328"/>
          </a:xfrm>
          <a:prstGeom prst="rect">
            <a:avLst/>
          </a:prstGeom>
          <a:solidFill>
            <a:srgbClr val="F4F8FD"/>
          </a:solidFill>
          <a:ln w="12700">
            <a:solidFill>
              <a:srgbClr val="F4F8FD">
                <a:alpha val="0"/>
              </a:srgbClr>
            </a:solidFill>
            <a:prstDash val="solid"/>
          </a:ln>
        </p:spPr>
      </p:sp>
      <p:sp>
        <p:nvSpPr>
          <p:cNvPr id="41" name="Text 39"/>
          <p:cNvSpPr/>
          <p:nvPr/>
        </p:nvSpPr>
        <p:spPr>
          <a:xfrm>
            <a:off x="884453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40.0</a:t>
            </a:r>
            <a:endParaRPr lang="en-US" sz="1030" dirty="0"/>
          </a:p>
        </p:txBody>
      </p:sp>
      <p:sp>
        <p:nvSpPr>
          <p:cNvPr id="42" name="Shape 40"/>
          <p:cNvSpPr/>
          <p:nvPr/>
        </p:nvSpPr>
        <p:spPr>
          <a:xfrm>
            <a:off x="676656" y="4416552"/>
            <a:ext cx="2667762" cy="338328"/>
          </a:xfrm>
          <a:prstGeom prst="rect">
            <a:avLst/>
          </a:prstGeom>
          <a:solidFill>
            <a:srgbClr val="EAF2FB"/>
          </a:solidFill>
          <a:ln w="12700">
            <a:solidFill>
              <a:srgbClr val="EAF2FB">
                <a:alpha val="0"/>
              </a:srgbClr>
            </a:solidFill>
            <a:prstDash val="solid"/>
          </a:ln>
        </p:spPr>
      </p:sp>
      <p:sp>
        <p:nvSpPr>
          <p:cNvPr id="43" name="Text 41"/>
          <p:cNvSpPr/>
          <p:nvPr/>
        </p:nvSpPr>
        <p:spPr>
          <a:xfrm>
            <a:off x="78638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LC-40</a:t>
            </a:r>
            <a:endParaRPr lang="en-US" sz="1030" dirty="0"/>
          </a:p>
        </p:txBody>
      </p:sp>
      <p:sp>
        <p:nvSpPr>
          <p:cNvPr id="44" name="Shape 42"/>
          <p:cNvSpPr/>
          <p:nvPr/>
        </p:nvSpPr>
        <p:spPr>
          <a:xfrm>
            <a:off x="3362706" y="4416552"/>
            <a:ext cx="2667762" cy="338328"/>
          </a:xfrm>
          <a:prstGeom prst="rect">
            <a:avLst/>
          </a:prstGeom>
          <a:solidFill>
            <a:srgbClr val="EAF2FB"/>
          </a:solidFill>
          <a:ln w="12700">
            <a:solidFill>
              <a:srgbClr val="EAF2FB">
                <a:alpha val="0"/>
              </a:srgbClr>
            </a:solidFill>
            <a:prstDash val="solid"/>
          </a:ln>
        </p:spPr>
      </p:sp>
      <p:sp>
        <p:nvSpPr>
          <p:cNvPr id="45" name="Text 43"/>
          <p:cNvSpPr/>
          <p:nvPr/>
        </p:nvSpPr>
        <p:spPr>
          <a:xfrm>
            <a:off x="347243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26</a:t>
            </a:r>
            <a:endParaRPr lang="en-US" sz="1030" dirty="0"/>
          </a:p>
        </p:txBody>
      </p:sp>
      <p:sp>
        <p:nvSpPr>
          <p:cNvPr id="46" name="Shape 44"/>
          <p:cNvSpPr/>
          <p:nvPr/>
        </p:nvSpPr>
        <p:spPr>
          <a:xfrm>
            <a:off x="6048756" y="4416552"/>
            <a:ext cx="2667762" cy="338328"/>
          </a:xfrm>
          <a:prstGeom prst="rect">
            <a:avLst/>
          </a:prstGeom>
          <a:solidFill>
            <a:srgbClr val="EAF2FB"/>
          </a:solidFill>
          <a:ln w="12700">
            <a:solidFill>
              <a:srgbClr val="EAF2FB">
                <a:alpha val="0"/>
              </a:srgbClr>
            </a:solidFill>
            <a:prstDash val="solid"/>
          </a:ln>
        </p:spPr>
      </p:sp>
      <p:sp>
        <p:nvSpPr>
          <p:cNvPr id="47" name="Text 45"/>
          <p:cNvSpPr/>
          <p:nvPr/>
        </p:nvSpPr>
        <p:spPr>
          <a:xfrm>
            <a:off x="615848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a:t>
            </a:r>
            <a:endParaRPr lang="en-US" sz="1030" dirty="0"/>
          </a:p>
        </p:txBody>
      </p:sp>
      <p:sp>
        <p:nvSpPr>
          <p:cNvPr id="48" name="Shape 46"/>
          <p:cNvSpPr/>
          <p:nvPr/>
        </p:nvSpPr>
        <p:spPr>
          <a:xfrm>
            <a:off x="8734806" y="4416552"/>
            <a:ext cx="2667762" cy="338328"/>
          </a:xfrm>
          <a:prstGeom prst="rect">
            <a:avLst/>
          </a:prstGeom>
          <a:solidFill>
            <a:srgbClr val="EAF2FB"/>
          </a:solidFill>
          <a:ln w="12700">
            <a:solidFill>
              <a:srgbClr val="EAF2FB">
                <a:alpha val="0"/>
              </a:srgbClr>
            </a:solidFill>
            <a:prstDash val="solid"/>
          </a:ln>
        </p:spPr>
      </p:sp>
      <p:sp>
        <p:nvSpPr>
          <p:cNvPr id="49" name="Text 47"/>
          <p:cNvSpPr/>
          <p:nvPr/>
        </p:nvSpPr>
        <p:spPr>
          <a:xfrm>
            <a:off x="884453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26.9</a:t>
            </a:r>
            <a:endParaRPr lang="en-US" sz="1030" dirty="0"/>
          </a:p>
        </p:txBody>
      </p:sp>
      <p:sp>
        <p:nvSpPr>
          <p:cNvPr id="50" name="Shape 48"/>
          <p:cNvSpPr/>
          <p:nvPr/>
        </p:nvSpPr>
        <p:spPr>
          <a:xfrm>
            <a:off x="676656" y="5449824"/>
            <a:ext cx="10744200" cy="914400"/>
          </a:xfrm>
          <a:prstGeom prst="rect">
            <a:avLst/>
          </a:prstGeom>
          <a:solidFill>
            <a:srgbClr val="F3F8FE"/>
          </a:solidFill>
          <a:ln w="12700">
            <a:solidFill>
              <a:srgbClr val="F3F8FE">
                <a:alpha val="0"/>
              </a:srgbClr>
            </a:solidFill>
            <a:prstDash val="solid"/>
          </a:ln>
        </p:spPr>
      </p:sp>
      <p:sp>
        <p:nvSpPr>
          <p:cNvPr id="51" name="Shape 49"/>
          <p:cNvSpPr/>
          <p:nvPr/>
        </p:nvSpPr>
        <p:spPr>
          <a:xfrm>
            <a:off x="676656" y="5449824"/>
            <a:ext cx="50292" cy="914400"/>
          </a:xfrm>
          <a:prstGeom prst="rect">
            <a:avLst/>
          </a:prstGeom>
          <a:solidFill>
            <a:srgbClr val="1AA6B7"/>
          </a:solidFill>
          <a:ln w="12700">
            <a:solidFill>
              <a:srgbClr val="1AA6B7">
                <a:alpha val="0"/>
              </a:srgbClr>
            </a:solidFill>
            <a:prstDash val="solid"/>
          </a:ln>
        </p:spPr>
      </p:sp>
      <p:sp>
        <p:nvSpPr>
          <p:cNvPr id="52" name="Text 50"/>
          <p:cNvSpPr/>
          <p:nvPr/>
        </p:nvSpPr>
        <p:spPr>
          <a:xfrm>
            <a:off x="877824" y="55778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INTERPRETATION</a:t>
            </a:r>
            <a:endParaRPr lang="en-US" sz="1500" dirty="0"/>
          </a:p>
        </p:txBody>
      </p:sp>
      <p:sp>
        <p:nvSpPr>
          <p:cNvPr id="53" name="Text 51"/>
          <p:cNvSpPr/>
          <p:nvPr/>
        </p:nvSpPr>
        <p:spPr>
          <a:xfrm>
            <a:off x="877824" y="5888736"/>
            <a:ext cx="10351008" cy="4114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Success percentage is AVG(Class) × 100, not mission completion or orbital-insertion success.</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EDA WITH SQL • ACTUAL QUERY OUTPUT</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03 | Payload by booster generation</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67512" y="1600200"/>
            <a:ext cx="10698480" cy="1152144"/>
          </a:xfrm>
          <a:prstGeom prst="rect">
            <a:avLst/>
          </a:prstGeom>
          <a:solidFill>
            <a:srgbClr val="12243C"/>
          </a:solidFill>
          <a:ln w="12700">
            <a:solidFill>
              <a:srgbClr val="12243C">
                <a:alpha val="0"/>
              </a:srgbClr>
            </a:solidFill>
            <a:prstDash val="solid"/>
          </a:ln>
        </p:spPr>
      </p:sp>
      <p:sp>
        <p:nvSpPr>
          <p:cNvPr id="9" name="Text 7"/>
          <p:cNvSpPr/>
          <p:nvPr/>
        </p:nvSpPr>
        <p:spPr>
          <a:xfrm>
            <a:off x="850392" y="1755648"/>
            <a:ext cx="10332720" cy="859536"/>
          </a:xfrm>
          <a:prstGeom prst="rect">
            <a:avLst/>
          </a:prstGeom>
          <a:noFill/>
          <a:ln/>
        </p:spPr>
        <p:txBody>
          <a:bodyPr wrap="square" lIns="0" tIns="0" rIns="0" bIns="0" rtlCol="0" anchor="t">
            <a:normAutofit/>
          </a:bodyPr>
          <a:lstStyle/>
          <a:p>
            <a:pPr indent="0" marL="0">
              <a:buNone/>
            </a:pPr>
            <a:r>
              <a:rPr lang="en-US" sz="1210" dirty="0">
                <a:solidFill>
                  <a:srgbClr val="FFFFFF"/>
                </a:solidFill>
                <a:latin typeface="Consolas" pitchFamily="34" charset="0"/>
                <a:ea typeface="Consolas" pitchFamily="34" charset="-122"/>
                <a:cs typeface="Consolas" pitchFamily="34" charset="-120"/>
              </a:rPr>
              <a:t>SELECT BoosterCategory, COUNT(*) AS flights, ROUND(AVG(PayloadMass),0) AS avg_payload_kg, ROUND(MAX(PayloadMass),0) AS max_payload_kg FROM SPACEXTBL GROUP BY BoosterCategory ORDER BY flights DESC</a:t>
            </a:r>
            <a:endParaRPr lang="en-US" sz="1210" dirty="0"/>
          </a:p>
        </p:txBody>
      </p:sp>
      <p:sp>
        <p:nvSpPr>
          <p:cNvPr id="10" name="Shape 8"/>
          <p:cNvSpPr/>
          <p:nvPr/>
        </p:nvSpPr>
        <p:spPr>
          <a:xfrm>
            <a:off x="676656" y="2944368"/>
            <a:ext cx="2667762" cy="384048"/>
          </a:xfrm>
          <a:prstGeom prst="rect">
            <a:avLst/>
          </a:prstGeom>
          <a:solidFill>
            <a:srgbClr val="1953B6"/>
          </a:solidFill>
          <a:ln w="12700">
            <a:solidFill>
              <a:srgbClr val="1953B6">
                <a:alpha val="0"/>
              </a:srgbClr>
            </a:solidFill>
            <a:prstDash val="solid"/>
          </a:ln>
        </p:spPr>
      </p:sp>
      <p:sp>
        <p:nvSpPr>
          <p:cNvPr id="11" name="Text 9"/>
          <p:cNvSpPr/>
          <p:nvPr/>
        </p:nvSpPr>
        <p:spPr>
          <a:xfrm>
            <a:off x="78638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BoosterCategory</a:t>
            </a:r>
            <a:endParaRPr lang="en-US" sz="1140" dirty="0"/>
          </a:p>
        </p:txBody>
      </p:sp>
      <p:sp>
        <p:nvSpPr>
          <p:cNvPr id="12" name="Shape 10"/>
          <p:cNvSpPr/>
          <p:nvPr/>
        </p:nvSpPr>
        <p:spPr>
          <a:xfrm>
            <a:off x="3362706" y="2944368"/>
            <a:ext cx="2667762" cy="384048"/>
          </a:xfrm>
          <a:prstGeom prst="rect">
            <a:avLst/>
          </a:prstGeom>
          <a:solidFill>
            <a:srgbClr val="1953B6"/>
          </a:solidFill>
          <a:ln w="12700">
            <a:solidFill>
              <a:srgbClr val="1953B6">
                <a:alpha val="0"/>
              </a:srgbClr>
            </a:solidFill>
            <a:prstDash val="solid"/>
          </a:ln>
        </p:spPr>
      </p:sp>
      <p:sp>
        <p:nvSpPr>
          <p:cNvPr id="13" name="Text 11"/>
          <p:cNvSpPr/>
          <p:nvPr/>
        </p:nvSpPr>
        <p:spPr>
          <a:xfrm>
            <a:off x="347243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flights</a:t>
            </a:r>
            <a:endParaRPr lang="en-US" sz="1140" dirty="0"/>
          </a:p>
        </p:txBody>
      </p:sp>
      <p:sp>
        <p:nvSpPr>
          <p:cNvPr id="14" name="Shape 12"/>
          <p:cNvSpPr/>
          <p:nvPr/>
        </p:nvSpPr>
        <p:spPr>
          <a:xfrm>
            <a:off x="6048756" y="2944368"/>
            <a:ext cx="2667762" cy="384048"/>
          </a:xfrm>
          <a:prstGeom prst="rect">
            <a:avLst/>
          </a:prstGeom>
          <a:solidFill>
            <a:srgbClr val="1953B6"/>
          </a:solidFill>
          <a:ln w="12700">
            <a:solidFill>
              <a:srgbClr val="1953B6">
                <a:alpha val="0"/>
              </a:srgbClr>
            </a:solidFill>
            <a:prstDash val="solid"/>
          </a:ln>
        </p:spPr>
      </p:sp>
      <p:sp>
        <p:nvSpPr>
          <p:cNvPr id="15" name="Text 13"/>
          <p:cNvSpPr/>
          <p:nvPr/>
        </p:nvSpPr>
        <p:spPr>
          <a:xfrm>
            <a:off x="615848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avg_payload_kg</a:t>
            </a:r>
            <a:endParaRPr lang="en-US" sz="1140" dirty="0"/>
          </a:p>
        </p:txBody>
      </p:sp>
      <p:sp>
        <p:nvSpPr>
          <p:cNvPr id="16" name="Shape 14"/>
          <p:cNvSpPr/>
          <p:nvPr/>
        </p:nvSpPr>
        <p:spPr>
          <a:xfrm>
            <a:off x="8734806" y="2944368"/>
            <a:ext cx="2667762" cy="384048"/>
          </a:xfrm>
          <a:prstGeom prst="rect">
            <a:avLst/>
          </a:prstGeom>
          <a:solidFill>
            <a:srgbClr val="1953B6"/>
          </a:solidFill>
          <a:ln w="12700">
            <a:solidFill>
              <a:srgbClr val="1953B6">
                <a:alpha val="0"/>
              </a:srgbClr>
            </a:solidFill>
            <a:prstDash val="solid"/>
          </a:ln>
        </p:spPr>
      </p:sp>
      <p:sp>
        <p:nvSpPr>
          <p:cNvPr id="17" name="Text 15"/>
          <p:cNvSpPr/>
          <p:nvPr/>
        </p:nvSpPr>
        <p:spPr>
          <a:xfrm>
            <a:off x="884453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max_payload_kg</a:t>
            </a:r>
            <a:endParaRPr lang="en-US" sz="1140" dirty="0"/>
          </a:p>
        </p:txBody>
      </p:sp>
      <p:sp>
        <p:nvSpPr>
          <p:cNvPr id="18" name="Shape 16"/>
          <p:cNvSpPr/>
          <p:nvPr/>
        </p:nvSpPr>
        <p:spPr>
          <a:xfrm>
            <a:off x="676656" y="3346704"/>
            <a:ext cx="2667762" cy="338328"/>
          </a:xfrm>
          <a:prstGeom prst="rect">
            <a:avLst/>
          </a:prstGeom>
          <a:solidFill>
            <a:srgbClr val="F4F8FD"/>
          </a:solidFill>
          <a:ln w="12700">
            <a:solidFill>
              <a:srgbClr val="F4F8FD">
                <a:alpha val="0"/>
              </a:srgbClr>
            </a:solidFill>
            <a:prstDash val="solid"/>
          </a:ln>
        </p:spPr>
      </p:sp>
      <p:sp>
        <p:nvSpPr>
          <p:cNvPr id="19" name="Text 17"/>
          <p:cNvSpPr/>
          <p:nvPr/>
        </p:nvSpPr>
        <p:spPr>
          <a:xfrm>
            <a:off x="78638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FT</a:t>
            </a:r>
            <a:endParaRPr lang="en-US" sz="1030" dirty="0"/>
          </a:p>
        </p:txBody>
      </p:sp>
      <p:sp>
        <p:nvSpPr>
          <p:cNvPr id="20" name="Shape 18"/>
          <p:cNvSpPr/>
          <p:nvPr/>
        </p:nvSpPr>
        <p:spPr>
          <a:xfrm>
            <a:off x="3362706" y="3346704"/>
            <a:ext cx="2667762" cy="338328"/>
          </a:xfrm>
          <a:prstGeom prst="rect">
            <a:avLst/>
          </a:prstGeom>
          <a:solidFill>
            <a:srgbClr val="F4F8FD"/>
          </a:solidFill>
          <a:ln w="12700">
            <a:solidFill>
              <a:srgbClr val="F4F8FD">
                <a:alpha val="0"/>
              </a:srgbClr>
            </a:solidFill>
            <a:prstDash val="solid"/>
          </a:ln>
        </p:spPr>
      </p:sp>
      <p:sp>
        <p:nvSpPr>
          <p:cNvPr id="21" name="Text 19"/>
          <p:cNvSpPr/>
          <p:nvPr/>
        </p:nvSpPr>
        <p:spPr>
          <a:xfrm>
            <a:off x="347243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24</a:t>
            </a:r>
            <a:endParaRPr lang="en-US" sz="1030" dirty="0"/>
          </a:p>
        </p:txBody>
      </p:sp>
      <p:sp>
        <p:nvSpPr>
          <p:cNvPr id="22" name="Shape 20"/>
          <p:cNvSpPr/>
          <p:nvPr/>
        </p:nvSpPr>
        <p:spPr>
          <a:xfrm>
            <a:off x="6048756" y="3346704"/>
            <a:ext cx="2667762" cy="338328"/>
          </a:xfrm>
          <a:prstGeom prst="rect">
            <a:avLst/>
          </a:prstGeom>
          <a:solidFill>
            <a:srgbClr val="F4F8FD"/>
          </a:solidFill>
          <a:ln w="12700">
            <a:solidFill>
              <a:srgbClr val="F4F8FD">
                <a:alpha val="0"/>
              </a:srgbClr>
            </a:solidFill>
            <a:prstDash val="solid"/>
          </a:ln>
        </p:spPr>
      </p:sp>
      <p:sp>
        <p:nvSpPr>
          <p:cNvPr id="23" name="Text 21"/>
          <p:cNvSpPr/>
          <p:nvPr/>
        </p:nvSpPr>
        <p:spPr>
          <a:xfrm>
            <a:off x="615848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4502.0</a:t>
            </a:r>
            <a:endParaRPr lang="en-US" sz="1030" dirty="0"/>
          </a:p>
        </p:txBody>
      </p:sp>
      <p:sp>
        <p:nvSpPr>
          <p:cNvPr id="24" name="Shape 22"/>
          <p:cNvSpPr/>
          <p:nvPr/>
        </p:nvSpPr>
        <p:spPr>
          <a:xfrm>
            <a:off x="8734806" y="3346704"/>
            <a:ext cx="2667762" cy="338328"/>
          </a:xfrm>
          <a:prstGeom prst="rect">
            <a:avLst/>
          </a:prstGeom>
          <a:solidFill>
            <a:srgbClr val="F4F8FD"/>
          </a:solidFill>
          <a:ln w="12700">
            <a:solidFill>
              <a:srgbClr val="F4F8FD">
                <a:alpha val="0"/>
              </a:srgbClr>
            </a:solidFill>
            <a:prstDash val="solid"/>
          </a:ln>
        </p:spPr>
      </p:sp>
      <p:sp>
        <p:nvSpPr>
          <p:cNvPr id="25" name="Text 23"/>
          <p:cNvSpPr/>
          <p:nvPr/>
        </p:nvSpPr>
        <p:spPr>
          <a:xfrm>
            <a:off x="884453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26" name="Shape 24"/>
          <p:cNvSpPr/>
          <p:nvPr/>
        </p:nvSpPr>
        <p:spPr>
          <a:xfrm>
            <a:off x="676656" y="3703320"/>
            <a:ext cx="2667762" cy="338328"/>
          </a:xfrm>
          <a:prstGeom prst="rect">
            <a:avLst/>
          </a:prstGeom>
          <a:solidFill>
            <a:srgbClr val="EAF2FB"/>
          </a:solidFill>
          <a:ln w="12700">
            <a:solidFill>
              <a:srgbClr val="EAF2FB">
                <a:alpha val="0"/>
              </a:srgbClr>
            </a:solidFill>
            <a:prstDash val="solid"/>
          </a:ln>
        </p:spPr>
      </p:sp>
      <p:sp>
        <p:nvSpPr>
          <p:cNvPr id="27" name="Text 25"/>
          <p:cNvSpPr/>
          <p:nvPr/>
        </p:nvSpPr>
        <p:spPr>
          <a:xfrm>
            <a:off x="78638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v1.1</a:t>
            </a:r>
            <a:endParaRPr lang="en-US" sz="1030" dirty="0"/>
          </a:p>
        </p:txBody>
      </p:sp>
      <p:sp>
        <p:nvSpPr>
          <p:cNvPr id="28" name="Shape 26"/>
          <p:cNvSpPr/>
          <p:nvPr/>
        </p:nvSpPr>
        <p:spPr>
          <a:xfrm>
            <a:off x="3362706" y="3703320"/>
            <a:ext cx="2667762" cy="338328"/>
          </a:xfrm>
          <a:prstGeom prst="rect">
            <a:avLst/>
          </a:prstGeom>
          <a:solidFill>
            <a:srgbClr val="EAF2FB"/>
          </a:solidFill>
          <a:ln w="12700">
            <a:solidFill>
              <a:srgbClr val="EAF2FB">
                <a:alpha val="0"/>
              </a:srgbClr>
            </a:solidFill>
            <a:prstDash val="solid"/>
          </a:ln>
        </p:spPr>
      </p:sp>
      <p:sp>
        <p:nvSpPr>
          <p:cNvPr id="29" name="Text 27"/>
          <p:cNvSpPr/>
          <p:nvPr/>
        </p:nvSpPr>
        <p:spPr>
          <a:xfrm>
            <a:off x="347243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15</a:t>
            </a:r>
            <a:endParaRPr lang="en-US" sz="1030" dirty="0"/>
          </a:p>
        </p:txBody>
      </p:sp>
      <p:sp>
        <p:nvSpPr>
          <p:cNvPr id="30" name="Shape 28"/>
          <p:cNvSpPr/>
          <p:nvPr/>
        </p:nvSpPr>
        <p:spPr>
          <a:xfrm>
            <a:off x="6048756" y="3703320"/>
            <a:ext cx="2667762" cy="338328"/>
          </a:xfrm>
          <a:prstGeom prst="rect">
            <a:avLst/>
          </a:prstGeom>
          <a:solidFill>
            <a:srgbClr val="EAF2FB"/>
          </a:solidFill>
          <a:ln w="12700">
            <a:solidFill>
              <a:srgbClr val="EAF2FB">
                <a:alpha val="0"/>
              </a:srgbClr>
            </a:solidFill>
            <a:prstDash val="solid"/>
          </a:ln>
        </p:spPr>
      </p:sp>
      <p:sp>
        <p:nvSpPr>
          <p:cNvPr id="31" name="Text 29"/>
          <p:cNvSpPr/>
          <p:nvPr/>
        </p:nvSpPr>
        <p:spPr>
          <a:xfrm>
            <a:off x="615848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2535.0</a:t>
            </a:r>
            <a:endParaRPr lang="en-US" sz="1030" dirty="0"/>
          </a:p>
        </p:txBody>
      </p:sp>
      <p:sp>
        <p:nvSpPr>
          <p:cNvPr id="32" name="Shape 30"/>
          <p:cNvSpPr/>
          <p:nvPr/>
        </p:nvSpPr>
        <p:spPr>
          <a:xfrm>
            <a:off x="8734806" y="3703320"/>
            <a:ext cx="2667762" cy="338328"/>
          </a:xfrm>
          <a:prstGeom prst="rect">
            <a:avLst/>
          </a:prstGeom>
          <a:solidFill>
            <a:srgbClr val="EAF2FB"/>
          </a:solidFill>
          <a:ln w="12700">
            <a:solidFill>
              <a:srgbClr val="EAF2FB">
                <a:alpha val="0"/>
              </a:srgbClr>
            </a:solidFill>
            <a:prstDash val="solid"/>
          </a:ln>
        </p:spPr>
      </p:sp>
      <p:sp>
        <p:nvSpPr>
          <p:cNvPr id="33" name="Text 31"/>
          <p:cNvSpPr/>
          <p:nvPr/>
        </p:nvSpPr>
        <p:spPr>
          <a:xfrm>
            <a:off x="884453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4707.0</a:t>
            </a:r>
            <a:endParaRPr lang="en-US" sz="1030" dirty="0"/>
          </a:p>
        </p:txBody>
      </p:sp>
      <p:sp>
        <p:nvSpPr>
          <p:cNvPr id="34" name="Shape 32"/>
          <p:cNvSpPr/>
          <p:nvPr/>
        </p:nvSpPr>
        <p:spPr>
          <a:xfrm>
            <a:off x="676656" y="4059936"/>
            <a:ext cx="2667762" cy="338328"/>
          </a:xfrm>
          <a:prstGeom prst="rect">
            <a:avLst/>
          </a:prstGeom>
          <a:solidFill>
            <a:srgbClr val="F4F8FD"/>
          </a:solidFill>
          <a:ln w="12700">
            <a:solidFill>
              <a:srgbClr val="F4F8FD">
                <a:alpha val="0"/>
              </a:srgbClr>
            </a:solidFill>
            <a:prstDash val="solid"/>
          </a:ln>
        </p:spPr>
      </p:sp>
      <p:sp>
        <p:nvSpPr>
          <p:cNvPr id="35" name="Text 33"/>
          <p:cNvSpPr/>
          <p:nvPr/>
        </p:nvSpPr>
        <p:spPr>
          <a:xfrm>
            <a:off x="78638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B4</a:t>
            </a:r>
            <a:endParaRPr lang="en-US" sz="1030" dirty="0"/>
          </a:p>
        </p:txBody>
      </p:sp>
      <p:sp>
        <p:nvSpPr>
          <p:cNvPr id="36" name="Shape 34"/>
          <p:cNvSpPr/>
          <p:nvPr/>
        </p:nvSpPr>
        <p:spPr>
          <a:xfrm>
            <a:off x="3362706" y="4059936"/>
            <a:ext cx="2667762" cy="338328"/>
          </a:xfrm>
          <a:prstGeom prst="rect">
            <a:avLst/>
          </a:prstGeom>
          <a:solidFill>
            <a:srgbClr val="F4F8FD"/>
          </a:solidFill>
          <a:ln w="12700">
            <a:solidFill>
              <a:srgbClr val="F4F8FD">
                <a:alpha val="0"/>
              </a:srgbClr>
            </a:solidFill>
            <a:prstDash val="solid"/>
          </a:ln>
        </p:spPr>
      </p:sp>
      <p:sp>
        <p:nvSpPr>
          <p:cNvPr id="37" name="Text 35"/>
          <p:cNvSpPr/>
          <p:nvPr/>
        </p:nvSpPr>
        <p:spPr>
          <a:xfrm>
            <a:off x="347243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11</a:t>
            </a:r>
            <a:endParaRPr lang="en-US" sz="1030" dirty="0"/>
          </a:p>
        </p:txBody>
      </p:sp>
      <p:sp>
        <p:nvSpPr>
          <p:cNvPr id="38" name="Shape 36"/>
          <p:cNvSpPr/>
          <p:nvPr/>
        </p:nvSpPr>
        <p:spPr>
          <a:xfrm>
            <a:off x="6048756" y="4059936"/>
            <a:ext cx="2667762" cy="338328"/>
          </a:xfrm>
          <a:prstGeom prst="rect">
            <a:avLst/>
          </a:prstGeom>
          <a:solidFill>
            <a:srgbClr val="F4F8FD"/>
          </a:solidFill>
          <a:ln w="12700">
            <a:solidFill>
              <a:srgbClr val="F4F8FD">
                <a:alpha val="0"/>
              </a:srgbClr>
            </a:solidFill>
            <a:prstDash val="solid"/>
          </a:ln>
        </p:spPr>
      </p:sp>
      <p:sp>
        <p:nvSpPr>
          <p:cNvPr id="39" name="Text 37"/>
          <p:cNvSpPr/>
          <p:nvPr/>
        </p:nvSpPr>
        <p:spPr>
          <a:xfrm>
            <a:off x="615848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5058.0</a:t>
            </a:r>
            <a:endParaRPr lang="en-US" sz="1030" dirty="0"/>
          </a:p>
        </p:txBody>
      </p:sp>
      <p:sp>
        <p:nvSpPr>
          <p:cNvPr id="40" name="Shape 38"/>
          <p:cNvSpPr/>
          <p:nvPr/>
        </p:nvSpPr>
        <p:spPr>
          <a:xfrm>
            <a:off x="8734806" y="4059936"/>
            <a:ext cx="2667762" cy="338328"/>
          </a:xfrm>
          <a:prstGeom prst="rect">
            <a:avLst/>
          </a:prstGeom>
          <a:solidFill>
            <a:srgbClr val="F4F8FD"/>
          </a:solidFill>
          <a:ln w="12700">
            <a:solidFill>
              <a:srgbClr val="F4F8FD">
                <a:alpha val="0"/>
              </a:srgbClr>
            </a:solidFill>
            <a:prstDash val="solid"/>
          </a:ln>
        </p:spPr>
      </p:sp>
      <p:sp>
        <p:nvSpPr>
          <p:cNvPr id="41" name="Text 39"/>
          <p:cNvSpPr/>
          <p:nvPr/>
        </p:nvSpPr>
        <p:spPr>
          <a:xfrm>
            <a:off x="884453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42" name="Shape 40"/>
          <p:cNvSpPr/>
          <p:nvPr/>
        </p:nvSpPr>
        <p:spPr>
          <a:xfrm>
            <a:off x="676656" y="4416552"/>
            <a:ext cx="2667762" cy="338328"/>
          </a:xfrm>
          <a:prstGeom prst="rect">
            <a:avLst/>
          </a:prstGeom>
          <a:solidFill>
            <a:srgbClr val="EAF2FB"/>
          </a:solidFill>
          <a:ln w="12700">
            <a:solidFill>
              <a:srgbClr val="EAF2FB">
                <a:alpha val="0"/>
              </a:srgbClr>
            </a:solidFill>
            <a:prstDash val="solid"/>
          </a:ln>
        </p:spPr>
      </p:sp>
      <p:sp>
        <p:nvSpPr>
          <p:cNvPr id="43" name="Text 41"/>
          <p:cNvSpPr/>
          <p:nvPr/>
        </p:nvSpPr>
        <p:spPr>
          <a:xfrm>
            <a:off x="78638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v1.0</a:t>
            </a:r>
            <a:endParaRPr lang="en-US" sz="1030" dirty="0"/>
          </a:p>
        </p:txBody>
      </p:sp>
      <p:sp>
        <p:nvSpPr>
          <p:cNvPr id="44" name="Shape 42"/>
          <p:cNvSpPr/>
          <p:nvPr/>
        </p:nvSpPr>
        <p:spPr>
          <a:xfrm>
            <a:off x="3362706" y="4416552"/>
            <a:ext cx="2667762" cy="338328"/>
          </a:xfrm>
          <a:prstGeom prst="rect">
            <a:avLst/>
          </a:prstGeom>
          <a:solidFill>
            <a:srgbClr val="EAF2FB"/>
          </a:solidFill>
          <a:ln w="12700">
            <a:solidFill>
              <a:srgbClr val="EAF2FB">
                <a:alpha val="0"/>
              </a:srgbClr>
            </a:solidFill>
            <a:prstDash val="solid"/>
          </a:ln>
        </p:spPr>
      </p:sp>
      <p:sp>
        <p:nvSpPr>
          <p:cNvPr id="45" name="Text 43"/>
          <p:cNvSpPr/>
          <p:nvPr/>
        </p:nvSpPr>
        <p:spPr>
          <a:xfrm>
            <a:off x="347243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5</a:t>
            </a:r>
            <a:endParaRPr lang="en-US" sz="1030" dirty="0"/>
          </a:p>
        </p:txBody>
      </p:sp>
      <p:sp>
        <p:nvSpPr>
          <p:cNvPr id="46" name="Shape 44"/>
          <p:cNvSpPr/>
          <p:nvPr/>
        </p:nvSpPr>
        <p:spPr>
          <a:xfrm>
            <a:off x="6048756" y="4416552"/>
            <a:ext cx="2667762" cy="338328"/>
          </a:xfrm>
          <a:prstGeom prst="rect">
            <a:avLst/>
          </a:prstGeom>
          <a:solidFill>
            <a:srgbClr val="EAF2FB"/>
          </a:solidFill>
          <a:ln w="12700">
            <a:solidFill>
              <a:srgbClr val="EAF2FB">
                <a:alpha val="0"/>
              </a:srgbClr>
            </a:solidFill>
            <a:prstDash val="solid"/>
          </a:ln>
        </p:spPr>
      </p:sp>
      <p:sp>
        <p:nvSpPr>
          <p:cNvPr id="47" name="Text 45"/>
          <p:cNvSpPr/>
          <p:nvPr/>
        </p:nvSpPr>
        <p:spPr>
          <a:xfrm>
            <a:off x="615848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340.0</a:t>
            </a:r>
            <a:endParaRPr lang="en-US" sz="1030" dirty="0"/>
          </a:p>
        </p:txBody>
      </p:sp>
      <p:sp>
        <p:nvSpPr>
          <p:cNvPr id="48" name="Shape 46"/>
          <p:cNvSpPr/>
          <p:nvPr/>
        </p:nvSpPr>
        <p:spPr>
          <a:xfrm>
            <a:off x="8734806" y="4416552"/>
            <a:ext cx="2667762" cy="338328"/>
          </a:xfrm>
          <a:prstGeom prst="rect">
            <a:avLst/>
          </a:prstGeom>
          <a:solidFill>
            <a:srgbClr val="EAF2FB"/>
          </a:solidFill>
          <a:ln w="12700">
            <a:solidFill>
              <a:srgbClr val="EAF2FB">
                <a:alpha val="0"/>
              </a:srgbClr>
            </a:solidFill>
            <a:prstDash val="solid"/>
          </a:ln>
        </p:spPr>
      </p:sp>
      <p:sp>
        <p:nvSpPr>
          <p:cNvPr id="49" name="Text 47"/>
          <p:cNvSpPr/>
          <p:nvPr/>
        </p:nvSpPr>
        <p:spPr>
          <a:xfrm>
            <a:off x="884453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677.0</a:t>
            </a:r>
            <a:endParaRPr lang="en-US" sz="1030" dirty="0"/>
          </a:p>
        </p:txBody>
      </p:sp>
      <p:sp>
        <p:nvSpPr>
          <p:cNvPr id="50" name="Shape 48"/>
          <p:cNvSpPr/>
          <p:nvPr/>
        </p:nvSpPr>
        <p:spPr>
          <a:xfrm>
            <a:off x="676656" y="4773168"/>
            <a:ext cx="2667762" cy="338328"/>
          </a:xfrm>
          <a:prstGeom prst="rect">
            <a:avLst/>
          </a:prstGeom>
          <a:solidFill>
            <a:srgbClr val="F4F8FD"/>
          </a:solidFill>
          <a:ln w="12700">
            <a:solidFill>
              <a:srgbClr val="F4F8FD">
                <a:alpha val="0"/>
              </a:srgbClr>
            </a:solidFill>
            <a:prstDash val="solid"/>
          </a:ln>
        </p:spPr>
      </p:sp>
      <p:sp>
        <p:nvSpPr>
          <p:cNvPr id="51" name="Text 49"/>
          <p:cNvSpPr/>
          <p:nvPr/>
        </p:nvSpPr>
        <p:spPr>
          <a:xfrm>
            <a:off x="78638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B5</a:t>
            </a:r>
            <a:endParaRPr lang="en-US" sz="1030" dirty="0"/>
          </a:p>
        </p:txBody>
      </p:sp>
      <p:sp>
        <p:nvSpPr>
          <p:cNvPr id="52" name="Shape 50"/>
          <p:cNvSpPr/>
          <p:nvPr/>
        </p:nvSpPr>
        <p:spPr>
          <a:xfrm>
            <a:off x="3362706" y="4773168"/>
            <a:ext cx="2667762" cy="338328"/>
          </a:xfrm>
          <a:prstGeom prst="rect">
            <a:avLst/>
          </a:prstGeom>
          <a:solidFill>
            <a:srgbClr val="F4F8FD"/>
          </a:solidFill>
          <a:ln w="12700">
            <a:solidFill>
              <a:srgbClr val="F4F8FD">
                <a:alpha val="0"/>
              </a:srgbClr>
            </a:solidFill>
            <a:prstDash val="solid"/>
          </a:ln>
        </p:spPr>
      </p:sp>
      <p:sp>
        <p:nvSpPr>
          <p:cNvPr id="53" name="Text 51"/>
          <p:cNvSpPr/>
          <p:nvPr/>
        </p:nvSpPr>
        <p:spPr>
          <a:xfrm>
            <a:off x="347243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a:t>
            </a:r>
            <a:endParaRPr lang="en-US" sz="1030" dirty="0"/>
          </a:p>
        </p:txBody>
      </p:sp>
      <p:sp>
        <p:nvSpPr>
          <p:cNvPr id="54" name="Shape 52"/>
          <p:cNvSpPr/>
          <p:nvPr/>
        </p:nvSpPr>
        <p:spPr>
          <a:xfrm>
            <a:off x="6048756" y="4773168"/>
            <a:ext cx="2667762" cy="338328"/>
          </a:xfrm>
          <a:prstGeom prst="rect">
            <a:avLst/>
          </a:prstGeom>
          <a:solidFill>
            <a:srgbClr val="F4F8FD"/>
          </a:solidFill>
          <a:ln w="12700">
            <a:solidFill>
              <a:srgbClr val="F4F8FD">
                <a:alpha val="0"/>
              </a:srgbClr>
            </a:solidFill>
            <a:prstDash val="solid"/>
          </a:ln>
        </p:spPr>
      </p:sp>
      <p:sp>
        <p:nvSpPr>
          <p:cNvPr id="55" name="Text 53"/>
          <p:cNvSpPr/>
          <p:nvPr/>
        </p:nvSpPr>
        <p:spPr>
          <a:xfrm>
            <a:off x="615848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3600.0</a:t>
            </a:r>
            <a:endParaRPr lang="en-US" sz="1030" dirty="0"/>
          </a:p>
        </p:txBody>
      </p:sp>
      <p:sp>
        <p:nvSpPr>
          <p:cNvPr id="56" name="Shape 54"/>
          <p:cNvSpPr/>
          <p:nvPr/>
        </p:nvSpPr>
        <p:spPr>
          <a:xfrm>
            <a:off x="8734806" y="4773168"/>
            <a:ext cx="2667762" cy="338328"/>
          </a:xfrm>
          <a:prstGeom prst="rect">
            <a:avLst/>
          </a:prstGeom>
          <a:solidFill>
            <a:srgbClr val="F4F8FD"/>
          </a:solidFill>
          <a:ln w="12700">
            <a:solidFill>
              <a:srgbClr val="F4F8FD">
                <a:alpha val="0"/>
              </a:srgbClr>
            </a:solidFill>
            <a:prstDash val="solid"/>
          </a:ln>
        </p:spPr>
      </p:sp>
      <p:sp>
        <p:nvSpPr>
          <p:cNvPr id="57" name="Text 55"/>
          <p:cNvSpPr/>
          <p:nvPr/>
        </p:nvSpPr>
        <p:spPr>
          <a:xfrm>
            <a:off x="884453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3600.0</a:t>
            </a:r>
            <a:endParaRPr lang="en-US" sz="1030" dirty="0"/>
          </a:p>
        </p:txBody>
      </p:sp>
      <p:sp>
        <p:nvSpPr>
          <p:cNvPr id="58" name="Shape 56"/>
          <p:cNvSpPr/>
          <p:nvPr/>
        </p:nvSpPr>
        <p:spPr>
          <a:xfrm>
            <a:off x="676656" y="5449824"/>
            <a:ext cx="10744200" cy="914400"/>
          </a:xfrm>
          <a:prstGeom prst="rect">
            <a:avLst/>
          </a:prstGeom>
          <a:solidFill>
            <a:srgbClr val="F3F8FE"/>
          </a:solidFill>
          <a:ln w="12700">
            <a:solidFill>
              <a:srgbClr val="F3F8FE">
                <a:alpha val="0"/>
              </a:srgbClr>
            </a:solidFill>
            <a:prstDash val="solid"/>
          </a:ln>
        </p:spPr>
      </p:sp>
      <p:sp>
        <p:nvSpPr>
          <p:cNvPr id="59" name="Shape 57"/>
          <p:cNvSpPr/>
          <p:nvPr/>
        </p:nvSpPr>
        <p:spPr>
          <a:xfrm>
            <a:off x="676656" y="5449824"/>
            <a:ext cx="50292" cy="914400"/>
          </a:xfrm>
          <a:prstGeom prst="rect">
            <a:avLst/>
          </a:prstGeom>
          <a:solidFill>
            <a:srgbClr val="1AA6B7"/>
          </a:solidFill>
          <a:ln w="12700">
            <a:solidFill>
              <a:srgbClr val="1AA6B7">
                <a:alpha val="0"/>
              </a:srgbClr>
            </a:solidFill>
            <a:prstDash val="solid"/>
          </a:ln>
        </p:spPr>
      </p:sp>
      <p:sp>
        <p:nvSpPr>
          <p:cNvPr id="60" name="Text 58"/>
          <p:cNvSpPr/>
          <p:nvPr/>
        </p:nvSpPr>
        <p:spPr>
          <a:xfrm>
            <a:off x="877824" y="55778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INTERPRETATION</a:t>
            </a:r>
            <a:endParaRPr lang="en-US" sz="1500" dirty="0"/>
          </a:p>
        </p:txBody>
      </p:sp>
      <p:sp>
        <p:nvSpPr>
          <p:cNvPr id="61" name="Text 59"/>
          <p:cNvSpPr/>
          <p:nvPr/>
        </p:nvSpPr>
        <p:spPr>
          <a:xfrm>
            <a:off x="877824" y="5888736"/>
            <a:ext cx="10351008" cy="4114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Comparing mean mass by booster group provides context before interpreting landing differences.</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EDA WITH SQL • ACTUAL QUERY OUTPUT</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04 | Successful vs unsuccessful</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67512" y="1600200"/>
            <a:ext cx="10698480" cy="1152144"/>
          </a:xfrm>
          <a:prstGeom prst="rect">
            <a:avLst/>
          </a:prstGeom>
          <a:solidFill>
            <a:srgbClr val="12243C"/>
          </a:solidFill>
          <a:ln w="12700">
            <a:solidFill>
              <a:srgbClr val="12243C">
                <a:alpha val="0"/>
              </a:srgbClr>
            </a:solidFill>
            <a:prstDash val="solid"/>
          </a:ln>
        </p:spPr>
      </p:sp>
      <p:sp>
        <p:nvSpPr>
          <p:cNvPr id="9" name="Text 7"/>
          <p:cNvSpPr/>
          <p:nvPr/>
        </p:nvSpPr>
        <p:spPr>
          <a:xfrm>
            <a:off x="850392" y="1755648"/>
            <a:ext cx="10332720" cy="859536"/>
          </a:xfrm>
          <a:prstGeom prst="rect">
            <a:avLst/>
          </a:prstGeom>
          <a:noFill/>
          <a:ln/>
        </p:spPr>
        <p:txBody>
          <a:bodyPr wrap="square" lIns="0" tIns="0" rIns="0" bIns="0" rtlCol="0" anchor="t">
            <a:normAutofit/>
          </a:bodyPr>
          <a:lstStyle/>
          <a:p>
            <a:pPr indent="0" marL="0">
              <a:buNone/>
            </a:pPr>
            <a:r>
              <a:rPr lang="en-US" sz="1210" dirty="0">
                <a:solidFill>
                  <a:srgbClr val="FFFFFF"/>
                </a:solidFill>
                <a:latin typeface="Consolas" pitchFamily="34" charset="0"/>
                <a:ea typeface="Consolas" pitchFamily="34" charset="-122"/>
                <a:cs typeface="Consolas" pitchFamily="34" charset="-120"/>
              </a:rPr>
              <a:t>SELECT Class, COUNT(*) AS launches FROM SPACEXTBL GROUP BY Class ORDER BY Class DESC</a:t>
            </a:r>
            <a:endParaRPr lang="en-US" sz="1210" dirty="0"/>
          </a:p>
        </p:txBody>
      </p:sp>
      <p:sp>
        <p:nvSpPr>
          <p:cNvPr id="10" name="Shape 8"/>
          <p:cNvSpPr/>
          <p:nvPr/>
        </p:nvSpPr>
        <p:spPr>
          <a:xfrm>
            <a:off x="676656" y="2944368"/>
            <a:ext cx="5353812" cy="384048"/>
          </a:xfrm>
          <a:prstGeom prst="rect">
            <a:avLst/>
          </a:prstGeom>
          <a:solidFill>
            <a:srgbClr val="1953B6"/>
          </a:solidFill>
          <a:ln w="12700">
            <a:solidFill>
              <a:srgbClr val="1953B6">
                <a:alpha val="0"/>
              </a:srgbClr>
            </a:solidFill>
            <a:prstDash val="solid"/>
          </a:ln>
        </p:spPr>
      </p:sp>
      <p:sp>
        <p:nvSpPr>
          <p:cNvPr id="11" name="Text 9"/>
          <p:cNvSpPr/>
          <p:nvPr/>
        </p:nvSpPr>
        <p:spPr>
          <a:xfrm>
            <a:off x="786384" y="2990088"/>
            <a:ext cx="51892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Class</a:t>
            </a:r>
            <a:endParaRPr lang="en-US" sz="1140" dirty="0"/>
          </a:p>
        </p:txBody>
      </p:sp>
      <p:sp>
        <p:nvSpPr>
          <p:cNvPr id="12" name="Shape 10"/>
          <p:cNvSpPr/>
          <p:nvPr/>
        </p:nvSpPr>
        <p:spPr>
          <a:xfrm>
            <a:off x="6048756" y="2944368"/>
            <a:ext cx="5353812" cy="384048"/>
          </a:xfrm>
          <a:prstGeom prst="rect">
            <a:avLst/>
          </a:prstGeom>
          <a:solidFill>
            <a:srgbClr val="1953B6"/>
          </a:solidFill>
          <a:ln w="12700">
            <a:solidFill>
              <a:srgbClr val="1953B6">
                <a:alpha val="0"/>
              </a:srgbClr>
            </a:solidFill>
            <a:prstDash val="solid"/>
          </a:ln>
        </p:spPr>
      </p:sp>
      <p:sp>
        <p:nvSpPr>
          <p:cNvPr id="13" name="Text 11"/>
          <p:cNvSpPr/>
          <p:nvPr/>
        </p:nvSpPr>
        <p:spPr>
          <a:xfrm>
            <a:off x="6158484" y="2990088"/>
            <a:ext cx="51892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launches</a:t>
            </a:r>
            <a:endParaRPr lang="en-US" sz="1140" dirty="0"/>
          </a:p>
        </p:txBody>
      </p:sp>
      <p:sp>
        <p:nvSpPr>
          <p:cNvPr id="14" name="Shape 12"/>
          <p:cNvSpPr/>
          <p:nvPr/>
        </p:nvSpPr>
        <p:spPr>
          <a:xfrm>
            <a:off x="676656" y="3346704"/>
            <a:ext cx="5353812" cy="338328"/>
          </a:xfrm>
          <a:prstGeom prst="rect">
            <a:avLst/>
          </a:prstGeom>
          <a:solidFill>
            <a:srgbClr val="F4F8FD"/>
          </a:solidFill>
          <a:ln w="12700">
            <a:solidFill>
              <a:srgbClr val="F4F8FD">
                <a:alpha val="0"/>
              </a:srgbClr>
            </a:solidFill>
            <a:prstDash val="solid"/>
          </a:ln>
        </p:spPr>
      </p:sp>
      <p:sp>
        <p:nvSpPr>
          <p:cNvPr id="15" name="Text 13"/>
          <p:cNvSpPr/>
          <p:nvPr/>
        </p:nvSpPr>
        <p:spPr>
          <a:xfrm>
            <a:off x="786384" y="3392424"/>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a:t>
            </a:r>
            <a:endParaRPr lang="en-US" sz="1030" dirty="0"/>
          </a:p>
        </p:txBody>
      </p:sp>
      <p:sp>
        <p:nvSpPr>
          <p:cNvPr id="16" name="Shape 14"/>
          <p:cNvSpPr/>
          <p:nvPr/>
        </p:nvSpPr>
        <p:spPr>
          <a:xfrm>
            <a:off x="6048756" y="3346704"/>
            <a:ext cx="5353812" cy="338328"/>
          </a:xfrm>
          <a:prstGeom prst="rect">
            <a:avLst/>
          </a:prstGeom>
          <a:solidFill>
            <a:srgbClr val="F4F8FD"/>
          </a:solidFill>
          <a:ln w="12700">
            <a:solidFill>
              <a:srgbClr val="F4F8FD">
                <a:alpha val="0"/>
              </a:srgbClr>
            </a:solidFill>
            <a:prstDash val="solid"/>
          </a:ln>
        </p:spPr>
      </p:sp>
      <p:sp>
        <p:nvSpPr>
          <p:cNvPr id="17" name="Text 15"/>
          <p:cNvSpPr/>
          <p:nvPr/>
        </p:nvSpPr>
        <p:spPr>
          <a:xfrm>
            <a:off x="6158484" y="3392424"/>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24</a:t>
            </a:r>
            <a:endParaRPr lang="en-US" sz="1030" dirty="0"/>
          </a:p>
        </p:txBody>
      </p:sp>
      <p:sp>
        <p:nvSpPr>
          <p:cNvPr id="18" name="Shape 16"/>
          <p:cNvSpPr/>
          <p:nvPr/>
        </p:nvSpPr>
        <p:spPr>
          <a:xfrm>
            <a:off x="676656" y="3703320"/>
            <a:ext cx="5353812" cy="338328"/>
          </a:xfrm>
          <a:prstGeom prst="rect">
            <a:avLst/>
          </a:prstGeom>
          <a:solidFill>
            <a:srgbClr val="EAF2FB"/>
          </a:solidFill>
          <a:ln w="12700">
            <a:solidFill>
              <a:srgbClr val="EAF2FB">
                <a:alpha val="0"/>
              </a:srgbClr>
            </a:solidFill>
            <a:prstDash val="solid"/>
          </a:ln>
        </p:spPr>
      </p:sp>
      <p:sp>
        <p:nvSpPr>
          <p:cNvPr id="19" name="Text 17"/>
          <p:cNvSpPr/>
          <p:nvPr/>
        </p:nvSpPr>
        <p:spPr>
          <a:xfrm>
            <a:off x="786384" y="3749040"/>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a:t>
            </a:r>
            <a:endParaRPr lang="en-US" sz="1030" dirty="0"/>
          </a:p>
        </p:txBody>
      </p:sp>
      <p:sp>
        <p:nvSpPr>
          <p:cNvPr id="20" name="Shape 18"/>
          <p:cNvSpPr/>
          <p:nvPr/>
        </p:nvSpPr>
        <p:spPr>
          <a:xfrm>
            <a:off x="6048756" y="3703320"/>
            <a:ext cx="5353812" cy="338328"/>
          </a:xfrm>
          <a:prstGeom prst="rect">
            <a:avLst/>
          </a:prstGeom>
          <a:solidFill>
            <a:srgbClr val="EAF2FB"/>
          </a:solidFill>
          <a:ln w="12700">
            <a:solidFill>
              <a:srgbClr val="EAF2FB">
                <a:alpha val="0"/>
              </a:srgbClr>
            </a:solidFill>
            <a:prstDash val="solid"/>
          </a:ln>
        </p:spPr>
      </p:sp>
      <p:sp>
        <p:nvSpPr>
          <p:cNvPr id="21" name="Text 19"/>
          <p:cNvSpPr/>
          <p:nvPr/>
        </p:nvSpPr>
        <p:spPr>
          <a:xfrm>
            <a:off x="6158484" y="3749040"/>
            <a:ext cx="51892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32</a:t>
            </a:r>
            <a:endParaRPr lang="en-US" sz="1030" dirty="0"/>
          </a:p>
        </p:txBody>
      </p:sp>
      <p:sp>
        <p:nvSpPr>
          <p:cNvPr id="22" name="Shape 20"/>
          <p:cNvSpPr/>
          <p:nvPr/>
        </p:nvSpPr>
        <p:spPr>
          <a:xfrm>
            <a:off x="676656" y="5449824"/>
            <a:ext cx="10744200" cy="914400"/>
          </a:xfrm>
          <a:prstGeom prst="rect">
            <a:avLst/>
          </a:prstGeom>
          <a:solidFill>
            <a:srgbClr val="F3F8FE"/>
          </a:solidFill>
          <a:ln w="12700">
            <a:solidFill>
              <a:srgbClr val="F3F8FE">
                <a:alpha val="0"/>
              </a:srgbClr>
            </a:solidFill>
            <a:prstDash val="solid"/>
          </a:ln>
        </p:spPr>
      </p:sp>
      <p:sp>
        <p:nvSpPr>
          <p:cNvPr id="23" name="Shape 21"/>
          <p:cNvSpPr/>
          <p:nvPr/>
        </p:nvSpPr>
        <p:spPr>
          <a:xfrm>
            <a:off x="676656" y="5449824"/>
            <a:ext cx="50292" cy="914400"/>
          </a:xfrm>
          <a:prstGeom prst="rect">
            <a:avLst/>
          </a:prstGeom>
          <a:solidFill>
            <a:srgbClr val="1AA6B7"/>
          </a:solidFill>
          <a:ln w="12700">
            <a:solidFill>
              <a:srgbClr val="1AA6B7">
                <a:alpha val="0"/>
              </a:srgbClr>
            </a:solidFill>
            <a:prstDash val="solid"/>
          </a:ln>
        </p:spPr>
      </p:sp>
      <p:sp>
        <p:nvSpPr>
          <p:cNvPr id="24" name="Text 22"/>
          <p:cNvSpPr/>
          <p:nvPr/>
        </p:nvSpPr>
        <p:spPr>
          <a:xfrm>
            <a:off x="877824" y="55778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INTERPRETATION</a:t>
            </a:r>
            <a:endParaRPr lang="en-US" sz="1500" dirty="0"/>
          </a:p>
        </p:txBody>
      </p:sp>
      <p:sp>
        <p:nvSpPr>
          <p:cNvPr id="25" name="Text 23"/>
          <p:cNvSpPr/>
          <p:nvPr/>
        </p:nvSpPr>
        <p:spPr>
          <a:xfrm>
            <a:off x="877824" y="5888736"/>
            <a:ext cx="10351008" cy="4114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dataset contains 24 Class=1 and 32 Class=0 records (42.9% favorable recovery).</a:t>
            </a:r>
            <a:endParaRPr lang="en-US" sz="13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EDA WITH SQL • ACTUAL QUERY OUTPUT</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05 | Heaviest payload missions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67512" y="1600200"/>
            <a:ext cx="10698480" cy="1152144"/>
          </a:xfrm>
          <a:prstGeom prst="rect">
            <a:avLst/>
          </a:prstGeom>
          <a:solidFill>
            <a:srgbClr val="12243C"/>
          </a:solidFill>
          <a:ln w="12700">
            <a:solidFill>
              <a:srgbClr val="12243C">
                <a:alpha val="0"/>
              </a:srgbClr>
            </a:solidFill>
            <a:prstDash val="solid"/>
          </a:ln>
        </p:spPr>
      </p:sp>
      <p:sp>
        <p:nvSpPr>
          <p:cNvPr id="9" name="Text 7"/>
          <p:cNvSpPr/>
          <p:nvPr/>
        </p:nvSpPr>
        <p:spPr>
          <a:xfrm>
            <a:off x="850392" y="1755648"/>
            <a:ext cx="10332720" cy="859536"/>
          </a:xfrm>
          <a:prstGeom prst="rect">
            <a:avLst/>
          </a:prstGeom>
          <a:noFill/>
          <a:ln/>
        </p:spPr>
        <p:txBody>
          <a:bodyPr wrap="square" lIns="0" tIns="0" rIns="0" bIns="0" rtlCol="0" anchor="t">
            <a:normAutofit/>
          </a:bodyPr>
          <a:lstStyle/>
          <a:p>
            <a:pPr indent="0" marL="0">
              <a:buNone/>
            </a:pPr>
            <a:r>
              <a:rPr lang="en-US" sz="1210" dirty="0">
                <a:solidFill>
                  <a:srgbClr val="FFFFFF"/>
                </a:solidFill>
                <a:latin typeface="Consolas" pitchFamily="34" charset="0"/>
                <a:ea typeface="Consolas" pitchFamily="34" charset="-122"/>
                <a:cs typeface="Consolas" pitchFamily="34" charset="-120"/>
              </a:rPr>
              <a:t>SELECT FlightNumber, LaunchSite, PayloadMass, Class FROM SPACEXTBL ORDER BY PayloadMass DESC LIMIT 5</a:t>
            </a:r>
            <a:endParaRPr lang="en-US" sz="1210" dirty="0"/>
          </a:p>
        </p:txBody>
      </p:sp>
      <p:sp>
        <p:nvSpPr>
          <p:cNvPr id="10" name="Shape 8"/>
          <p:cNvSpPr/>
          <p:nvPr/>
        </p:nvSpPr>
        <p:spPr>
          <a:xfrm>
            <a:off x="676656" y="2944368"/>
            <a:ext cx="2667762" cy="384048"/>
          </a:xfrm>
          <a:prstGeom prst="rect">
            <a:avLst/>
          </a:prstGeom>
          <a:solidFill>
            <a:srgbClr val="1953B6"/>
          </a:solidFill>
          <a:ln w="12700">
            <a:solidFill>
              <a:srgbClr val="1953B6">
                <a:alpha val="0"/>
              </a:srgbClr>
            </a:solidFill>
            <a:prstDash val="solid"/>
          </a:ln>
        </p:spPr>
      </p:sp>
      <p:sp>
        <p:nvSpPr>
          <p:cNvPr id="11" name="Text 9"/>
          <p:cNvSpPr/>
          <p:nvPr/>
        </p:nvSpPr>
        <p:spPr>
          <a:xfrm>
            <a:off x="78638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FlightNumber</a:t>
            </a:r>
            <a:endParaRPr lang="en-US" sz="1140" dirty="0"/>
          </a:p>
        </p:txBody>
      </p:sp>
      <p:sp>
        <p:nvSpPr>
          <p:cNvPr id="12" name="Shape 10"/>
          <p:cNvSpPr/>
          <p:nvPr/>
        </p:nvSpPr>
        <p:spPr>
          <a:xfrm>
            <a:off x="3362706" y="2944368"/>
            <a:ext cx="2667762" cy="384048"/>
          </a:xfrm>
          <a:prstGeom prst="rect">
            <a:avLst/>
          </a:prstGeom>
          <a:solidFill>
            <a:srgbClr val="1953B6"/>
          </a:solidFill>
          <a:ln w="12700">
            <a:solidFill>
              <a:srgbClr val="1953B6">
                <a:alpha val="0"/>
              </a:srgbClr>
            </a:solidFill>
            <a:prstDash val="solid"/>
          </a:ln>
        </p:spPr>
      </p:sp>
      <p:sp>
        <p:nvSpPr>
          <p:cNvPr id="13" name="Text 11"/>
          <p:cNvSpPr/>
          <p:nvPr/>
        </p:nvSpPr>
        <p:spPr>
          <a:xfrm>
            <a:off x="347243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LaunchSite</a:t>
            </a:r>
            <a:endParaRPr lang="en-US" sz="1140" dirty="0"/>
          </a:p>
        </p:txBody>
      </p:sp>
      <p:sp>
        <p:nvSpPr>
          <p:cNvPr id="14" name="Shape 12"/>
          <p:cNvSpPr/>
          <p:nvPr/>
        </p:nvSpPr>
        <p:spPr>
          <a:xfrm>
            <a:off x="6048756" y="2944368"/>
            <a:ext cx="2667762" cy="384048"/>
          </a:xfrm>
          <a:prstGeom prst="rect">
            <a:avLst/>
          </a:prstGeom>
          <a:solidFill>
            <a:srgbClr val="1953B6"/>
          </a:solidFill>
          <a:ln w="12700">
            <a:solidFill>
              <a:srgbClr val="1953B6">
                <a:alpha val="0"/>
              </a:srgbClr>
            </a:solidFill>
            <a:prstDash val="solid"/>
          </a:ln>
        </p:spPr>
      </p:sp>
      <p:sp>
        <p:nvSpPr>
          <p:cNvPr id="15" name="Text 13"/>
          <p:cNvSpPr/>
          <p:nvPr/>
        </p:nvSpPr>
        <p:spPr>
          <a:xfrm>
            <a:off x="615848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PayloadMass</a:t>
            </a:r>
            <a:endParaRPr lang="en-US" sz="1140" dirty="0"/>
          </a:p>
        </p:txBody>
      </p:sp>
      <p:sp>
        <p:nvSpPr>
          <p:cNvPr id="16" name="Shape 14"/>
          <p:cNvSpPr/>
          <p:nvPr/>
        </p:nvSpPr>
        <p:spPr>
          <a:xfrm>
            <a:off x="8734806" y="2944368"/>
            <a:ext cx="2667762" cy="384048"/>
          </a:xfrm>
          <a:prstGeom prst="rect">
            <a:avLst/>
          </a:prstGeom>
          <a:solidFill>
            <a:srgbClr val="1953B6"/>
          </a:solidFill>
          <a:ln w="12700">
            <a:solidFill>
              <a:srgbClr val="1953B6">
                <a:alpha val="0"/>
              </a:srgbClr>
            </a:solidFill>
            <a:prstDash val="solid"/>
          </a:ln>
        </p:spPr>
      </p:sp>
      <p:sp>
        <p:nvSpPr>
          <p:cNvPr id="17" name="Text 15"/>
          <p:cNvSpPr/>
          <p:nvPr/>
        </p:nvSpPr>
        <p:spPr>
          <a:xfrm>
            <a:off x="884453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Class</a:t>
            </a:r>
            <a:endParaRPr lang="en-US" sz="1140" dirty="0"/>
          </a:p>
        </p:txBody>
      </p:sp>
      <p:sp>
        <p:nvSpPr>
          <p:cNvPr id="18" name="Shape 16"/>
          <p:cNvSpPr/>
          <p:nvPr/>
        </p:nvSpPr>
        <p:spPr>
          <a:xfrm>
            <a:off x="676656" y="3346704"/>
            <a:ext cx="2667762" cy="338328"/>
          </a:xfrm>
          <a:prstGeom prst="rect">
            <a:avLst/>
          </a:prstGeom>
          <a:solidFill>
            <a:srgbClr val="F4F8FD"/>
          </a:solidFill>
          <a:ln w="12700">
            <a:solidFill>
              <a:srgbClr val="F4F8FD">
                <a:alpha val="0"/>
              </a:srgbClr>
            </a:solidFill>
            <a:prstDash val="solid"/>
          </a:ln>
        </p:spPr>
      </p:sp>
      <p:sp>
        <p:nvSpPr>
          <p:cNvPr id="19" name="Text 17"/>
          <p:cNvSpPr/>
          <p:nvPr/>
        </p:nvSpPr>
        <p:spPr>
          <a:xfrm>
            <a:off x="78638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29</a:t>
            </a:r>
            <a:endParaRPr lang="en-US" sz="1030" dirty="0"/>
          </a:p>
        </p:txBody>
      </p:sp>
      <p:sp>
        <p:nvSpPr>
          <p:cNvPr id="20" name="Shape 18"/>
          <p:cNvSpPr/>
          <p:nvPr/>
        </p:nvSpPr>
        <p:spPr>
          <a:xfrm>
            <a:off x="3362706" y="3346704"/>
            <a:ext cx="2667762" cy="338328"/>
          </a:xfrm>
          <a:prstGeom prst="rect">
            <a:avLst/>
          </a:prstGeom>
          <a:solidFill>
            <a:srgbClr val="F4F8FD"/>
          </a:solidFill>
          <a:ln w="12700">
            <a:solidFill>
              <a:srgbClr val="F4F8FD">
                <a:alpha val="0"/>
              </a:srgbClr>
            </a:solidFill>
            <a:prstDash val="solid"/>
          </a:ln>
        </p:spPr>
      </p:sp>
      <p:sp>
        <p:nvSpPr>
          <p:cNvPr id="21" name="Text 19"/>
          <p:cNvSpPr/>
          <p:nvPr/>
        </p:nvSpPr>
        <p:spPr>
          <a:xfrm>
            <a:off x="347243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22" name="Shape 20"/>
          <p:cNvSpPr/>
          <p:nvPr/>
        </p:nvSpPr>
        <p:spPr>
          <a:xfrm>
            <a:off x="6048756" y="3346704"/>
            <a:ext cx="2667762" cy="338328"/>
          </a:xfrm>
          <a:prstGeom prst="rect">
            <a:avLst/>
          </a:prstGeom>
          <a:solidFill>
            <a:srgbClr val="F4F8FD"/>
          </a:solidFill>
          <a:ln w="12700">
            <a:solidFill>
              <a:srgbClr val="F4F8FD">
                <a:alpha val="0"/>
              </a:srgbClr>
            </a:solidFill>
            <a:prstDash val="solid"/>
          </a:ln>
        </p:spPr>
      </p:sp>
      <p:sp>
        <p:nvSpPr>
          <p:cNvPr id="23" name="Text 21"/>
          <p:cNvSpPr/>
          <p:nvPr/>
        </p:nvSpPr>
        <p:spPr>
          <a:xfrm>
            <a:off x="615848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24" name="Shape 22"/>
          <p:cNvSpPr/>
          <p:nvPr/>
        </p:nvSpPr>
        <p:spPr>
          <a:xfrm>
            <a:off x="8734806" y="3346704"/>
            <a:ext cx="2667762" cy="338328"/>
          </a:xfrm>
          <a:prstGeom prst="rect">
            <a:avLst/>
          </a:prstGeom>
          <a:solidFill>
            <a:srgbClr val="F4F8FD"/>
          </a:solidFill>
          <a:ln w="12700">
            <a:solidFill>
              <a:srgbClr val="F4F8FD">
                <a:alpha val="0"/>
              </a:srgbClr>
            </a:solidFill>
            <a:prstDash val="solid"/>
          </a:ln>
        </p:spPr>
      </p:sp>
      <p:sp>
        <p:nvSpPr>
          <p:cNvPr id="25" name="Text 23"/>
          <p:cNvSpPr/>
          <p:nvPr/>
        </p:nvSpPr>
        <p:spPr>
          <a:xfrm>
            <a:off x="884453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a:t>
            </a:r>
            <a:endParaRPr lang="en-US" sz="1030" dirty="0"/>
          </a:p>
        </p:txBody>
      </p:sp>
      <p:sp>
        <p:nvSpPr>
          <p:cNvPr id="26" name="Shape 24"/>
          <p:cNvSpPr/>
          <p:nvPr/>
        </p:nvSpPr>
        <p:spPr>
          <a:xfrm>
            <a:off x="676656" y="3703320"/>
            <a:ext cx="2667762" cy="338328"/>
          </a:xfrm>
          <a:prstGeom prst="rect">
            <a:avLst/>
          </a:prstGeom>
          <a:solidFill>
            <a:srgbClr val="EAF2FB"/>
          </a:solidFill>
          <a:ln w="12700">
            <a:solidFill>
              <a:srgbClr val="EAF2FB">
                <a:alpha val="0"/>
              </a:srgbClr>
            </a:solidFill>
            <a:prstDash val="solid"/>
          </a:ln>
        </p:spPr>
      </p:sp>
      <p:sp>
        <p:nvSpPr>
          <p:cNvPr id="27" name="Text 25"/>
          <p:cNvSpPr/>
          <p:nvPr/>
        </p:nvSpPr>
        <p:spPr>
          <a:xfrm>
            <a:off x="78638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37</a:t>
            </a:r>
            <a:endParaRPr lang="en-US" sz="1030" dirty="0"/>
          </a:p>
        </p:txBody>
      </p:sp>
      <p:sp>
        <p:nvSpPr>
          <p:cNvPr id="28" name="Shape 26"/>
          <p:cNvSpPr/>
          <p:nvPr/>
        </p:nvSpPr>
        <p:spPr>
          <a:xfrm>
            <a:off x="3362706" y="3703320"/>
            <a:ext cx="2667762" cy="338328"/>
          </a:xfrm>
          <a:prstGeom prst="rect">
            <a:avLst/>
          </a:prstGeom>
          <a:solidFill>
            <a:srgbClr val="EAF2FB"/>
          </a:solidFill>
          <a:ln w="12700">
            <a:solidFill>
              <a:srgbClr val="EAF2FB">
                <a:alpha val="0"/>
              </a:srgbClr>
            </a:solidFill>
            <a:prstDash val="solid"/>
          </a:ln>
        </p:spPr>
      </p:sp>
      <p:sp>
        <p:nvSpPr>
          <p:cNvPr id="29" name="Text 27"/>
          <p:cNvSpPr/>
          <p:nvPr/>
        </p:nvSpPr>
        <p:spPr>
          <a:xfrm>
            <a:off x="347243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30" name="Shape 28"/>
          <p:cNvSpPr/>
          <p:nvPr/>
        </p:nvSpPr>
        <p:spPr>
          <a:xfrm>
            <a:off x="6048756" y="3703320"/>
            <a:ext cx="2667762" cy="338328"/>
          </a:xfrm>
          <a:prstGeom prst="rect">
            <a:avLst/>
          </a:prstGeom>
          <a:solidFill>
            <a:srgbClr val="EAF2FB"/>
          </a:solidFill>
          <a:ln w="12700">
            <a:solidFill>
              <a:srgbClr val="EAF2FB">
                <a:alpha val="0"/>
              </a:srgbClr>
            </a:solidFill>
            <a:prstDash val="solid"/>
          </a:ln>
        </p:spPr>
      </p:sp>
      <p:sp>
        <p:nvSpPr>
          <p:cNvPr id="31" name="Text 29"/>
          <p:cNvSpPr/>
          <p:nvPr/>
        </p:nvSpPr>
        <p:spPr>
          <a:xfrm>
            <a:off x="615848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32" name="Shape 30"/>
          <p:cNvSpPr/>
          <p:nvPr/>
        </p:nvSpPr>
        <p:spPr>
          <a:xfrm>
            <a:off x="8734806" y="3703320"/>
            <a:ext cx="2667762" cy="338328"/>
          </a:xfrm>
          <a:prstGeom prst="rect">
            <a:avLst/>
          </a:prstGeom>
          <a:solidFill>
            <a:srgbClr val="EAF2FB"/>
          </a:solidFill>
          <a:ln w="12700">
            <a:solidFill>
              <a:srgbClr val="EAF2FB">
                <a:alpha val="0"/>
              </a:srgbClr>
            </a:solidFill>
            <a:prstDash val="solid"/>
          </a:ln>
        </p:spPr>
      </p:sp>
      <p:sp>
        <p:nvSpPr>
          <p:cNvPr id="33" name="Text 31"/>
          <p:cNvSpPr/>
          <p:nvPr/>
        </p:nvSpPr>
        <p:spPr>
          <a:xfrm>
            <a:off x="884453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a:t>
            </a:r>
            <a:endParaRPr lang="en-US" sz="1030" dirty="0"/>
          </a:p>
        </p:txBody>
      </p:sp>
      <p:sp>
        <p:nvSpPr>
          <p:cNvPr id="34" name="Shape 32"/>
          <p:cNvSpPr/>
          <p:nvPr/>
        </p:nvSpPr>
        <p:spPr>
          <a:xfrm>
            <a:off x="676656" y="4059936"/>
            <a:ext cx="2667762" cy="338328"/>
          </a:xfrm>
          <a:prstGeom prst="rect">
            <a:avLst/>
          </a:prstGeom>
          <a:solidFill>
            <a:srgbClr val="F4F8FD"/>
          </a:solidFill>
          <a:ln w="12700">
            <a:solidFill>
              <a:srgbClr val="F4F8FD">
                <a:alpha val="0"/>
              </a:srgbClr>
            </a:solidFill>
            <a:prstDash val="solid"/>
          </a:ln>
        </p:spPr>
      </p:sp>
      <p:sp>
        <p:nvSpPr>
          <p:cNvPr id="35" name="Text 33"/>
          <p:cNvSpPr/>
          <p:nvPr/>
        </p:nvSpPr>
        <p:spPr>
          <a:xfrm>
            <a:off x="78638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42</a:t>
            </a:r>
            <a:endParaRPr lang="en-US" sz="1030" dirty="0"/>
          </a:p>
        </p:txBody>
      </p:sp>
      <p:sp>
        <p:nvSpPr>
          <p:cNvPr id="36" name="Shape 34"/>
          <p:cNvSpPr/>
          <p:nvPr/>
        </p:nvSpPr>
        <p:spPr>
          <a:xfrm>
            <a:off x="3362706" y="4059936"/>
            <a:ext cx="2667762" cy="338328"/>
          </a:xfrm>
          <a:prstGeom prst="rect">
            <a:avLst/>
          </a:prstGeom>
          <a:solidFill>
            <a:srgbClr val="F4F8FD"/>
          </a:solidFill>
          <a:ln w="12700">
            <a:solidFill>
              <a:srgbClr val="F4F8FD">
                <a:alpha val="0"/>
              </a:srgbClr>
            </a:solidFill>
            <a:prstDash val="solid"/>
          </a:ln>
        </p:spPr>
      </p:sp>
      <p:sp>
        <p:nvSpPr>
          <p:cNvPr id="37" name="Text 35"/>
          <p:cNvSpPr/>
          <p:nvPr/>
        </p:nvSpPr>
        <p:spPr>
          <a:xfrm>
            <a:off x="347243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38" name="Shape 36"/>
          <p:cNvSpPr/>
          <p:nvPr/>
        </p:nvSpPr>
        <p:spPr>
          <a:xfrm>
            <a:off x="6048756" y="4059936"/>
            <a:ext cx="2667762" cy="338328"/>
          </a:xfrm>
          <a:prstGeom prst="rect">
            <a:avLst/>
          </a:prstGeom>
          <a:solidFill>
            <a:srgbClr val="F4F8FD"/>
          </a:solidFill>
          <a:ln w="12700">
            <a:solidFill>
              <a:srgbClr val="F4F8FD">
                <a:alpha val="0"/>
              </a:srgbClr>
            </a:solidFill>
            <a:prstDash val="solid"/>
          </a:ln>
        </p:spPr>
      </p:sp>
      <p:sp>
        <p:nvSpPr>
          <p:cNvPr id="39" name="Text 37"/>
          <p:cNvSpPr/>
          <p:nvPr/>
        </p:nvSpPr>
        <p:spPr>
          <a:xfrm>
            <a:off x="615848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40" name="Shape 38"/>
          <p:cNvSpPr/>
          <p:nvPr/>
        </p:nvSpPr>
        <p:spPr>
          <a:xfrm>
            <a:off x="8734806" y="4059936"/>
            <a:ext cx="2667762" cy="338328"/>
          </a:xfrm>
          <a:prstGeom prst="rect">
            <a:avLst/>
          </a:prstGeom>
          <a:solidFill>
            <a:srgbClr val="F4F8FD"/>
          </a:solidFill>
          <a:ln w="12700">
            <a:solidFill>
              <a:srgbClr val="F4F8FD">
                <a:alpha val="0"/>
              </a:srgbClr>
            </a:solidFill>
            <a:prstDash val="solid"/>
          </a:ln>
        </p:spPr>
      </p:sp>
      <p:sp>
        <p:nvSpPr>
          <p:cNvPr id="41" name="Text 39"/>
          <p:cNvSpPr/>
          <p:nvPr/>
        </p:nvSpPr>
        <p:spPr>
          <a:xfrm>
            <a:off x="884453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a:t>
            </a:r>
            <a:endParaRPr lang="en-US" sz="1030" dirty="0"/>
          </a:p>
        </p:txBody>
      </p:sp>
      <p:sp>
        <p:nvSpPr>
          <p:cNvPr id="42" name="Shape 40"/>
          <p:cNvSpPr/>
          <p:nvPr/>
        </p:nvSpPr>
        <p:spPr>
          <a:xfrm>
            <a:off x="676656" y="4416552"/>
            <a:ext cx="2667762" cy="338328"/>
          </a:xfrm>
          <a:prstGeom prst="rect">
            <a:avLst/>
          </a:prstGeom>
          <a:solidFill>
            <a:srgbClr val="EAF2FB"/>
          </a:solidFill>
          <a:ln w="12700">
            <a:solidFill>
              <a:srgbClr val="EAF2FB">
                <a:alpha val="0"/>
              </a:srgbClr>
            </a:solidFill>
            <a:prstDash val="solid"/>
          </a:ln>
        </p:spPr>
      </p:sp>
      <p:sp>
        <p:nvSpPr>
          <p:cNvPr id="43" name="Text 41"/>
          <p:cNvSpPr/>
          <p:nvPr/>
        </p:nvSpPr>
        <p:spPr>
          <a:xfrm>
            <a:off x="78638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46</a:t>
            </a:r>
            <a:endParaRPr lang="en-US" sz="1030" dirty="0"/>
          </a:p>
        </p:txBody>
      </p:sp>
      <p:sp>
        <p:nvSpPr>
          <p:cNvPr id="44" name="Shape 42"/>
          <p:cNvSpPr/>
          <p:nvPr/>
        </p:nvSpPr>
        <p:spPr>
          <a:xfrm>
            <a:off x="3362706" y="4416552"/>
            <a:ext cx="2667762" cy="338328"/>
          </a:xfrm>
          <a:prstGeom prst="rect">
            <a:avLst/>
          </a:prstGeom>
          <a:solidFill>
            <a:srgbClr val="EAF2FB"/>
          </a:solidFill>
          <a:ln w="12700">
            <a:solidFill>
              <a:srgbClr val="EAF2FB">
                <a:alpha val="0"/>
              </a:srgbClr>
            </a:solidFill>
            <a:prstDash val="solid"/>
          </a:ln>
        </p:spPr>
      </p:sp>
      <p:sp>
        <p:nvSpPr>
          <p:cNvPr id="45" name="Text 43"/>
          <p:cNvSpPr/>
          <p:nvPr/>
        </p:nvSpPr>
        <p:spPr>
          <a:xfrm>
            <a:off x="347243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46" name="Shape 44"/>
          <p:cNvSpPr/>
          <p:nvPr/>
        </p:nvSpPr>
        <p:spPr>
          <a:xfrm>
            <a:off x="6048756" y="4416552"/>
            <a:ext cx="2667762" cy="338328"/>
          </a:xfrm>
          <a:prstGeom prst="rect">
            <a:avLst/>
          </a:prstGeom>
          <a:solidFill>
            <a:srgbClr val="EAF2FB"/>
          </a:solidFill>
          <a:ln w="12700">
            <a:solidFill>
              <a:srgbClr val="EAF2FB">
                <a:alpha val="0"/>
              </a:srgbClr>
            </a:solidFill>
            <a:prstDash val="solid"/>
          </a:ln>
        </p:spPr>
      </p:sp>
      <p:sp>
        <p:nvSpPr>
          <p:cNvPr id="47" name="Text 45"/>
          <p:cNvSpPr/>
          <p:nvPr/>
        </p:nvSpPr>
        <p:spPr>
          <a:xfrm>
            <a:off x="615848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48" name="Shape 46"/>
          <p:cNvSpPr/>
          <p:nvPr/>
        </p:nvSpPr>
        <p:spPr>
          <a:xfrm>
            <a:off x="8734806" y="4416552"/>
            <a:ext cx="2667762" cy="338328"/>
          </a:xfrm>
          <a:prstGeom prst="rect">
            <a:avLst/>
          </a:prstGeom>
          <a:solidFill>
            <a:srgbClr val="EAF2FB"/>
          </a:solidFill>
          <a:ln w="12700">
            <a:solidFill>
              <a:srgbClr val="EAF2FB">
                <a:alpha val="0"/>
              </a:srgbClr>
            </a:solidFill>
            <a:prstDash val="solid"/>
          </a:ln>
        </p:spPr>
      </p:sp>
      <p:sp>
        <p:nvSpPr>
          <p:cNvPr id="49" name="Text 47"/>
          <p:cNvSpPr/>
          <p:nvPr/>
        </p:nvSpPr>
        <p:spPr>
          <a:xfrm>
            <a:off x="884453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a:t>
            </a:r>
            <a:endParaRPr lang="en-US" sz="1030" dirty="0"/>
          </a:p>
        </p:txBody>
      </p:sp>
      <p:sp>
        <p:nvSpPr>
          <p:cNvPr id="50" name="Shape 48"/>
          <p:cNvSpPr/>
          <p:nvPr/>
        </p:nvSpPr>
        <p:spPr>
          <a:xfrm>
            <a:off x="676656" y="4773168"/>
            <a:ext cx="2667762" cy="338328"/>
          </a:xfrm>
          <a:prstGeom prst="rect">
            <a:avLst/>
          </a:prstGeom>
          <a:solidFill>
            <a:srgbClr val="F4F8FD"/>
          </a:solidFill>
          <a:ln w="12700">
            <a:solidFill>
              <a:srgbClr val="F4F8FD">
                <a:alpha val="0"/>
              </a:srgbClr>
            </a:solidFill>
            <a:prstDash val="solid"/>
          </a:ln>
        </p:spPr>
      </p:sp>
      <p:sp>
        <p:nvSpPr>
          <p:cNvPr id="51" name="Text 49"/>
          <p:cNvSpPr/>
          <p:nvPr/>
        </p:nvSpPr>
        <p:spPr>
          <a:xfrm>
            <a:off x="78638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51</a:t>
            </a:r>
            <a:endParaRPr lang="en-US" sz="1030" dirty="0"/>
          </a:p>
        </p:txBody>
      </p:sp>
      <p:sp>
        <p:nvSpPr>
          <p:cNvPr id="52" name="Shape 50"/>
          <p:cNvSpPr/>
          <p:nvPr/>
        </p:nvSpPr>
        <p:spPr>
          <a:xfrm>
            <a:off x="3362706" y="4773168"/>
            <a:ext cx="2667762" cy="338328"/>
          </a:xfrm>
          <a:prstGeom prst="rect">
            <a:avLst/>
          </a:prstGeom>
          <a:solidFill>
            <a:srgbClr val="F4F8FD"/>
          </a:solidFill>
          <a:ln w="12700">
            <a:solidFill>
              <a:srgbClr val="F4F8FD">
                <a:alpha val="0"/>
              </a:srgbClr>
            </a:solidFill>
            <a:prstDash val="solid"/>
          </a:ln>
        </p:spPr>
      </p:sp>
      <p:sp>
        <p:nvSpPr>
          <p:cNvPr id="53" name="Text 51"/>
          <p:cNvSpPr/>
          <p:nvPr/>
        </p:nvSpPr>
        <p:spPr>
          <a:xfrm>
            <a:off x="347243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54" name="Shape 52"/>
          <p:cNvSpPr/>
          <p:nvPr/>
        </p:nvSpPr>
        <p:spPr>
          <a:xfrm>
            <a:off x="6048756" y="4773168"/>
            <a:ext cx="2667762" cy="338328"/>
          </a:xfrm>
          <a:prstGeom prst="rect">
            <a:avLst/>
          </a:prstGeom>
          <a:solidFill>
            <a:srgbClr val="F4F8FD"/>
          </a:solidFill>
          <a:ln w="12700">
            <a:solidFill>
              <a:srgbClr val="F4F8FD">
                <a:alpha val="0"/>
              </a:srgbClr>
            </a:solidFill>
            <a:prstDash val="solid"/>
          </a:ln>
        </p:spPr>
      </p:sp>
      <p:sp>
        <p:nvSpPr>
          <p:cNvPr id="55" name="Text 53"/>
          <p:cNvSpPr/>
          <p:nvPr/>
        </p:nvSpPr>
        <p:spPr>
          <a:xfrm>
            <a:off x="615848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56" name="Shape 54"/>
          <p:cNvSpPr/>
          <p:nvPr/>
        </p:nvSpPr>
        <p:spPr>
          <a:xfrm>
            <a:off x="8734806" y="4773168"/>
            <a:ext cx="2667762" cy="338328"/>
          </a:xfrm>
          <a:prstGeom prst="rect">
            <a:avLst/>
          </a:prstGeom>
          <a:solidFill>
            <a:srgbClr val="F4F8FD"/>
          </a:solidFill>
          <a:ln w="12700">
            <a:solidFill>
              <a:srgbClr val="F4F8FD">
                <a:alpha val="0"/>
              </a:srgbClr>
            </a:solidFill>
            <a:prstDash val="solid"/>
          </a:ln>
        </p:spPr>
      </p:sp>
      <p:sp>
        <p:nvSpPr>
          <p:cNvPr id="57" name="Text 55"/>
          <p:cNvSpPr/>
          <p:nvPr/>
        </p:nvSpPr>
        <p:spPr>
          <a:xfrm>
            <a:off x="884453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a:t>
            </a:r>
            <a:endParaRPr lang="en-US" sz="1030" dirty="0"/>
          </a:p>
        </p:txBody>
      </p:sp>
      <p:sp>
        <p:nvSpPr>
          <p:cNvPr id="58" name="Shape 56"/>
          <p:cNvSpPr/>
          <p:nvPr/>
        </p:nvSpPr>
        <p:spPr>
          <a:xfrm>
            <a:off x="676656" y="5449824"/>
            <a:ext cx="10744200" cy="914400"/>
          </a:xfrm>
          <a:prstGeom prst="rect">
            <a:avLst/>
          </a:prstGeom>
          <a:solidFill>
            <a:srgbClr val="F3F8FE"/>
          </a:solidFill>
          <a:ln w="12700">
            <a:solidFill>
              <a:srgbClr val="F3F8FE">
                <a:alpha val="0"/>
              </a:srgbClr>
            </a:solidFill>
            <a:prstDash val="solid"/>
          </a:ln>
        </p:spPr>
      </p:sp>
      <p:sp>
        <p:nvSpPr>
          <p:cNvPr id="59" name="Shape 57"/>
          <p:cNvSpPr/>
          <p:nvPr/>
        </p:nvSpPr>
        <p:spPr>
          <a:xfrm>
            <a:off x="676656" y="5449824"/>
            <a:ext cx="50292" cy="914400"/>
          </a:xfrm>
          <a:prstGeom prst="rect">
            <a:avLst/>
          </a:prstGeom>
          <a:solidFill>
            <a:srgbClr val="1AA6B7"/>
          </a:solidFill>
          <a:ln w="12700">
            <a:solidFill>
              <a:srgbClr val="1AA6B7">
                <a:alpha val="0"/>
              </a:srgbClr>
            </a:solidFill>
            <a:prstDash val="solid"/>
          </a:ln>
        </p:spPr>
      </p:sp>
      <p:sp>
        <p:nvSpPr>
          <p:cNvPr id="60" name="Text 58"/>
          <p:cNvSpPr/>
          <p:nvPr/>
        </p:nvSpPr>
        <p:spPr>
          <a:xfrm>
            <a:off x="877824" y="55778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INTERPRETATION</a:t>
            </a:r>
            <a:endParaRPr lang="en-US" sz="1500" dirty="0"/>
          </a:p>
        </p:txBody>
      </p:sp>
      <p:sp>
        <p:nvSpPr>
          <p:cNvPr id="61" name="Text 59"/>
          <p:cNvSpPr/>
          <p:nvPr/>
        </p:nvSpPr>
        <p:spPr>
          <a:xfrm>
            <a:off x="877824" y="5888736"/>
            <a:ext cx="10351008" cy="4114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This ranking inspects unusually heavy payload records and whether their recovery label was favorable.</a:t>
            </a:r>
            <a:endParaRPr lang="en-US" sz="13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EDA WITH SQL • ACTUAL QUERY OUTPUT</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06 | Cape Canaveral example rows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24</a:t>
            </a:r>
            <a:endParaRPr lang="en-US" sz="900" dirty="0"/>
          </a:p>
        </p:txBody>
      </p:sp>
      <p:sp>
        <p:nvSpPr>
          <p:cNvPr id="8" name="Shape 6"/>
          <p:cNvSpPr/>
          <p:nvPr/>
        </p:nvSpPr>
        <p:spPr>
          <a:xfrm>
            <a:off x="667512" y="1600200"/>
            <a:ext cx="10698480" cy="1152144"/>
          </a:xfrm>
          <a:prstGeom prst="rect">
            <a:avLst/>
          </a:prstGeom>
          <a:solidFill>
            <a:srgbClr val="12243C"/>
          </a:solidFill>
          <a:ln w="12700">
            <a:solidFill>
              <a:srgbClr val="12243C">
                <a:alpha val="0"/>
              </a:srgbClr>
            </a:solidFill>
            <a:prstDash val="solid"/>
          </a:ln>
        </p:spPr>
      </p:sp>
      <p:sp>
        <p:nvSpPr>
          <p:cNvPr id="9" name="Text 7"/>
          <p:cNvSpPr/>
          <p:nvPr/>
        </p:nvSpPr>
        <p:spPr>
          <a:xfrm>
            <a:off x="850392" y="1755648"/>
            <a:ext cx="10332720" cy="859536"/>
          </a:xfrm>
          <a:prstGeom prst="rect">
            <a:avLst/>
          </a:prstGeom>
          <a:noFill/>
          <a:ln/>
        </p:spPr>
        <p:txBody>
          <a:bodyPr wrap="square" lIns="0" tIns="0" rIns="0" bIns="0" rtlCol="0" anchor="t">
            <a:normAutofit/>
          </a:bodyPr>
          <a:lstStyle/>
          <a:p>
            <a:pPr indent="0" marL="0">
              <a:buNone/>
            </a:pPr>
            <a:r>
              <a:rPr lang="en-US" sz="1210" dirty="0">
                <a:solidFill>
                  <a:srgbClr val="FFFFFF"/>
                </a:solidFill>
                <a:latin typeface="Consolas" pitchFamily="34" charset="0"/>
                <a:ea typeface="Consolas" pitchFamily="34" charset="-122"/>
                <a:cs typeface="Consolas" pitchFamily="34" charset="-120"/>
              </a:rPr>
              <a:t>SELECT FlightNumber, LaunchSite, Class FROM SPACEXTBL WHERE LaunchSite LIKE 'CCA%' ORDER BY FlightNumber LIMIT 5</a:t>
            </a:r>
            <a:endParaRPr lang="en-US" sz="1210" dirty="0"/>
          </a:p>
        </p:txBody>
      </p:sp>
      <p:sp>
        <p:nvSpPr>
          <p:cNvPr id="10" name="Shape 8"/>
          <p:cNvSpPr/>
          <p:nvPr/>
        </p:nvSpPr>
        <p:spPr>
          <a:xfrm>
            <a:off x="676656" y="2944368"/>
            <a:ext cx="3563112" cy="384048"/>
          </a:xfrm>
          <a:prstGeom prst="rect">
            <a:avLst/>
          </a:prstGeom>
          <a:solidFill>
            <a:srgbClr val="1953B6"/>
          </a:solidFill>
          <a:ln w="12700">
            <a:solidFill>
              <a:srgbClr val="1953B6">
                <a:alpha val="0"/>
              </a:srgbClr>
            </a:solidFill>
            <a:prstDash val="solid"/>
          </a:ln>
        </p:spPr>
      </p:sp>
      <p:sp>
        <p:nvSpPr>
          <p:cNvPr id="11" name="Text 9"/>
          <p:cNvSpPr/>
          <p:nvPr/>
        </p:nvSpPr>
        <p:spPr>
          <a:xfrm>
            <a:off x="786384" y="2990088"/>
            <a:ext cx="33985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FlightNumber</a:t>
            </a:r>
            <a:endParaRPr lang="en-US" sz="1140" dirty="0"/>
          </a:p>
        </p:txBody>
      </p:sp>
      <p:sp>
        <p:nvSpPr>
          <p:cNvPr id="12" name="Shape 10"/>
          <p:cNvSpPr/>
          <p:nvPr/>
        </p:nvSpPr>
        <p:spPr>
          <a:xfrm>
            <a:off x="4258056" y="2944368"/>
            <a:ext cx="3563112" cy="384048"/>
          </a:xfrm>
          <a:prstGeom prst="rect">
            <a:avLst/>
          </a:prstGeom>
          <a:solidFill>
            <a:srgbClr val="1953B6"/>
          </a:solidFill>
          <a:ln w="12700">
            <a:solidFill>
              <a:srgbClr val="1953B6">
                <a:alpha val="0"/>
              </a:srgbClr>
            </a:solidFill>
            <a:prstDash val="solid"/>
          </a:ln>
        </p:spPr>
      </p:sp>
      <p:sp>
        <p:nvSpPr>
          <p:cNvPr id="13" name="Text 11"/>
          <p:cNvSpPr/>
          <p:nvPr/>
        </p:nvSpPr>
        <p:spPr>
          <a:xfrm>
            <a:off x="4367784" y="2990088"/>
            <a:ext cx="33985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LaunchSite</a:t>
            </a:r>
            <a:endParaRPr lang="en-US" sz="1140" dirty="0"/>
          </a:p>
        </p:txBody>
      </p:sp>
      <p:sp>
        <p:nvSpPr>
          <p:cNvPr id="14" name="Shape 12"/>
          <p:cNvSpPr/>
          <p:nvPr/>
        </p:nvSpPr>
        <p:spPr>
          <a:xfrm>
            <a:off x="7839456" y="2944368"/>
            <a:ext cx="3563112" cy="384048"/>
          </a:xfrm>
          <a:prstGeom prst="rect">
            <a:avLst/>
          </a:prstGeom>
          <a:solidFill>
            <a:srgbClr val="1953B6"/>
          </a:solidFill>
          <a:ln w="12700">
            <a:solidFill>
              <a:srgbClr val="1953B6">
                <a:alpha val="0"/>
              </a:srgbClr>
            </a:solidFill>
            <a:prstDash val="solid"/>
          </a:ln>
        </p:spPr>
      </p:sp>
      <p:sp>
        <p:nvSpPr>
          <p:cNvPr id="15" name="Text 13"/>
          <p:cNvSpPr/>
          <p:nvPr/>
        </p:nvSpPr>
        <p:spPr>
          <a:xfrm>
            <a:off x="7949184" y="2990088"/>
            <a:ext cx="33985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Class</a:t>
            </a:r>
            <a:endParaRPr lang="en-US" sz="1140" dirty="0"/>
          </a:p>
        </p:txBody>
      </p:sp>
      <p:sp>
        <p:nvSpPr>
          <p:cNvPr id="16" name="Shape 14"/>
          <p:cNvSpPr/>
          <p:nvPr/>
        </p:nvSpPr>
        <p:spPr>
          <a:xfrm>
            <a:off x="676656" y="3346704"/>
            <a:ext cx="3563112" cy="338328"/>
          </a:xfrm>
          <a:prstGeom prst="rect">
            <a:avLst/>
          </a:prstGeom>
          <a:solidFill>
            <a:srgbClr val="F4F8FD"/>
          </a:solidFill>
          <a:ln w="12700">
            <a:solidFill>
              <a:srgbClr val="F4F8FD">
                <a:alpha val="0"/>
              </a:srgbClr>
            </a:solidFill>
            <a:prstDash val="solid"/>
          </a:ln>
        </p:spPr>
      </p:sp>
      <p:sp>
        <p:nvSpPr>
          <p:cNvPr id="17" name="Text 15"/>
          <p:cNvSpPr/>
          <p:nvPr/>
        </p:nvSpPr>
        <p:spPr>
          <a:xfrm>
            <a:off x="7863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a:t>
            </a:r>
            <a:endParaRPr lang="en-US" sz="1030" dirty="0"/>
          </a:p>
        </p:txBody>
      </p:sp>
      <p:sp>
        <p:nvSpPr>
          <p:cNvPr id="18" name="Shape 16"/>
          <p:cNvSpPr/>
          <p:nvPr/>
        </p:nvSpPr>
        <p:spPr>
          <a:xfrm>
            <a:off x="4258056" y="3346704"/>
            <a:ext cx="3563112" cy="338328"/>
          </a:xfrm>
          <a:prstGeom prst="rect">
            <a:avLst/>
          </a:prstGeom>
          <a:solidFill>
            <a:srgbClr val="F4F8FD"/>
          </a:solidFill>
          <a:ln w="12700">
            <a:solidFill>
              <a:srgbClr val="F4F8FD">
                <a:alpha val="0"/>
              </a:srgbClr>
            </a:solidFill>
            <a:prstDash val="solid"/>
          </a:ln>
        </p:spPr>
      </p:sp>
      <p:sp>
        <p:nvSpPr>
          <p:cNvPr id="19" name="Text 17"/>
          <p:cNvSpPr/>
          <p:nvPr/>
        </p:nvSpPr>
        <p:spPr>
          <a:xfrm>
            <a:off x="43677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LC-40</a:t>
            </a:r>
            <a:endParaRPr lang="en-US" sz="1030" dirty="0"/>
          </a:p>
        </p:txBody>
      </p:sp>
      <p:sp>
        <p:nvSpPr>
          <p:cNvPr id="20" name="Shape 18"/>
          <p:cNvSpPr/>
          <p:nvPr/>
        </p:nvSpPr>
        <p:spPr>
          <a:xfrm>
            <a:off x="7839456" y="3346704"/>
            <a:ext cx="3563112" cy="338328"/>
          </a:xfrm>
          <a:prstGeom prst="rect">
            <a:avLst/>
          </a:prstGeom>
          <a:solidFill>
            <a:srgbClr val="F4F8FD"/>
          </a:solidFill>
          <a:ln w="12700">
            <a:solidFill>
              <a:srgbClr val="F4F8FD">
                <a:alpha val="0"/>
              </a:srgbClr>
            </a:solidFill>
            <a:prstDash val="solid"/>
          </a:ln>
        </p:spPr>
      </p:sp>
      <p:sp>
        <p:nvSpPr>
          <p:cNvPr id="21" name="Text 19"/>
          <p:cNvSpPr/>
          <p:nvPr/>
        </p:nvSpPr>
        <p:spPr>
          <a:xfrm>
            <a:off x="79491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a:t>
            </a:r>
            <a:endParaRPr lang="en-US" sz="1030" dirty="0"/>
          </a:p>
        </p:txBody>
      </p:sp>
      <p:sp>
        <p:nvSpPr>
          <p:cNvPr id="22" name="Shape 20"/>
          <p:cNvSpPr/>
          <p:nvPr/>
        </p:nvSpPr>
        <p:spPr>
          <a:xfrm>
            <a:off x="676656" y="3703320"/>
            <a:ext cx="3563112" cy="338328"/>
          </a:xfrm>
          <a:prstGeom prst="rect">
            <a:avLst/>
          </a:prstGeom>
          <a:solidFill>
            <a:srgbClr val="EAF2FB"/>
          </a:solidFill>
          <a:ln w="12700">
            <a:solidFill>
              <a:srgbClr val="EAF2FB">
                <a:alpha val="0"/>
              </a:srgbClr>
            </a:solidFill>
            <a:prstDash val="solid"/>
          </a:ln>
        </p:spPr>
      </p:sp>
      <p:sp>
        <p:nvSpPr>
          <p:cNvPr id="23" name="Text 21"/>
          <p:cNvSpPr/>
          <p:nvPr/>
        </p:nvSpPr>
        <p:spPr>
          <a:xfrm>
            <a:off x="786384" y="3749040"/>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a:t>
            </a:r>
            <a:endParaRPr lang="en-US" sz="1030" dirty="0"/>
          </a:p>
        </p:txBody>
      </p:sp>
      <p:sp>
        <p:nvSpPr>
          <p:cNvPr id="24" name="Shape 22"/>
          <p:cNvSpPr/>
          <p:nvPr/>
        </p:nvSpPr>
        <p:spPr>
          <a:xfrm>
            <a:off x="4258056" y="3703320"/>
            <a:ext cx="3563112" cy="338328"/>
          </a:xfrm>
          <a:prstGeom prst="rect">
            <a:avLst/>
          </a:prstGeom>
          <a:solidFill>
            <a:srgbClr val="EAF2FB"/>
          </a:solidFill>
          <a:ln w="12700">
            <a:solidFill>
              <a:srgbClr val="EAF2FB">
                <a:alpha val="0"/>
              </a:srgbClr>
            </a:solidFill>
            <a:prstDash val="solid"/>
          </a:ln>
        </p:spPr>
      </p:sp>
      <p:sp>
        <p:nvSpPr>
          <p:cNvPr id="25" name="Text 23"/>
          <p:cNvSpPr/>
          <p:nvPr/>
        </p:nvSpPr>
        <p:spPr>
          <a:xfrm>
            <a:off x="4367784" y="3749040"/>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LC-40</a:t>
            </a:r>
            <a:endParaRPr lang="en-US" sz="1030" dirty="0"/>
          </a:p>
        </p:txBody>
      </p:sp>
      <p:sp>
        <p:nvSpPr>
          <p:cNvPr id="26" name="Shape 24"/>
          <p:cNvSpPr/>
          <p:nvPr/>
        </p:nvSpPr>
        <p:spPr>
          <a:xfrm>
            <a:off x="7839456" y="3703320"/>
            <a:ext cx="3563112" cy="338328"/>
          </a:xfrm>
          <a:prstGeom prst="rect">
            <a:avLst/>
          </a:prstGeom>
          <a:solidFill>
            <a:srgbClr val="EAF2FB"/>
          </a:solidFill>
          <a:ln w="12700">
            <a:solidFill>
              <a:srgbClr val="EAF2FB">
                <a:alpha val="0"/>
              </a:srgbClr>
            </a:solidFill>
            <a:prstDash val="solid"/>
          </a:ln>
        </p:spPr>
      </p:sp>
      <p:sp>
        <p:nvSpPr>
          <p:cNvPr id="27" name="Text 25"/>
          <p:cNvSpPr/>
          <p:nvPr/>
        </p:nvSpPr>
        <p:spPr>
          <a:xfrm>
            <a:off x="7949184" y="3749040"/>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a:t>
            </a:r>
            <a:endParaRPr lang="en-US" sz="1030" dirty="0"/>
          </a:p>
        </p:txBody>
      </p:sp>
      <p:sp>
        <p:nvSpPr>
          <p:cNvPr id="28" name="Shape 26"/>
          <p:cNvSpPr/>
          <p:nvPr/>
        </p:nvSpPr>
        <p:spPr>
          <a:xfrm>
            <a:off x="676656" y="4059936"/>
            <a:ext cx="3563112" cy="338328"/>
          </a:xfrm>
          <a:prstGeom prst="rect">
            <a:avLst/>
          </a:prstGeom>
          <a:solidFill>
            <a:srgbClr val="F4F8FD"/>
          </a:solidFill>
          <a:ln w="12700">
            <a:solidFill>
              <a:srgbClr val="F4F8FD">
                <a:alpha val="0"/>
              </a:srgbClr>
            </a:solidFill>
            <a:prstDash val="solid"/>
          </a:ln>
        </p:spPr>
      </p:sp>
      <p:sp>
        <p:nvSpPr>
          <p:cNvPr id="29" name="Text 27"/>
          <p:cNvSpPr/>
          <p:nvPr/>
        </p:nvSpPr>
        <p:spPr>
          <a:xfrm>
            <a:off x="786384" y="4105656"/>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3</a:t>
            </a:r>
            <a:endParaRPr lang="en-US" sz="1030" dirty="0"/>
          </a:p>
        </p:txBody>
      </p:sp>
      <p:sp>
        <p:nvSpPr>
          <p:cNvPr id="30" name="Shape 28"/>
          <p:cNvSpPr/>
          <p:nvPr/>
        </p:nvSpPr>
        <p:spPr>
          <a:xfrm>
            <a:off x="4258056" y="4059936"/>
            <a:ext cx="3563112" cy="338328"/>
          </a:xfrm>
          <a:prstGeom prst="rect">
            <a:avLst/>
          </a:prstGeom>
          <a:solidFill>
            <a:srgbClr val="F4F8FD"/>
          </a:solidFill>
          <a:ln w="12700">
            <a:solidFill>
              <a:srgbClr val="F4F8FD">
                <a:alpha val="0"/>
              </a:srgbClr>
            </a:solidFill>
            <a:prstDash val="solid"/>
          </a:ln>
        </p:spPr>
      </p:sp>
      <p:sp>
        <p:nvSpPr>
          <p:cNvPr id="31" name="Text 29"/>
          <p:cNvSpPr/>
          <p:nvPr/>
        </p:nvSpPr>
        <p:spPr>
          <a:xfrm>
            <a:off x="4367784" y="4105656"/>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LC-40</a:t>
            </a:r>
            <a:endParaRPr lang="en-US" sz="1030" dirty="0"/>
          </a:p>
        </p:txBody>
      </p:sp>
      <p:sp>
        <p:nvSpPr>
          <p:cNvPr id="32" name="Shape 30"/>
          <p:cNvSpPr/>
          <p:nvPr/>
        </p:nvSpPr>
        <p:spPr>
          <a:xfrm>
            <a:off x="7839456" y="4059936"/>
            <a:ext cx="3563112" cy="338328"/>
          </a:xfrm>
          <a:prstGeom prst="rect">
            <a:avLst/>
          </a:prstGeom>
          <a:solidFill>
            <a:srgbClr val="F4F8FD"/>
          </a:solidFill>
          <a:ln w="12700">
            <a:solidFill>
              <a:srgbClr val="F4F8FD">
                <a:alpha val="0"/>
              </a:srgbClr>
            </a:solidFill>
            <a:prstDash val="solid"/>
          </a:ln>
        </p:spPr>
      </p:sp>
      <p:sp>
        <p:nvSpPr>
          <p:cNvPr id="33" name="Text 31"/>
          <p:cNvSpPr/>
          <p:nvPr/>
        </p:nvSpPr>
        <p:spPr>
          <a:xfrm>
            <a:off x="7949184" y="4105656"/>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a:t>
            </a:r>
            <a:endParaRPr lang="en-US" sz="1030" dirty="0"/>
          </a:p>
        </p:txBody>
      </p:sp>
      <p:sp>
        <p:nvSpPr>
          <p:cNvPr id="34" name="Shape 32"/>
          <p:cNvSpPr/>
          <p:nvPr/>
        </p:nvSpPr>
        <p:spPr>
          <a:xfrm>
            <a:off x="676656" y="4416552"/>
            <a:ext cx="3563112" cy="338328"/>
          </a:xfrm>
          <a:prstGeom prst="rect">
            <a:avLst/>
          </a:prstGeom>
          <a:solidFill>
            <a:srgbClr val="EAF2FB"/>
          </a:solidFill>
          <a:ln w="12700">
            <a:solidFill>
              <a:srgbClr val="EAF2FB">
                <a:alpha val="0"/>
              </a:srgbClr>
            </a:solidFill>
            <a:prstDash val="solid"/>
          </a:ln>
        </p:spPr>
      </p:sp>
      <p:sp>
        <p:nvSpPr>
          <p:cNvPr id="35" name="Text 33"/>
          <p:cNvSpPr/>
          <p:nvPr/>
        </p:nvSpPr>
        <p:spPr>
          <a:xfrm>
            <a:off x="786384" y="4462272"/>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a:t>
            </a:r>
            <a:endParaRPr lang="en-US" sz="1030" dirty="0"/>
          </a:p>
        </p:txBody>
      </p:sp>
      <p:sp>
        <p:nvSpPr>
          <p:cNvPr id="36" name="Shape 34"/>
          <p:cNvSpPr/>
          <p:nvPr/>
        </p:nvSpPr>
        <p:spPr>
          <a:xfrm>
            <a:off x="4258056" y="4416552"/>
            <a:ext cx="3563112" cy="338328"/>
          </a:xfrm>
          <a:prstGeom prst="rect">
            <a:avLst/>
          </a:prstGeom>
          <a:solidFill>
            <a:srgbClr val="EAF2FB"/>
          </a:solidFill>
          <a:ln w="12700">
            <a:solidFill>
              <a:srgbClr val="EAF2FB">
                <a:alpha val="0"/>
              </a:srgbClr>
            </a:solidFill>
            <a:prstDash val="solid"/>
          </a:ln>
        </p:spPr>
      </p:sp>
      <p:sp>
        <p:nvSpPr>
          <p:cNvPr id="37" name="Text 35"/>
          <p:cNvSpPr/>
          <p:nvPr/>
        </p:nvSpPr>
        <p:spPr>
          <a:xfrm>
            <a:off x="4367784" y="4462272"/>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LC-40</a:t>
            </a:r>
            <a:endParaRPr lang="en-US" sz="1030" dirty="0"/>
          </a:p>
        </p:txBody>
      </p:sp>
      <p:sp>
        <p:nvSpPr>
          <p:cNvPr id="38" name="Shape 36"/>
          <p:cNvSpPr/>
          <p:nvPr/>
        </p:nvSpPr>
        <p:spPr>
          <a:xfrm>
            <a:off x="7839456" y="4416552"/>
            <a:ext cx="3563112" cy="338328"/>
          </a:xfrm>
          <a:prstGeom prst="rect">
            <a:avLst/>
          </a:prstGeom>
          <a:solidFill>
            <a:srgbClr val="EAF2FB"/>
          </a:solidFill>
          <a:ln w="12700">
            <a:solidFill>
              <a:srgbClr val="EAF2FB">
                <a:alpha val="0"/>
              </a:srgbClr>
            </a:solidFill>
            <a:prstDash val="solid"/>
          </a:ln>
        </p:spPr>
      </p:sp>
      <p:sp>
        <p:nvSpPr>
          <p:cNvPr id="39" name="Text 37"/>
          <p:cNvSpPr/>
          <p:nvPr/>
        </p:nvSpPr>
        <p:spPr>
          <a:xfrm>
            <a:off x="7949184" y="4462272"/>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a:t>
            </a:r>
            <a:endParaRPr lang="en-US" sz="1030" dirty="0"/>
          </a:p>
        </p:txBody>
      </p:sp>
      <p:sp>
        <p:nvSpPr>
          <p:cNvPr id="40" name="Shape 38"/>
          <p:cNvSpPr/>
          <p:nvPr/>
        </p:nvSpPr>
        <p:spPr>
          <a:xfrm>
            <a:off x="676656" y="4773168"/>
            <a:ext cx="3563112" cy="338328"/>
          </a:xfrm>
          <a:prstGeom prst="rect">
            <a:avLst/>
          </a:prstGeom>
          <a:solidFill>
            <a:srgbClr val="F4F8FD"/>
          </a:solidFill>
          <a:ln w="12700">
            <a:solidFill>
              <a:srgbClr val="F4F8FD">
                <a:alpha val="0"/>
              </a:srgbClr>
            </a:solidFill>
            <a:prstDash val="solid"/>
          </a:ln>
        </p:spPr>
      </p:sp>
      <p:sp>
        <p:nvSpPr>
          <p:cNvPr id="41" name="Text 39"/>
          <p:cNvSpPr/>
          <p:nvPr/>
        </p:nvSpPr>
        <p:spPr>
          <a:xfrm>
            <a:off x="786384" y="4818888"/>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5</a:t>
            </a:r>
            <a:endParaRPr lang="en-US" sz="1030" dirty="0"/>
          </a:p>
        </p:txBody>
      </p:sp>
      <p:sp>
        <p:nvSpPr>
          <p:cNvPr id="42" name="Shape 40"/>
          <p:cNvSpPr/>
          <p:nvPr/>
        </p:nvSpPr>
        <p:spPr>
          <a:xfrm>
            <a:off x="4258056" y="4773168"/>
            <a:ext cx="3563112" cy="338328"/>
          </a:xfrm>
          <a:prstGeom prst="rect">
            <a:avLst/>
          </a:prstGeom>
          <a:solidFill>
            <a:srgbClr val="F4F8FD"/>
          </a:solidFill>
          <a:ln w="12700">
            <a:solidFill>
              <a:srgbClr val="F4F8FD">
                <a:alpha val="0"/>
              </a:srgbClr>
            </a:solidFill>
            <a:prstDash val="solid"/>
          </a:ln>
        </p:spPr>
      </p:sp>
      <p:sp>
        <p:nvSpPr>
          <p:cNvPr id="43" name="Text 41"/>
          <p:cNvSpPr/>
          <p:nvPr/>
        </p:nvSpPr>
        <p:spPr>
          <a:xfrm>
            <a:off x="4367784" y="4818888"/>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LC-40</a:t>
            </a:r>
            <a:endParaRPr lang="en-US" sz="1030" dirty="0"/>
          </a:p>
        </p:txBody>
      </p:sp>
      <p:sp>
        <p:nvSpPr>
          <p:cNvPr id="44" name="Shape 42"/>
          <p:cNvSpPr/>
          <p:nvPr/>
        </p:nvSpPr>
        <p:spPr>
          <a:xfrm>
            <a:off x="7839456" y="4773168"/>
            <a:ext cx="3563112" cy="338328"/>
          </a:xfrm>
          <a:prstGeom prst="rect">
            <a:avLst/>
          </a:prstGeom>
          <a:solidFill>
            <a:srgbClr val="F4F8FD"/>
          </a:solidFill>
          <a:ln w="12700">
            <a:solidFill>
              <a:srgbClr val="F4F8FD">
                <a:alpha val="0"/>
              </a:srgbClr>
            </a:solidFill>
            <a:prstDash val="solid"/>
          </a:ln>
        </p:spPr>
      </p:sp>
      <p:sp>
        <p:nvSpPr>
          <p:cNvPr id="45" name="Text 43"/>
          <p:cNvSpPr/>
          <p:nvPr/>
        </p:nvSpPr>
        <p:spPr>
          <a:xfrm>
            <a:off x="7949184" y="4818888"/>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a:t>
            </a:r>
            <a:endParaRPr lang="en-US" sz="1030" dirty="0"/>
          </a:p>
        </p:txBody>
      </p:sp>
      <p:sp>
        <p:nvSpPr>
          <p:cNvPr id="46" name="Shape 44"/>
          <p:cNvSpPr/>
          <p:nvPr/>
        </p:nvSpPr>
        <p:spPr>
          <a:xfrm>
            <a:off x="676656" y="5449824"/>
            <a:ext cx="10744200" cy="914400"/>
          </a:xfrm>
          <a:prstGeom prst="rect">
            <a:avLst/>
          </a:prstGeom>
          <a:solidFill>
            <a:srgbClr val="F3F8FE"/>
          </a:solidFill>
          <a:ln w="12700">
            <a:solidFill>
              <a:srgbClr val="F3F8FE">
                <a:alpha val="0"/>
              </a:srgbClr>
            </a:solidFill>
            <a:prstDash val="solid"/>
          </a:ln>
        </p:spPr>
      </p:sp>
      <p:sp>
        <p:nvSpPr>
          <p:cNvPr id="47" name="Shape 45"/>
          <p:cNvSpPr/>
          <p:nvPr/>
        </p:nvSpPr>
        <p:spPr>
          <a:xfrm>
            <a:off x="676656" y="5449824"/>
            <a:ext cx="50292" cy="914400"/>
          </a:xfrm>
          <a:prstGeom prst="rect">
            <a:avLst/>
          </a:prstGeom>
          <a:solidFill>
            <a:srgbClr val="1AA6B7"/>
          </a:solidFill>
          <a:ln w="12700">
            <a:solidFill>
              <a:srgbClr val="1AA6B7">
                <a:alpha val="0"/>
              </a:srgbClr>
            </a:solidFill>
            <a:prstDash val="solid"/>
          </a:ln>
        </p:spPr>
      </p:sp>
      <p:sp>
        <p:nvSpPr>
          <p:cNvPr id="48" name="Text 46"/>
          <p:cNvSpPr/>
          <p:nvPr/>
        </p:nvSpPr>
        <p:spPr>
          <a:xfrm>
            <a:off x="877824" y="55778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INTERPRETATION</a:t>
            </a:r>
            <a:endParaRPr lang="en-US" sz="1500" dirty="0"/>
          </a:p>
        </p:txBody>
      </p:sp>
      <p:sp>
        <p:nvSpPr>
          <p:cNvPr id="49" name="Text 47"/>
          <p:cNvSpPr/>
          <p:nvPr/>
        </p:nvSpPr>
        <p:spPr>
          <a:xfrm>
            <a:off x="877824" y="5888736"/>
            <a:ext cx="10351008" cy="4114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A simple prefix filter demonstrates SQL string matching and sample inspection.</a:t>
            </a:r>
            <a:endParaRPr lang="en-US" sz="13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EDA WITH SQL • ACTUAL QUERY OUTPUT</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07 | Booster recovery-rate ranking</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25</a:t>
            </a:r>
            <a:endParaRPr lang="en-US" sz="900" dirty="0"/>
          </a:p>
        </p:txBody>
      </p:sp>
      <p:sp>
        <p:nvSpPr>
          <p:cNvPr id="8" name="Shape 6"/>
          <p:cNvSpPr/>
          <p:nvPr/>
        </p:nvSpPr>
        <p:spPr>
          <a:xfrm>
            <a:off x="667512" y="1600200"/>
            <a:ext cx="10698480" cy="1152144"/>
          </a:xfrm>
          <a:prstGeom prst="rect">
            <a:avLst/>
          </a:prstGeom>
          <a:solidFill>
            <a:srgbClr val="12243C"/>
          </a:solidFill>
          <a:ln w="12700">
            <a:solidFill>
              <a:srgbClr val="12243C">
                <a:alpha val="0"/>
              </a:srgbClr>
            </a:solidFill>
            <a:prstDash val="solid"/>
          </a:ln>
        </p:spPr>
      </p:sp>
      <p:sp>
        <p:nvSpPr>
          <p:cNvPr id="9" name="Text 7"/>
          <p:cNvSpPr/>
          <p:nvPr/>
        </p:nvSpPr>
        <p:spPr>
          <a:xfrm>
            <a:off x="850392" y="1755648"/>
            <a:ext cx="10332720" cy="859536"/>
          </a:xfrm>
          <a:prstGeom prst="rect">
            <a:avLst/>
          </a:prstGeom>
          <a:noFill/>
          <a:ln/>
        </p:spPr>
        <p:txBody>
          <a:bodyPr wrap="square" lIns="0" tIns="0" rIns="0" bIns="0" rtlCol="0" anchor="t">
            <a:normAutofit/>
          </a:bodyPr>
          <a:lstStyle/>
          <a:p>
            <a:pPr indent="0" marL="0">
              <a:buNone/>
            </a:pPr>
            <a:r>
              <a:rPr lang="en-US" sz="1210" dirty="0">
                <a:solidFill>
                  <a:srgbClr val="FFFFFF"/>
                </a:solidFill>
                <a:latin typeface="Consolas" pitchFamily="34" charset="0"/>
                <a:ea typeface="Consolas" pitchFamily="34" charset="-122"/>
                <a:cs typeface="Consolas" pitchFamily="34" charset="-120"/>
              </a:rPr>
              <a:t>SELECT BoosterCategory, COUNT(*) AS flights, SUM(Class) AS successful, ROUND(100.0*AVG(Class),1) AS success_pct FROM SPACEXTBL GROUP BY BoosterCategory ORDER BY success_pct DESC</a:t>
            </a:r>
            <a:endParaRPr lang="en-US" sz="1210" dirty="0"/>
          </a:p>
        </p:txBody>
      </p:sp>
      <p:sp>
        <p:nvSpPr>
          <p:cNvPr id="10" name="Shape 8"/>
          <p:cNvSpPr/>
          <p:nvPr/>
        </p:nvSpPr>
        <p:spPr>
          <a:xfrm>
            <a:off x="676656" y="2944368"/>
            <a:ext cx="2667762" cy="384048"/>
          </a:xfrm>
          <a:prstGeom prst="rect">
            <a:avLst/>
          </a:prstGeom>
          <a:solidFill>
            <a:srgbClr val="1953B6"/>
          </a:solidFill>
          <a:ln w="12700">
            <a:solidFill>
              <a:srgbClr val="1953B6">
                <a:alpha val="0"/>
              </a:srgbClr>
            </a:solidFill>
            <a:prstDash val="solid"/>
          </a:ln>
        </p:spPr>
      </p:sp>
      <p:sp>
        <p:nvSpPr>
          <p:cNvPr id="11" name="Text 9"/>
          <p:cNvSpPr/>
          <p:nvPr/>
        </p:nvSpPr>
        <p:spPr>
          <a:xfrm>
            <a:off x="78638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BoosterCategory</a:t>
            </a:r>
            <a:endParaRPr lang="en-US" sz="1140" dirty="0"/>
          </a:p>
        </p:txBody>
      </p:sp>
      <p:sp>
        <p:nvSpPr>
          <p:cNvPr id="12" name="Shape 10"/>
          <p:cNvSpPr/>
          <p:nvPr/>
        </p:nvSpPr>
        <p:spPr>
          <a:xfrm>
            <a:off x="3362706" y="2944368"/>
            <a:ext cx="2667762" cy="384048"/>
          </a:xfrm>
          <a:prstGeom prst="rect">
            <a:avLst/>
          </a:prstGeom>
          <a:solidFill>
            <a:srgbClr val="1953B6"/>
          </a:solidFill>
          <a:ln w="12700">
            <a:solidFill>
              <a:srgbClr val="1953B6">
                <a:alpha val="0"/>
              </a:srgbClr>
            </a:solidFill>
            <a:prstDash val="solid"/>
          </a:ln>
        </p:spPr>
      </p:sp>
      <p:sp>
        <p:nvSpPr>
          <p:cNvPr id="13" name="Text 11"/>
          <p:cNvSpPr/>
          <p:nvPr/>
        </p:nvSpPr>
        <p:spPr>
          <a:xfrm>
            <a:off x="347243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flights</a:t>
            </a:r>
            <a:endParaRPr lang="en-US" sz="1140" dirty="0"/>
          </a:p>
        </p:txBody>
      </p:sp>
      <p:sp>
        <p:nvSpPr>
          <p:cNvPr id="14" name="Shape 12"/>
          <p:cNvSpPr/>
          <p:nvPr/>
        </p:nvSpPr>
        <p:spPr>
          <a:xfrm>
            <a:off x="6048756" y="2944368"/>
            <a:ext cx="2667762" cy="384048"/>
          </a:xfrm>
          <a:prstGeom prst="rect">
            <a:avLst/>
          </a:prstGeom>
          <a:solidFill>
            <a:srgbClr val="1953B6"/>
          </a:solidFill>
          <a:ln w="12700">
            <a:solidFill>
              <a:srgbClr val="1953B6">
                <a:alpha val="0"/>
              </a:srgbClr>
            </a:solidFill>
            <a:prstDash val="solid"/>
          </a:ln>
        </p:spPr>
      </p:sp>
      <p:sp>
        <p:nvSpPr>
          <p:cNvPr id="15" name="Text 13"/>
          <p:cNvSpPr/>
          <p:nvPr/>
        </p:nvSpPr>
        <p:spPr>
          <a:xfrm>
            <a:off x="615848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successful</a:t>
            </a:r>
            <a:endParaRPr lang="en-US" sz="1140" dirty="0"/>
          </a:p>
        </p:txBody>
      </p:sp>
      <p:sp>
        <p:nvSpPr>
          <p:cNvPr id="16" name="Shape 14"/>
          <p:cNvSpPr/>
          <p:nvPr/>
        </p:nvSpPr>
        <p:spPr>
          <a:xfrm>
            <a:off x="8734806" y="2944368"/>
            <a:ext cx="2667762" cy="384048"/>
          </a:xfrm>
          <a:prstGeom prst="rect">
            <a:avLst/>
          </a:prstGeom>
          <a:solidFill>
            <a:srgbClr val="1953B6"/>
          </a:solidFill>
          <a:ln w="12700">
            <a:solidFill>
              <a:srgbClr val="1953B6">
                <a:alpha val="0"/>
              </a:srgbClr>
            </a:solidFill>
            <a:prstDash val="solid"/>
          </a:ln>
        </p:spPr>
      </p:sp>
      <p:sp>
        <p:nvSpPr>
          <p:cNvPr id="17" name="Text 15"/>
          <p:cNvSpPr/>
          <p:nvPr/>
        </p:nvSpPr>
        <p:spPr>
          <a:xfrm>
            <a:off x="884453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success_pct</a:t>
            </a:r>
            <a:endParaRPr lang="en-US" sz="1140" dirty="0"/>
          </a:p>
        </p:txBody>
      </p:sp>
      <p:sp>
        <p:nvSpPr>
          <p:cNvPr id="18" name="Shape 16"/>
          <p:cNvSpPr/>
          <p:nvPr/>
        </p:nvSpPr>
        <p:spPr>
          <a:xfrm>
            <a:off x="676656" y="3346704"/>
            <a:ext cx="2667762" cy="338328"/>
          </a:xfrm>
          <a:prstGeom prst="rect">
            <a:avLst/>
          </a:prstGeom>
          <a:solidFill>
            <a:srgbClr val="F4F8FD"/>
          </a:solidFill>
          <a:ln w="12700">
            <a:solidFill>
              <a:srgbClr val="F4F8FD">
                <a:alpha val="0"/>
              </a:srgbClr>
            </a:solidFill>
            <a:prstDash val="solid"/>
          </a:ln>
        </p:spPr>
      </p:sp>
      <p:sp>
        <p:nvSpPr>
          <p:cNvPr id="19" name="Text 17"/>
          <p:cNvSpPr/>
          <p:nvPr/>
        </p:nvSpPr>
        <p:spPr>
          <a:xfrm>
            <a:off x="78638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B5</a:t>
            </a:r>
            <a:endParaRPr lang="en-US" sz="1030" dirty="0"/>
          </a:p>
        </p:txBody>
      </p:sp>
      <p:sp>
        <p:nvSpPr>
          <p:cNvPr id="20" name="Shape 18"/>
          <p:cNvSpPr/>
          <p:nvPr/>
        </p:nvSpPr>
        <p:spPr>
          <a:xfrm>
            <a:off x="3362706" y="3346704"/>
            <a:ext cx="2667762" cy="338328"/>
          </a:xfrm>
          <a:prstGeom prst="rect">
            <a:avLst/>
          </a:prstGeom>
          <a:solidFill>
            <a:srgbClr val="F4F8FD"/>
          </a:solidFill>
          <a:ln w="12700">
            <a:solidFill>
              <a:srgbClr val="F4F8FD">
                <a:alpha val="0"/>
              </a:srgbClr>
            </a:solidFill>
            <a:prstDash val="solid"/>
          </a:ln>
        </p:spPr>
      </p:sp>
      <p:sp>
        <p:nvSpPr>
          <p:cNvPr id="21" name="Text 19"/>
          <p:cNvSpPr/>
          <p:nvPr/>
        </p:nvSpPr>
        <p:spPr>
          <a:xfrm>
            <a:off x="347243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a:t>
            </a:r>
            <a:endParaRPr lang="en-US" sz="1030" dirty="0"/>
          </a:p>
        </p:txBody>
      </p:sp>
      <p:sp>
        <p:nvSpPr>
          <p:cNvPr id="22" name="Shape 20"/>
          <p:cNvSpPr/>
          <p:nvPr/>
        </p:nvSpPr>
        <p:spPr>
          <a:xfrm>
            <a:off x="6048756" y="3346704"/>
            <a:ext cx="2667762" cy="338328"/>
          </a:xfrm>
          <a:prstGeom prst="rect">
            <a:avLst/>
          </a:prstGeom>
          <a:solidFill>
            <a:srgbClr val="F4F8FD"/>
          </a:solidFill>
          <a:ln w="12700">
            <a:solidFill>
              <a:srgbClr val="F4F8FD">
                <a:alpha val="0"/>
              </a:srgbClr>
            </a:solidFill>
            <a:prstDash val="solid"/>
          </a:ln>
        </p:spPr>
      </p:sp>
      <p:sp>
        <p:nvSpPr>
          <p:cNvPr id="23" name="Text 21"/>
          <p:cNvSpPr/>
          <p:nvPr/>
        </p:nvSpPr>
        <p:spPr>
          <a:xfrm>
            <a:off x="615848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a:t>
            </a:r>
            <a:endParaRPr lang="en-US" sz="1030" dirty="0"/>
          </a:p>
        </p:txBody>
      </p:sp>
      <p:sp>
        <p:nvSpPr>
          <p:cNvPr id="24" name="Shape 22"/>
          <p:cNvSpPr/>
          <p:nvPr/>
        </p:nvSpPr>
        <p:spPr>
          <a:xfrm>
            <a:off x="8734806" y="3346704"/>
            <a:ext cx="2667762" cy="338328"/>
          </a:xfrm>
          <a:prstGeom prst="rect">
            <a:avLst/>
          </a:prstGeom>
          <a:solidFill>
            <a:srgbClr val="F4F8FD"/>
          </a:solidFill>
          <a:ln w="12700">
            <a:solidFill>
              <a:srgbClr val="F4F8FD">
                <a:alpha val="0"/>
              </a:srgbClr>
            </a:solidFill>
            <a:prstDash val="solid"/>
          </a:ln>
        </p:spPr>
      </p:sp>
      <p:sp>
        <p:nvSpPr>
          <p:cNvPr id="25" name="Text 23"/>
          <p:cNvSpPr/>
          <p:nvPr/>
        </p:nvSpPr>
        <p:spPr>
          <a:xfrm>
            <a:off x="884453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100.0</a:t>
            </a:r>
            <a:endParaRPr lang="en-US" sz="1030" dirty="0"/>
          </a:p>
        </p:txBody>
      </p:sp>
      <p:sp>
        <p:nvSpPr>
          <p:cNvPr id="26" name="Shape 24"/>
          <p:cNvSpPr/>
          <p:nvPr/>
        </p:nvSpPr>
        <p:spPr>
          <a:xfrm>
            <a:off x="676656" y="3703320"/>
            <a:ext cx="2667762" cy="338328"/>
          </a:xfrm>
          <a:prstGeom prst="rect">
            <a:avLst/>
          </a:prstGeom>
          <a:solidFill>
            <a:srgbClr val="EAF2FB"/>
          </a:solidFill>
          <a:ln w="12700">
            <a:solidFill>
              <a:srgbClr val="EAF2FB">
                <a:alpha val="0"/>
              </a:srgbClr>
            </a:solidFill>
            <a:prstDash val="solid"/>
          </a:ln>
        </p:spPr>
      </p:sp>
      <p:sp>
        <p:nvSpPr>
          <p:cNvPr id="27" name="Text 25"/>
          <p:cNvSpPr/>
          <p:nvPr/>
        </p:nvSpPr>
        <p:spPr>
          <a:xfrm>
            <a:off x="78638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FT</a:t>
            </a:r>
            <a:endParaRPr lang="en-US" sz="1030" dirty="0"/>
          </a:p>
        </p:txBody>
      </p:sp>
      <p:sp>
        <p:nvSpPr>
          <p:cNvPr id="28" name="Shape 26"/>
          <p:cNvSpPr/>
          <p:nvPr/>
        </p:nvSpPr>
        <p:spPr>
          <a:xfrm>
            <a:off x="3362706" y="3703320"/>
            <a:ext cx="2667762" cy="338328"/>
          </a:xfrm>
          <a:prstGeom prst="rect">
            <a:avLst/>
          </a:prstGeom>
          <a:solidFill>
            <a:srgbClr val="EAF2FB"/>
          </a:solidFill>
          <a:ln w="12700">
            <a:solidFill>
              <a:srgbClr val="EAF2FB">
                <a:alpha val="0"/>
              </a:srgbClr>
            </a:solidFill>
            <a:prstDash val="solid"/>
          </a:ln>
        </p:spPr>
      </p:sp>
      <p:sp>
        <p:nvSpPr>
          <p:cNvPr id="29" name="Text 27"/>
          <p:cNvSpPr/>
          <p:nvPr/>
        </p:nvSpPr>
        <p:spPr>
          <a:xfrm>
            <a:off x="347243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24</a:t>
            </a:r>
            <a:endParaRPr lang="en-US" sz="1030" dirty="0"/>
          </a:p>
        </p:txBody>
      </p:sp>
      <p:sp>
        <p:nvSpPr>
          <p:cNvPr id="30" name="Shape 28"/>
          <p:cNvSpPr/>
          <p:nvPr/>
        </p:nvSpPr>
        <p:spPr>
          <a:xfrm>
            <a:off x="6048756" y="3703320"/>
            <a:ext cx="2667762" cy="338328"/>
          </a:xfrm>
          <a:prstGeom prst="rect">
            <a:avLst/>
          </a:prstGeom>
          <a:solidFill>
            <a:srgbClr val="EAF2FB"/>
          </a:solidFill>
          <a:ln w="12700">
            <a:solidFill>
              <a:srgbClr val="EAF2FB">
                <a:alpha val="0"/>
              </a:srgbClr>
            </a:solidFill>
            <a:prstDash val="solid"/>
          </a:ln>
        </p:spPr>
      </p:sp>
      <p:sp>
        <p:nvSpPr>
          <p:cNvPr id="31" name="Text 29"/>
          <p:cNvSpPr/>
          <p:nvPr/>
        </p:nvSpPr>
        <p:spPr>
          <a:xfrm>
            <a:off x="615848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16</a:t>
            </a:r>
            <a:endParaRPr lang="en-US" sz="1030" dirty="0"/>
          </a:p>
        </p:txBody>
      </p:sp>
      <p:sp>
        <p:nvSpPr>
          <p:cNvPr id="32" name="Shape 30"/>
          <p:cNvSpPr/>
          <p:nvPr/>
        </p:nvSpPr>
        <p:spPr>
          <a:xfrm>
            <a:off x="8734806" y="3703320"/>
            <a:ext cx="2667762" cy="338328"/>
          </a:xfrm>
          <a:prstGeom prst="rect">
            <a:avLst/>
          </a:prstGeom>
          <a:solidFill>
            <a:srgbClr val="EAF2FB"/>
          </a:solidFill>
          <a:ln w="12700">
            <a:solidFill>
              <a:srgbClr val="EAF2FB">
                <a:alpha val="0"/>
              </a:srgbClr>
            </a:solidFill>
            <a:prstDash val="solid"/>
          </a:ln>
        </p:spPr>
      </p:sp>
      <p:sp>
        <p:nvSpPr>
          <p:cNvPr id="33" name="Text 31"/>
          <p:cNvSpPr/>
          <p:nvPr/>
        </p:nvSpPr>
        <p:spPr>
          <a:xfrm>
            <a:off x="884453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66.7</a:t>
            </a:r>
            <a:endParaRPr lang="en-US" sz="1030" dirty="0"/>
          </a:p>
        </p:txBody>
      </p:sp>
      <p:sp>
        <p:nvSpPr>
          <p:cNvPr id="34" name="Shape 32"/>
          <p:cNvSpPr/>
          <p:nvPr/>
        </p:nvSpPr>
        <p:spPr>
          <a:xfrm>
            <a:off x="676656" y="4059936"/>
            <a:ext cx="2667762" cy="338328"/>
          </a:xfrm>
          <a:prstGeom prst="rect">
            <a:avLst/>
          </a:prstGeom>
          <a:solidFill>
            <a:srgbClr val="F4F8FD"/>
          </a:solidFill>
          <a:ln w="12700">
            <a:solidFill>
              <a:srgbClr val="F4F8FD">
                <a:alpha val="0"/>
              </a:srgbClr>
            </a:solidFill>
            <a:prstDash val="solid"/>
          </a:ln>
        </p:spPr>
      </p:sp>
      <p:sp>
        <p:nvSpPr>
          <p:cNvPr id="35" name="Text 33"/>
          <p:cNvSpPr/>
          <p:nvPr/>
        </p:nvSpPr>
        <p:spPr>
          <a:xfrm>
            <a:off x="78638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B4</a:t>
            </a:r>
            <a:endParaRPr lang="en-US" sz="1030" dirty="0"/>
          </a:p>
        </p:txBody>
      </p:sp>
      <p:sp>
        <p:nvSpPr>
          <p:cNvPr id="36" name="Shape 34"/>
          <p:cNvSpPr/>
          <p:nvPr/>
        </p:nvSpPr>
        <p:spPr>
          <a:xfrm>
            <a:off x="3362706" y="4059936"/>
            <a:ext cx="2667762" cy="338328"/>
          </a:xfrm>
          <a:prstGeom prst="rect">
            <a:avLst/>
          </a:prstGeom>
          <a:solidFill>
            <a:srgbClr val="F4F8FD"/>
          </a:solidFill>
          <a:ln w="12700">
            <a:solidFill>
              <a:srgbClr val="F4F8FD">
                <a:alpha val="0"/>
              </a:srgbClr>
            </a:solidFill>
            <a:prstDash val="solid"/>
          </a:ln>
        </p:spPr>
      </p:sp>
      <p:sp>
        <p:nvSpPr>
          <p:cNvPr id="37" name="Text 35"/>
          <p:cNvSpPr/>
          <p:nvPr/>
        </p:nvSpPr>
        <p:spPr>
          <a:xfrm>
            <a:off x="347243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11</a:t>
            </a:r>
            <a:endParaRPr lang="en-US" sz="1030" dirty="0"/>
          </a:p>
        </p:txBody>
      </p:sp>
      <p:sp>
        <p:nvSpPr>
          <p:cNvPr id="38" name="Shape 36"/>
          <p:cNvSpPr/>
          <p:nvPr/>
        </p:nvSpPr>
        <p:spPr>
          <a:xfrm>
            <a:off x="6048756" y="4059936"/>
            <a:ext cx="2667762" cy="338328"/>
          </a:xfrm>
          <a:prstGeom prst="rect">
            <a:avLst/>
          </a:prstGeom>
          <a:solidFill>
            <a:srgbClr val="F4F8FD"/>
          </a:solidFill>
          <a:ln w="12700">
            <a:solidFill>
              <a:srgbClr val="F4F8FD">
                <a:alpha val="0"/>
              </a:srgbClr>
            </a:solidFill>
            <a:prstDash val="solid"/>
          </a:ln>
        </p:spPr>
      </p:sp>
      <p:sp>
        <p:nvSpPr>
          <p:cNvPr id="39" name="Text 37"/>
          <p:cNvSpPr/>
          <p:nvPr/>
        </p:nvSpPr>
        <p:spPr>
          <a:xfrm>
            <a:off x="615848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6</a:t>
            </a:r>
            <a:endParaRPr lang="en-US" sz="1030" dirty="0"/>
          </a:p>
        </p:txBody>
      </p:sp>
      <p:sp>
        <p:nvSpPr>
          <p:cNvPr id="40" name="Shape 38"/>
          <p:cNvSpPr/>
          <p:nvPr/>
        </p:nvSpPr>
        <p:spPr>
          <a:xfrm>
            <a:off x="8734806" y="4059936"/>
            <a:ext cx="2667762" cy="338328"/>
          </a:xfrm>
          <a:prstGeom prst="rect">
            <a:avLst/>
          </a:prstGeom>
          <a:solidFill>
            <a:srgbClr val="F4F8FD"/>
          </a:solidFill>
          <a:ln w="12700">
            <a:solidFill>
              <a:srgbClr val="F4F8FD">
                <a:alpha val="0"/>
              </a:srgbClr>
            </a:solidFill>
            <a:prstDash val="solid"/>
          </a:ln>
        </p:spPr>
      </p:sp>
      <p:sp>
        <p:nvSpPr>
          <p:cNvPr id="41" name="Text 39"/>
          <p:cNvSpPr/>
          <p:nvPr/>
        </p:nvSpPr>
        <p:spPr>
          <a:xfrm>
            <a:off x="884453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54.5</a:t>
            </a:r>
            <a:endParaRPr lang="en-US" sz="1030" dirty="0"/>
          </a:p>
        </p:txBody>
      </p:sp>
      <p:sp>
        <p:nvSpPr>
          <p:cNvPr id="42" name="Shape 40"/>
          <p:cNvSpPr/>
          <p:nvPr/>
        </p:nvSpPr>
        <p:spPr>
          <a:xfrm>
            <a:off x="676656" y="4416552"/>
            <a:ext cx="2667762" cy="338328"/>
          </a:xfrm>
          <a:prstGeom prst="rect">
            <a:avLst/>
          </a:prstGeom>
          <a:solidFill>
            <a:srgbClr val="EAF2FB"/>
          </a:solidFill>
          <a:ln w="12700">
            <a:solidFill>
              <a:srgbClr val="EAF2FB">
                <a:alpha val="0"/>
              </a:srgbClr>
            </a:solidFill>
            <a:prstDash val="solid"/>
          </a:ln>
        </p:spPr>
      </p:sp>
      <p:sp>
        <p:nvSpPr>
          <p:cNvPr id="43" name="Text 41"/>
          <p:cNvSpPr/>
          <p:nvPr/>
        </p:nvSpPr>
        <p:spPr>
          <a:xfrm>
            <a:off x="78638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v1.1</a:t>
            </a:r>
            <a:endParaRPr lang="en-US" sz="1030" dirty="0"/>
          </a:p>
        </p:txBody>
      </p:sp>
      <p:sp>
        <p:nvSpPr>
          <p:cNvPr id="44" name="Shape 42"/>
          <p:cNvSpPr/>
          <p:nvPr/>
        </p:nvSpPr>
        <p:spPr>
          <a:xfrm>
            <a:off x="3362706" y="4416552"/>
            <a:ext cx="2667762" cy="338328"/>
          </a:xfrm>
          <a:prstGeom prst="rect">
            <a:avLst/>
          </a:prstGeom>
          <a:solidFill>
            <a:srgbClr val="EAF2FB"/>
          </a:solidFill>
          <a:ln w="12700">
            <a:solidFill>
              <a:srgbClr val="EAF2FB">
                <a:alpha val="0"/>
              </a:srgbClr>
            </a:solidFill>
            <a:prstDash val="solid"/>
          </a:ln>
        </p:spPr>
      </p:sp>
      <p:sp>
        <p:nvSpPr>
          <p:cNvPr id="45" name="Text 43"/>
          <p:cNvSpPr/>
          <p:nvPr/>
        </p:nvSpPr>
        <p:spPr>
          <a:xfrm>
            <a:off x="347243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15</a:t>
            </a:r>
            <a:endParaRPr lang="en-US" sz="1030" dirty="0"/>
          </a:p>
        </p:txBody>
      </p:sp>
      <p:sp>
        <p:nvSpPr>
          <p:cNvPr id="46" name="Shape 44"/>
          <p:cNvSpPr/>
          <p:nvPr/>
        </p:nvSpPr>
        <p:spPr>
          <a:xfrm>
            <a:off x="6048756" y="4416552"/>
            <a:ext cx="2667762" cy="338328"/>
          </a:xfrm>
          <a:prstGeom prst="rect">
            <a:avLst/>
          </a:prstGeom>
          <a:solidFill>
            <a:srgbClr val="EAF2FB"/>
          </a:solidFill>
          <a:ln w="12700">
            <a:solidFill>
              <a:srgbClr val="EAF2FB">
                <a:alpha val="0"/>
              </a:srgbClr>
            </a:solidFill>
            <a:prstDash val="solid"/>
          </a:ln>
        </p:spPr>
      </p:sp>
      <p:sp>
        <p:nvSpPr>
          <p:cNvPr id="47" name="Text 45"/>
          <p:cNvSpPr/>
          <p:nvPr/>
        </p:nvSpPr>
        <p:spPr>
          <a:xfrm>
            <a:off x="615848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a:t>
            </a:r>
            <a:endParaRPr lang="en-US" sz="1030" dirty="0"/>
          </a:p>
        </p:txBody>
      </p:sp>
      <p:sp>
        <p:nvSpPr>
          <p:cNvPr id="48" name="Shape 46"/>
          <p:cNvSpPr/>
          <p:nvPr/>
        </p:nvSpPr>
        <p:spPr>
          <a:xfrm>
            <a:off x="8734806" y="4416552"/>
            <a:ext cx="2667762" cy="338328"/>
          </a:xfrm>
          <a:prstGeom prst="rect">
            <a:avLst/>
          </a:prstGeom>
          <a:solidFill>
            <a:srgbClr val="EAF2FB"/>
          </a:solidFill>
          <a:ln w="12700">
            <a:solidFill>
              <a:srgbClr val="EAF2FB">
                <a:alpha val="0"/>
              </a:srgbClr>
            </a:solidFill>
            <a:prstDash val="solid"/>
          </a:ln>
        </p:spPr>
      </p:sp>
      <p:sp>
        <p:nvSpPr>
          <p:cNvPr id="49" name="Text 47"/>
          <p:cNvSpPr/>
          <p:nvPr/>
        </p:nvSpPr>
        <p:spPr>
          <a:xfrm>
            <a:off x="884453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6.7</a:t>
            </a:r>
            <a:endParaRPr lang="en-US" sz="1030" dirty="0"/>
          </a:p>
        </p:txBody>
      </p:sp>
      <p:sp>
        <p:nvSpPr>
          <p:cNvPr id="50" name="Shape 48"/>
          <p:cNvSpPr/>
          <p:nvPr/>
        </p:nvSpPr>
        <p:spPr>
          <a:xfrm>
            <a:off x="676656" y="4773168"/>
            <a:ext cx="2667762" cy="338328"/>
          </a:xfrm>
          <a:prstGeom prst="rect">
            <a:avLst/>
          </a:prstGeom>
          <a:solidFill>
            <a:srgbClr val="F4F8FD"/>
          </a:solidFill>
          <a:ln w="12700">
            <a:solidFill>
              <a:srgbClr val="F4F8FD">
                <a:alpha val="0"/>
              </a:srgbClr>
            </a:solidFill>
            <a:prstDash val="solid"/>
          </a:ln>
        </p:spPr>
      </p:sp>
      <p:sp>
        <p:nvSpPr>
          <p:cNvPr id="51" name="Text 49"/>
          <p:cNvSpPr/>
          <p:nvPr/>
        </p:nvSpPr>
        <p:spPr>
          <a:xfrm>
            <a:off x="78638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v1.0</a:t>
            </a:r>
            <a:endParaRPr lang="en-US" sz="1030" dirty="0"/>
          </a:p>
        </p:txBody>
      </p:sp>
      <p:sp>
        <p:nvSpPr>
          <p:cNvPr id="52" name="Shape 50"/>
          <p:cNvSpPr/>
          <p:nvPr/>
        </p:nvSpPr>
        <p:spPr>
          <a:xfrm>
            <a:off x="3362706" y="4773168"/>
            <a:ext cx="2667762" cy="338328"/>
          </a:xfrm>
          <a:prstGeom prst="rect">
            <a:avLst/>
          </a:prstGeom>
          <a:solidFill>
            <a:srgbClr val="F4F8FD"/>
          </a:solidFill>
          <a:ln w="12700">
            <a:solidFill>
              <a:srgbClr val="F4F8FD">
                <a:alpha val="0"/>
              </a:srgbClr>
            </a:solidFill>
            <a:prstDash val="solid"/>
          </a:ln>
        </p:spPr>
      </p:sp>
      <p:sp>
        <p:nvSpPr>
          <p:cNvPr id="53" name="Text 51"/>
          <p:cNvSpPr/>
          <p:nvPr/>
        </p:nvSpPr>
        <p:spPr>
          <a:xfrm>
            <a:off x="347243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5</a:t>
            </a:r>
            <a:endParaRPr lang="en-US" sz="1030" dirty="0"/>
          </a:p>
        </p:txBody>
      </p:sp>
      <p:sp>
        <p:nvSpPr>
          <p:cNvPr id="54" name="Shape 52"/>
          <p:cNvSpPr/>
          <p:nvPr/>
        </p:nvSpPr>
        <p:spPr>
          <a:xfrm>
            <a:off x="6048756" y="4773168"/>
            <a:ext cx="2667762" cy="338328"/>
          </a:xfrm>
          <a:prstGeom prst="rect">
            <a:avLst/>
          </a:prstGeom>
          <a:solidFill>
            <a:srgbClr val="F4F8FD"/>
          </a:solidFill>
          <a:ln w="12700">
            <a:solidFill>
              <a:srgbClr val="F4F8FD">
                <a:alpha val="0"/>
              </a:srgbClr>
            </a:solidFill>
            <a:prstDash val="solid"/>
          </a:ln>
        </p:spPr>
      </p:sp>
      <p:sp>
        <p:nvSpPr>
          <p:cNvPr id="55" name="Text 53"/>
          <p:cNvSpPr/>
          <p:nvPr/>
        </p:nvSpPr>
        <p:spPr>
          <a:xfrm>
            <a:off x="615848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a:t>
            </a:r>
            <a:endParaRPr lang="en-US" sz="1030" dirty="0"/>
          </a:p>
        </p:txBody>
      </p:sp>
      <p:sp>
        <p:nvSpPr>
          <p:cNvPr id="56" name="Shape 54"/>
          <p:cNvSpPr/>
          <p:nvPr/>
        </p:nvSpPr>
        <p:spPr>
          <a:xfrm>
            <a:off x="8734806" y="4773168"/>
            <a:ext cx="2667762" cy="338328"/>
          </a:xfrm>
          <a:prstGeom prst="rect">
            <a:avLst/>
          </a:prstGeom>
          <a:solidFill>
            <a:srgbClr val="F4F8FD"/>
          </a:solidFill>
          <a:ln w="12700">
            <a:solidFill>
              <a:srgbClr val="F4F8FD">
                <a:alpha val="0"/>
              </a:srgbClr>
            </a:solidFill>
            <a:prstDash val="solid"/>
          </a:ln>
        </p:spPr>
      </p:sp>
      <p:sp>
        <p:nvSpPr>
          <p:cNvPr id="57" name="Text 55"/>
          <p:cNvSpPr/>
          <p:nvPr/>
        </p:nvSpPr>
        <p:spPr>
          <a:xfrm>
            <a:off x="884453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0.0</a:t>
            </a:r>
            <a:endParaRPr lang="en-US" sz="1030" dirty="0"/>
          </a:p>
        </p:txBody>
      </p:sp>
      <p:sp>
        <p:nvSpPr>
          <p:cNvPr id="58" name="Shape 56"/>
          <p:cNvSpPr/>
          <p:nvPr/>
        </p:nvSpPr>
        <p:spPr>
          <a:xfrm>
            <a:off x="676656" y="5449824"/>
            <a:ext cx="10744200" cy="914400"/>
          </a:xfrm>
          <a:prstGeom prst="rect">
            <a:avLst/>
          </a:prstGeom>
          <a:solidFill>
            <a:srgbClr val="F3F8FE"/>
          </a:solidFill>
          <a:ln w="12700">
            <a:solidFill>
              <a:srgbClr val="F3F8FE">
                <a:alpha val="0"/>
              </a:srgbClr>
            </a:solidFill>
            <a:prstDash val="solid"/>
          </a:ln>
        </p:spPr>
      </p:sp>
      <p:sp>
        <p:nvSpPr>
          <p:cNvPr id="59" name="Shape 57"/>
          <p:cNvSpPr/>
          <p:nvPr/>
        </p:nvSpPr>
        <p:spPr>
          <a:xfrm>
            <a:off x="676656" y="5449824"/>
            <a:ext cx="50292" cy="914400"/>
          </a:xfrm>
          <a:prstGeom prst="rect">
            <a:avLst/>
          </a:prstGeom>
          <a:solidFill>
            <a:srgbClr val="1AA6B7"/>
          </a:solidFill>
          <a:ln w="12700">
            <a:solidFill>
              <a:srgbClr val="1AA6B7">
                <a:alpha val="0"/>
              </a:srgbClr>
            </a:solidFill>
            <a:prstDash val="solid"/>
          </a:ln>
        </p:spPr>
      </p:sp>
      <p:sp>
        <p:nvSpPr>
          <p:cNvPr id="60" name="Text 58"/>
          <p:cNvSpPr/>
          <p:nvPr/>
        </p:nvSpPr>
        <p:spPr>
          <a:xfrm>
            <a:off x="877824" y="55778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INTERPRETATION</a:t>
            </a:r>
            <a:endParaRPr lang="en-US" sz="1500" dirty="0"/>
          </a:p>
        </p:txBody>
      </p:sp>
      <p:sp>
        <p:nvSpPr>
          <p:cNvPr id="61" name="Text 59"/>
          <p:cNvSpPr/>
          <p:nvPr/>
        </p:nvSpPr>
        <p:spPr>
          <a:xfrm>
            <a:off x="877824" y="5888736"/>
            <a:ext cx="10351008" cy="4114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A high rate with a small denominator should not be treated as evidence of robust superiority.</a:t>
            </a:r>
            <a:endParaRPr lang="en-US" sz="13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EDA WITH SQL • ACTUAL QUERY OUTPUT</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08 | Payload-band success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26</a:t>
            </a:r>
            <a:endParaRPr lang="en-US" sz="900" dirty="0"/>
          </a:p>
        </p:txBody>
      </p:sp>
      <p:sp>
        <p:nvSpPr>
          <p:cNvPr id="8" name="Shape 6"/>
          <p:cNvSpPr/>
          <p:nvPr/>
        </p:nvSpPr>
        <p:spPr>
          <a:xfrm>
            <a:off x="667512" y="1600200"/>
            <a:ext cx="10698480" cy="1152144"/>
          </a:xfrm>
          <a:prstGeom prst="rect">
            <a:avLst/>
          </a:prstGeom>
          <a:solidFill>
            <a:srgbClr val="12243C"/>
          </a:solidFill>
          <a:ln w="12700">
            <a:solidFill>
              <a:srgbClr val="12243C">
                <a:alpha val="0"/>
              </a:srgbClr>
            </a:solidFill>
            <a:prstDash val="solid"/>
          </a:ln>
        </p:spPr>
      </p:sp>
      <p:sp>
        <p:nvSpPr>
          <p:cNvPr id="9" name="Text 7"/>
          <p:cNvSpPr/>
          <p:nvPr/>
        </p:nvSpPr>
        <p:spPr>
          <a:xfrm>
            <a:off x="850392" y="1755648"/>
            <a:ext cx="10332720" cy="859536"/>
          </a:xfrm>
          <a:prstGeom prst="rect">
            <a:avLst/>
          </a:prstGeom>
          <a:noFill/>
          <a:ln/>
        </p:spPr>
        <p:txBody>
          <a:bodyPr wrap="square" lIns="0" tIns="0" rIns="0" bIns="0" rtlCol="0" anchor="t">
            <a:normAutofit/>
          </a:bodyPr>
          <a:lstStyle/>
          <a:p>
            <a:pPr indent="0" marL="0">
              <a:buNone/>
            </a:pPr>
            <a:r>
              <a:rPr lang="en-US" sz="1210" dirty="0">
                <a:solidFill>
                  <a:srgbClr val="FFFFFF"/>
                </a:solidFill>
                <a:latin typeface="Consolas" pitchFamily="34" charset="0"/>
                <a:ea typeface="Consolas" pitchFamily="34" charset="-122"/>
                <a:cs typeface="Consolas" pitchFamily="34" charset="-120"/>
              </a:rPr>
              <a:t>SELECT CASE WHEN PayloadMass &lt; 2000 THEN '&lt;2,000 kg' WHEN PayloadMass &lt; 5000 THEN '2,000–4,999 kg' ELSE '5,000+ kg' END AS payload_band, COUNT(*) AS flights, ROUND(100.0*AVG(Class),1) AS success_pct FROM SPACEXTBL GROUP BY payload_band ORDER BY flights DESC</a:t>
            </a:r>
            <a:endParaRPr lang="en-US" sz="1210" dirty="0"/>
          </a:p>
        </p:txBody>
      </p:sp>
      <p:sp>
        <p:nvSpPr>
          <p:cNvPr id="10" name="Shape 8"/>
          <p:cNvSpPr/>
          <p:nvPr/>
        </p:nvSpPr>
        <p:spPr>
          <a:xfrm>
            <a:off x="676656" y="2944368"/>
            <a:ext cx="3563112" cy="384048"/>
          </a:xfrm>
          <a:prstGeom prst="rect">
            <a:avLst/>
          </a:prstGeom>
          <a:solidFill>
            <a:srgbClr val="1953B6"/>
          </a:solidFill>
          <a:ln w="12700">
            <a:solidFill>
              <a:srgbClr val="1953B6">
                <a:alpha val="0"/>
              </a:srgbClr>
            </a:solidFill>
            <a:prstDash val="solid"/>
          </a:ln>
        </p:spPr>
      </p:sp>
      <p:sp>
        <p:nvSpPr>
          <p:cNvPr id="11" name="Text 9"/>
          <p:cNvSpPr/>
          <p:nvPr/>
        </p:nvSpPr>
        <p:spPr>
          <a:xfrm>
            <a:off x="786384" y="2990088"/>
            <a:ext cx="33985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payload_band</a:t>
            </a:r>
            <a:endParaRPr lang="en-US" sz="1140" dirty="0"/>
          </a:p>
        </p:txBody>
      </p:sp>
      <p:sp>
        <p:nvSpPr>
          <p:cNvPr id="12" name="Shape 10"/>
          <p:cNvSpPr/>
          <p:nvPr/>
        </p:nvSpPr>
        <p:spPr>
          <a:xfrm>
            <a:off x="4258056" y="2944368"/>
            <a:ext cx="3563112" cy="384048"/>
          </a:xfrm>
          <a:prstGeom prst="rect">
            <a:avLst/>
          </a:prstGeom>
          <a:solidFill>
            <a:srgbClr val="1953B6"/>
          </a:solidFill>
          <a:ln w="12700">
            <a:solidFill>
              <a:srgbClr val="1953B6">
                <a:alpha val="0"/>
              </a:srgbClr>
            </a:solidFill>
            <a:prstDash val="solid"/>
          </a:ln>
        </p:spPr>
      </p:sp>
      <p:sp>
        <p:nvSpPr>
          <p:cNvPr id="13" name="Text 11"/>
          <p:cNvSpPr/>
          <p:nvPr/>
        </p:nvSpPr>
        <p:spPr>
          <a:xfrm>
            <a:off x="4367784" y="2990088"/>
            <a:ext cx="33985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flights</a:t>
            </a:r>
            <a:endParaRPr lang="en-US" sz="1140" dirty="0"/>
          </a:p>
        </p:txBody>
      </p:sp>
      <p:sp>
        <p:nvSpPr>
          <p:cNvPr id="14" name="Shape 12"/>
          <p:cNvSpPr/>
          <p:nvPr/>
        </p:nvSpPr>
        <p:spPr>
          <a:xfrm>
            <a:off x="7839456" y="2944368"/>
            <a:ext cx="3563112" cy="384048"/>
          </a:xfrm>
          <a:prstGeom prst="rect">
            <a:avLst/>
          </a:prstGeom>
          <a:solidFill>
            <a:srgbClr val="1953B6"/>
          </a:solidFill>
          <a:ln w="12700">
            <a:solidFill>
              <a:srgbClr val="1953B6">
                <a:alpha val="0"/>
              </a:srgbClr>
            </a:solidFill>
            <a:prstDash val="solid"/>
          </a:ln>
        </p:spPr>
      </p:sp>
      <p:sp>
        <p:nvSpPr>
          <p:cNvPr id="15" name="Text 13"/>
          <p:cNvSpPr/>
          <p:nvPr/>
        </p:nvSpPr>
        <p:spPr>
          <a:xfrm>
            <a:off x="7949184" y="2990088"/>
            <a:ext cx="33985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success_pct</a:t>
            </a:r>
            <a:endParaRPr lang="en-US" sz="1140" dirty="0"/>
          </a:p>
        </p:txBody>
      </p:sp>
      <p:sp>
        <p:nvSpPr>
          <p:cNvPr id="16" name="Shape 14"/>
          <p:cNvSpPr/>
          <p:nvPr/>
        </p:nvSpPr>
        <p:spPr>
          <a:xfrm>
            <a:off x="676656" y="3346704"/>
            <a:ext cx="3563112" cy="338328"/>
          </a:xfrm>
          <a:prstGeom prst="rect">
            <a:avLst/>
          </a:prstGeom>
          <a:solidFill>
            <a:srgbClr val="F4F8FD"/>
          </a:solidFill>
          <a:ln w="12700">
            <a:solidFill>
              <a:srgbClr val="F4F8FD">
                <a:alpha val="0"/>
              </a:srgbClr>
            </a:solidFill>
            <a:prstDash val="solid"/>
          </a:ln>
        </p:spPr>
      </p:sp>
      <p:sp>
        <p:nvSpPr>
          <p:cNvPr id="17" name="Text 15"/>
          <p:cNvSpPr/>
          <p:nvPr/>
        </p:nvSpPr>
        <p:spPr>
          <a:xfrm>
            <a:off x="7863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a:t>
            </a:r>
            <a:endParaRPr lang="en-US" sz="1030" dirty="0"/>
          </a:p>
        </p:txBody>
      </p:sp>
      <p:sp>
        <p:nvSpPr>
          <p:cNvPr id="18" name="Shape 16"/>
          <p:cNvSpPr/>
          <p:nvPr/>
        </p:nvSpPr>
        <p:spPr>
          <a:xfrm>
            <a:off x="4258056" y="3346704"/>
            <a:ext cx="3563112" cy="338328"/>
          </a:xfrm>
          <a:prstGeom prst="rect">
            <a:avLst/>
          </a:prstGeom>
          <a:solidFill>
            <a:srgbClr val="F4F8FD"/>
          </a:solidFill>
          <a:ln w="12700">
            <a:solidFill>
              <a:srgbClr val="F4F8FD">
                <a:alpha val="0"/>
              </a:srgbClr>
            </a:solidFill>
            <a:prstDash val="solid"/>
          </a:ln>
        </p:spPr>
      </p:sp>
      <p:sp>
        <p:nvSpPr>
          <p:cNvPr id="19" name="Text 17"/>
          <p:cNvSpPr/>
          <p:nvPr/>
        </p:nvSpPr>
        <p:spPr>
          <a:xfrm>
            <a:off x="43677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000–4</a:t>
            </a:r>
            <a:endParaRPr lang="en-US" sz="1030" dirty="0"/>
          </a:p>
        </p:txBody>
      </p:sp>
      <p:sp>
        <p:nvSpPr>
          <p:cNvPr id="20" name="Shape 18"/>
          <p:cNvSpPr/>
          <p:nvPr/>
        </p:nvSpPr>
        <p:spPr>
          <a:xfrm>
            <a:off x="7839456" y="3346704"/>
            <a:ext cx="3563112" cy="338328"/>
          </a:xfrm>
          <a:prstGeom prst="rect">
            <a:avLst/>
          </a:prstGeom>
          <a:solidFill>
            <a:srgbClr val="F4F8FD"/>
          </a:solidFill>
          <a:ln w="12700">
            <a:solidFill>
              <a:srgbClr val="F4F8FD">
                <a:alpha val="0"/>
              </a:srgbClr>
            </a:solidFill>
            <a:prstDash val="solid"/>
          </a:ln>
        </p:spPr>
      </p:sp>
      <p:sp>
        <p:nvSpPr>
          <p:cNvPr id="21" name="Text 19"/>
          <p:cNvSpPr/>
          <p:nvPr/>
        </p:nvSpPr>
        <p:spPr>
          <a:xfrm>
            <a:off x="79491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999 kg"</a:t>
            </a:r>
            <a:endParaRPr lang="en-US" sz="1030" dirty="0"/>
          </a:p>
        </p:txBody>
      </p:sp>
      <p:sp>
        <p:nvSpPr>
          <p:cNvPr id="22" name="Shape 20"/>
          <p:cNvSpPr/>
          <p:nvPr/>
        </p:nvSpPr>
        <p:spPr>
          <a:xfrm>
            <a:off x="11420856" y="3346704"/>
            <a:ext cx="3563112" cy="338328"/>
          </a:xfrm>
          <a:prstGeom prst="rect">
            <a:avLst/>
          </a:prstGeom>
          <a:solidFill>
            <a:srgbClr val="F4F8FD"/>
          </a:solidFill>
          <a:ln w="12700">
            <a:solidFill>
              <a:srgbClr val="F4F8FD">
                <a:alpha val="0"/>
              </a:srgbClr>
            </a:solidFill>
            <a:prstDash val="solid"/>
          </a:ln>
        </p:spPr>
      </p:sp>
      <p:sp>
        <p:nvSpPr>
          <p:cNvPr id="23" name="Text 21"/>
          <p:cNvSpPr/>
          <p:nvPr/>
        </p:nvSpPr>
        <p:spPr>
          <a:xfrm>
            <a:off x="115305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29</a:t>
            </a:r>
            <a:endParaRPr lang="en-US" sz="1030" dirty="0"/>
          </a:p>
        </p:txBody>
      </p:sp>
      <p:sp>
        <p:nvSpPr>
          <p:cNvPr id="24" name="Shape 22"/>
          <p:cNvSpPr/>
          <p:nvPr/>
        </p:nvSpPr>
        <p:spPr>
          <a:xfrm>
            <a:off x="15002256" y="3346704"/>
            <a:ext cx="3563112" cy="338328"/>
          </a:xfrm>
          <a:prstGeom prst="rect">
            <a:avLst/>
          </a:prstGeom>
          <a:solidFill>
            <a:srgbClr val="F4F8FD"/>
          </a:solidFill>
          <a:ln w="12700">
            <a:solidFill>
              <a:srgbClr val="F4F8FD">
                <a:alpha val="0"/>
              </a:srgbClr>
            </a:solidFill>
            <a:prstDash val="solid"/>
          </a:ln>
        </p:spPr>
      </p:sp>
      <p:sp>
        <p:nvSpPr>
          <p:cNvPr id="25" name="Text 23"/>
          <p:cNvSpPr/>
          <p:nvPr/>
        </p:nvSpPr>
        <p:spPr>
          <a:xfrm>
            <a:off x="151119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55.2</a:t>
            </a:r>
            <a:endParaRPr lang="en-US" sz="1030" dirty="0"/>
          </a:p>
        </p:txBody>
      </p:sp>
      <p:sp>
        <p:nvSpPr>
          <p:cNvPr id="26" name="Shape 24"/>
          <p:cNvSpPr/>
          <p:nvPr/>
        </p:nvSpPr>
        <p:spPr>
          <a:xfrm>
            <a:off x="676656" y="3703320"/>
            <a:ext cx="3563112" cy="338328"/>
          </a:xfrm>
          <a:prstGeom prst="rect">
            <a:avLst/>
          </a:prstGeom>
          <a:solidFill>
            <a:srgbClr val="EAF2FB"/>
          </a:solidFill>
          <a:ln w="12700">
            <a:solidFill>
              <a:srgbClr val="EAF2FB">
                <a:alpha val="0"/>
              </a:srgbClr>
            </a:solidFill>
            <a:prstDash val="solid"/>
          </a:ln>
        </p:spPr>
      </p:sp>
      <p:sp>
        <p:nvSpPr>
          <p:cNvPr id="27" name="Text 25"/>
          <p:cNvSpPr/>
          <p:nvPr/>
        </p:nvSpPr>
        <p:spPr>
          <a:xfrm>
            <a:off x="786384" y="3749040"/>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"5</a:t>
            </a:r>
            <a:endParaRPr lang="en-US" sz="1030" dirty="0"/>
          </a:p>
        </p:txBody>
      </p:sp>
      <p:sp>
        <p:nvSpPr>
          <p:cNvPr id="28" name="Shape 26"/>
          <p:cNvSpPr/>
          <p:nvPr/>
        </p:nvSpPr>
        <p:spPr>
          <a:xfrm>
            <a:off x="4258056" y="3703320"/>
            <a:ext cx="3563112" cy="338328"/>
          </a:xfrm>
          <a:prstGeom prst="rect">
            <a:avLst/>
          </a:prstGeom>
          <a:solidFill>
            <a:srgbClr val="EAF2FB"/>
          </a:solidFill>
          <a:ln w="12700">
            <a:solidFill>
              <a:srgbClr val="EAF2FB">
                <a:alpha val="0"/>
              </a:srgbClr>
            </a:solidFill>
            <a:prstDash val="solid"/>
          </a:ln>
        </p:spPr>
      </p:sp>
      <p:sp>
        <p:nvSpPr>
          <p:cNvPr id="29" name="Text 27"/>
          <p:cNvSpPr/>
          <p:nvPr/>
        </p:nvSpPr>
        <p:spPr>
          <a:xfrm>
            <a:off x="4367784" y="3749040"/>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000+ kg"</a:t>
            </a:r>
            <a:endParaRPr lang="en-US" sz="1030" dirty="0"/>
          </a:p>
        </p:txBody>
      </p:sp>
      <p:sp>
        <p:nvSpPr>
          <p:cNvPr id="30" name="Shape 28"/>
          <p:cNvSpPr/>
          <p:nvPr/>
        </p:nvSpPr>
        <p:spPr>
          <a:xfrm>
            <a:off x="7839456" y="3703320"/>
            <a:ext cx="3563112" cy="338328"/>
          </a:xfrm>
          <a:prstGeom prst="rect">
            <a:avLst/>
          </a:prstGeom>
          <a:solidFill>
            <a:srgbClr val="EAF2FB"/>
          </a:solidFill>
          <a:ln w="12700">
            <a:solidFill>
              <a:srgbClr val="EAF2FB">
                <a:alpha val="0"/>
              </a:srgbClr>
            </a:solidFill>
            <a:prstDash val="solid"/>
          </a:ln>
        </p:spPr>
      </p:sp>
      <p:sp>
        <p:nvSpPr>
          <p:cNvPr id="31" name="Text 29"/>
          <p:cNvSpPr/>
          <p:nvPr/>
        </p:nvSpPr>
        <p:spPr>
          <a:xfrm>
            <a:off x="7949184" y="3749040"/>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14</a:t>
            </a:r>
            <a:endParaRPr lang="en-US" sz="1030" dirty="0"/>
          </a:p>
        </p:txBody>
      </p:sp>
      <p:sp>
        <p:nvSpPr>
          <p:cNvPr id="32" name="Shape 30"/>
          <p:cNvSpPr/>
          <p:nvPr/>
        </p:nvSpPr>
        <p:spPr>
          <a:xfrm>
            <a:off x="11420856" y="3703320"/>
            <a:ext cx="3563112" cy="338328"/>
          </a:xfrm>
          <a:prstGeom prst="rect">
            <a:avLst/>
          </a:prstGeom>
          <a:solidFill>
            <a:srgbClr val="EAF2FB"/>
          </a:solidFill>
          <a:ln w="12700">
            <a:solidFill>
              <a:srgbClr val="EAF2FB">
                <a:alpha val="0"/>
              </a:srgbClr>
            </a:solidFill>
            <a:prstDash val="solid"/>
          </a:ln>
        </p:spPr>
      </p:sp>
      <p:sp>
        <p:nvSpPr>
          <p:cNvPr id="33" name="Text 31"/>
          <p:cNvSpPr/>
          <p:nvPr/>
        </p:nvSpPr>
        <p:spPr>
          <a:xfrm>
            <a:off x="11530584" y="3749040"/>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35.7</a:t>
            </a:r>
            <a:endParaRPr lang="en-US" sz="1030" dirty="0"/>
          </a:p>
        </p:txBody>
      </p:sp>
      <p:sp>
        <p:nvSpPr>
          <p:cNvPr id="34" name="Shape 32"/>
          <p:cNvSpPr/>
          <p:nvPr/>
        </p:nvSpPr>
        <p:spPr>
          <a:xfrm>
            <a:off x="676656" y="4059936"/>
            <a:ext cx="3563112" cy="338328"/>
          </a:xfrm>
          <a:prstGeom prst="rect">
            <a:avLst/>
          </a:prstGeom>
          <a:solidFill>
            <a:srgbClr val="F4F8FD"/>
          </a:solidFill>
          <a:ln w="12700">
            <a:solidFill>
              <a:srgbClr val="F4F8FD">
                <a:alpha val="0"/>
              </a:srgbClr>
            </a:solidFill>
            <a:prstDash val="solid"/>
          </a:ln>
        </p:spPr>
      </p:sp>
      <p:sp>
        <p:nvSpPr>
          <p:cNvPr id="35" name="Text 33"/>
          <p:cNvSpPr/>
          <p:nvPr/>
        </p:nvSpPr>
        <p:spPr>
          <a:xfrm>
            <a:off x="786384" y="4105656"/>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"&lt;2</a:t>
            </a:r>
            <a:endParaRPr lang="en-US" sz="1030" dirty="0"/>
          </a:p>
        </p:txBody>
      </p:sp>
      <p:sp>
        <p:nvSpPr>
          <p:cNvPr id="36" name="Shape 34"/>
          <p:cNvSpPr/>
          <p:nvPr/>
        </p:nvSpPr>
        <p:spPr>
          <a:xfrm>
            <a:off x="4258056" y="4059936"/>
            <a:ext cx="3563112" cy="338328"/>
          </a:xfrm>
          <a:prstGeom prst="rect">
            <a:avLst/>
          </a:prstGeom>
          <a:solidFill>
            <a:srgbClr val="F4F8FD"/>
          </a:solidFill>
          <a:ln w="12700">
            <a:solidFill>
              <a:srgbClr val="F4F8FD">
                <a:alpha val="0"/>
              </a:srgbClr>
            </a:solidFill>
            <a:prstDash val="solid"/>
          </a:ln>
        </p:spPr>
      </p:sp>
      <p:sp>
        <p:nvSpPr>
          <p:cNvPr id="37" name="Text 35"/>
          <p:cNvSpPr/>
          <p:nvPr/>
        </p:nvSpPr>
        <p:spPr>
          <a:xfrm>
            <a:off x="4367784" y="4105656"/>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000 kg"</a:t>
            </a:r>
            <a:endParaRPr lang="en-US" sz="1030" dirty="0"/>
          </a:p>
        </p:txBody>
      </p:sp>
      <p:sp>
        <p:nvSpPr>
          <p:cNvPr id="38" name="Shape 36"/>
          <p:cNvSpPr/>
          <p:nvPr/>
        </p:nvSpPr>
        <p:spPr>
          <a:xfrm>
            <a:off x="7839456" y="4059936"/>
            <a:ext cx="3563112" cy="338328"/>
          </a:xfrm>
          <a:prstGeom prst="rect">
            <a:avLst/>
          </a:prstGeom>
          <a:solidFill>
            <a:srgbClr val="F4F8FD"/>
          </a:solidFill>
          <a:ln w="12700">
            <a:solidFill>
              <a:srgbClr val="F4F8FD">
                <a:alpha val="0"/>
              </a:srgbClr>
            </a:solidFill>
            <a:prstDash val="solid"/>
          </a:ln>
        </p:spPr>
      </p:sp>
      <p:sp>
        <p:nvSpPr>
          <p:cNvPr id="39" name="Text 37"/>
          <p:cNvSpPr/>
          <p:nvPr/>
        </p:nvSpPr>
        <p:spPr>
          <a:xfrm>
            <a:off x="7949184" y="4105656"/>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13</a:t>
            </a:r>
            <a:endParaRPr lang="en-US" sz="1030" dirty="0"/>
          </a:p>
        </p:txBody>
      </p:sp>
      <p:sp>
        <p:nvSpPr>
          <p:cNvPr id="40" name="Shape 38"/>
          <p:cNvSpPr/>
          <p:nvPr/>
        </p:nvSpPr>
        <p:spPr>
          <a:xfrm>
            <a:off x="11420856" y="4059936"/>
            <a:ext cx="3563112" cy="338328"/>
          </a:xfrm>
          <a:prstGeom prst="rect">
            <a:avLst/>
          </a:prstGeom>
          <a:solidFill>
            <a:srgbClr val="F4F8FD"/>
          </a:solidFill>
          <a:ln w="12700">
            <a:solidFill>
              <a:srgbClr val="F4F8FD">
                <a:alpha val="0"/>
              </a:srgbClr>
            </a:solidFill>
            <a:prstDash val="solid"/>
          </a:ln>
        </p:spPr>
      </p:sp>
      <p:sp>
        <p:nvSpPr>
          <p:cNvPr id="41" name="Text 39"/>
          <p:cNvSpPr/>
          <p:nvPr/>
        </p:nvSpPr>
        <p:spPr>
          <a:xfrm>
            <a:off x="11530584" y="4105656"/>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23.1</a:t>
            </a:r>
            <a:endParaRPr lang="en-US" sz="1030" dirty="0"/>
          </a:p>
        </p:txBody>
      </p:sp>
      <p:sp>
        <p:nvSpPr>
          <p:cNvPr id="42" name="Shape 40"/>
          <p:cNvSpPr/>
          <p:nvPr/>
        </p:nvSpPr>
        <p:spPr>
          <a:xfrm>
            <a:off x="676656" y="5449824"/>
            <a:ext cx="10744200" cy="914400"/>
          </a:xfrm>
          <a:prstGeom prst="rect">
            <a:avLst/>
          </a:prstGeom>
          <a:solidFill>
            <a:srgbClr val="F3F8FE"/>
          </a:solidFill>
          <a:ln w="12700">
            <a:solidFill>
              <a:srgbClr val="F3F8FE">
                <a:alpha val="0"/>
              </a:srgbClr>
            </a:solidFill>
            <a:prstDash val="solid"/>
          </a:ln>
        </p:spPr>
      </p:sp>
      <p:sp>
        <p:nvSpPr>
          <p:cNvPr id="43" name="Shape 41"/>
          <p:cNvSpPr/>
          <p:nvPr/>
        </p:nvSpPr>
        <p:spPr>
          <a:xfrm>
            <a:off x="676656" y="5449824"/>
            <a:ext cx="50292" cy="914400"/>
          </a:xfrm>
          <a:prstGeom prst="rect">
            <a:avLst/>
          </a:prstGeom>
          <a:solidFill>
            <a:srgbClr val="1AA6B7"/>
          </a:solidFill>
          <a:ln w="12700">
            <a:solidFill>
              <a:srgbClr val="1AA6B7">
                <a:alpha val="0"/>
              </a:srgbClr>
            </a:solidFill>
            <a:prstDash val="solid"/>
          </a:ln>
        </p:spPr>
      </p:sp>
      <p:sp>
        <p:nvSpPr>
          <p:cNvPr id="44" name="Text 42"/>
          <p:cNvSpPr/>
          <p:nvPr/>
        </p:nvSpPr>
        <p:spPr>
          <a:xfrm>
            <a:off x="877824" y="55778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INTERPRETATION</a:t>
            </a:r>
            <a:endParaRPr lang="en-US" sz="1500" dirty="0"/>
          </a:p>
        </p:txBody>
      </p:sp>
      <p:sp>
        <p:nvSpPr>
          <p:cNvPr id="45" name="Text 43"/>
          <p:cNvSpPr/>
          <p:nvPr/>
        </p:nvSpPr>
        <p:spPr>
          <a:xfrm>
            <a:off x="877824" y="5888736"/>
            <a:ext cx="10351008" cy="4114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payload strata offer descriptive segmentation, not causal impact estimates.</a:t>
            </a:r>
            <a:endParaRPr lang="en-US" sz="13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EDA WITH SQL • ACTUAL QUERY OUTPUT</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09 | Maximum-payload flights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27</a:t>
            </a:r>
            <a:endParaRPr lang="en-US" sz="900" dirty="0"/>
          </a:p>
        </p:txBody>
      </p:sp>
      <p:sp>
        <p:nvSpPr>
          <p:cNvPr id="8" name="Shape 6"/>
          <p:cNvSpPr/>
          <p:nvPr/>
        </p:nvSpPr>
        <p:spPr>
          <a:xfrm>
            <a:off x="667512" y="1600200"/>
            <a:ext cx="10698480" cy="1152144"/>
          </a:xfrm>
          <a:prstGeom prst="rect">
            <a:avLst/>
          </a:prstGeom>
          <a:solidFill>
            <a:srgbClr val="12243C"/>
          </a:solidFill>
          <a:ln w="12700">
            <a:solidFill>
              <a:srgbClr val="12243C">
                <a:alpha val="0"/>
              </a:srgbClr>
            </a:solidFill>
            <a:prstDash val="solid"/>
          </a:ln>
        </p:spPr>
      </p:sp>
      <p:sp>
        <p:nvSpPr>
          <p:cNvPr id="9" name="Text 7"/>
          <p:cNvSpPr/>
          <p:nvPr/>
        </p:nvSpPr>
        <p:spPr>
          <a:xfrm>
            <a:off x="850392" y="1755648"/>
            <a:ext cx="10332720" cy="859536"/>
          </a:xfrm>
          <a:prstGeom prst="rect">
            <a:avLst/>
          </a:prstGeom>
          <a:noFill/>
          <a:ln/>
        </p:spPr>
        <p:txBody>
          <a:bodyPr wrap="square" lIns="0" tIns="0" rIns="0" bIns="0" rtlCol="0" anchor="t">
            <a:normAutofit/>
          </a:bodyPr>
          <a:lstStyle/>
          <a:p>
            <a:pPr indent="0" marL="0">
              <a:buNone/>
            </a:pPr>
            <a:r>
              <a:rPr lang="en-US" sz="1210" dirty="0">
                <a:solidFill>
                  <a:srgbClr val="FFFFFF"/>
                </a:solidFill>
                <a:latin typeface="Consolas" pitchFamily="34" charset="0"/>
                <a:ea typeface="Consolas" pitchFamily="34" charset="-122"/>
                <a:cs typeface="Consolas" pitchFamily="34" charset="-120"/>
              </a:rPr>
              <a:t>SELECT FlightNumber, LaunchSite, BoosterCategory, PayloadMass FROM SPACEXTBL WHERE PayloadMass=(SELECT MAX(PayloadMass) FROM SPACEXTBL)</a:t>
            </a:r>
            <a:endParaRPr lang="en-US" sz="1210" dirty="0"/>
          </a:p>
        </p:txBody>
      </p:sp>
      <p:sp>
        <p:nvSpPr>
          <p:cNvPr id="10" name="Shape 8"/>
          <p:cNvSpPr/>
          <p:nvPr/>
        </p:nvSpPr>
        <p:spPr>
          <a:xfrm>
            <a:off x="676656" y="2944368"/>
            <a:ext cx="2667762" cy="384048"/>
          </a:xfrm>
          <a:prstGeom prst="rect">
            <a:avLst/>
          </a:prstGeom>
          <a:solidFill>
            <a:srgbClr val="1953B6"/>
          </a:solidFill>
          <a:ln w="12700">
            <a:solidFill>
              <a:srgbClr val="1953B6">
                <a:alpha val="0"/>
              </a:srgbClr>
            </a:solidFill>
            <a:prstDash val="solid"/>
          </a:ln>
        </p:spPr>
      </p:sp>
      <p:sp>
        <p:nvSpPr>
          <p:cNvPr id="11" name="Text 9"/>
          <p:cNvSpPr/>
          <p:nvPr/>
        </p:nvSpPr>
        <p:spPr>
          <a:xfrm>
            <a:off x="78638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FlightNumber</a:t>
            </a:r>
            <a:endParaRPr lang="en-US" sz="1140" dirty="0"/>
          </a:p>
        </p:txBody>
      </p:sp>
      <p:sp>
        <p:nvSpPr>
          <p:cNvPr id="12" name="Shape 10"/>
          <p:cNvSpPr/>
          <p:nvPr/>
        </p:nvSpPr>
        <p:spPr>
          <a:xfrm>
            <a:off x="3362706" y="2944368"/>
            <a:ext cx="2667762" cy="384048"/>
          </a:xfrm>
          <a:prstGeom prst="rect">
            <a:avLst/>
          </a:prstGeom>
          <a:solidFill>
            <a:srgbClr val="1953B6"/>
          </a:solidFill>
          <a:ln w="12700">
            <a:solidFill>
              <a:srgbClr val="1953B6">
                <a:alpha val="0"/>
              </a:srgbClr>
            </a:solidFill>
            <a:prstDash val="solid"/>
          </a:ln>
        </p:spPr>
      </p:sp>
      <p:sp>
        <p:nvSpPr>
          <p:cNvPr id="13" name="Text 11"/>
          <p:cNvSpPr/>
          <p:nvPr/>
        </p:nvSpPr>
        <p:spPr>
          <a:xfrm>
            <a:off x="347243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LaunchSite</a:t>
            </a:r>
            <a:endParaRPr lang="en-US" sz="1140" dirty="0"/>
          </a:p>
        </p:txBody>
      </p:sp>
      <p:sp>
        <p:nvSpPr>
          <p:cNvPr id="14" name="Shape 12"/>
          <p:cNvSpPr/>
          <p:nvPr/>
        </p:nvSpPr>
        <p:spPr>
          <a:xfrm>
            <a:off x="6048756" y="2944368"/>
            <a:ext cx="2667762" cy="384048"/>
          </a:xfrm>
          <a:prstGeom prst="rect">
            <a:avLst/>
          </a:prstGeom>
          <a:solidFill>
            <a:srgbClr val="1953B6"/>
          </a:solidFill>
          <a:ln w="12700">
            <a:solidFill>
              <a:srgbClr val="1953B6">
                <a:alpha val="0"/>
              </a:srgbClr>
            </a:solidFill>
            <a:prstDash val="solid"/>
          </a:ln>
        </p:spPr>
      </p:sp>
      <p:sp>
        <p:nvSpPr>
          <p:cNvPr id="15" name="Text 13"/>
          <p:cNvSpPr/>
          <p:nvPr/>
        </p:nvSpPr>
        <p:spPr>
          <a:xfrm>
            <a:off x="615848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BoosterCategory</a:t>
            </a:r>
            <a:endParaRPr lang="en-US" sz="1140" dirty="0"/>
          </a:p>
        </p:txBody>
      </p:sp>
      <p:sp>
        <p:nvSpPr>
          <p:cNvPr id="16" name="Shape 14"/>
          <p:cNvSpPr/>
          <p:nvPr/>
        </p:nvSpPr>
        <p:spPr>
          <a:xfrm>
            <a:off x="8734806" y="2944368"/>
            <a:ext cx="2667762" cy="384048"/>
          </a:xfrm>
          <a:prstGeom prst="rect">
            <a:avLst/>
          </a:prstGeom>
          <a:solidFill>
            <a:srgbClr val="1953B6"/>
          </a:solidFill>
          <a:ln w="12700">
            <a:solidFill>
              <a:srgbClr val="1953B6">
                <a:alpha val="0"/>
              </a:srgbClr>
            </a:solidFill>
            <a:prstDash val="solid"/>
          </a:ln>
        </p:spPr>
      </p:sp>
      <p:sp>
        <p:nvSpPr>
          <p:cNvPr id="17" name="Text 15"/>
          <p:cNvSpPr/>
          <p:nvPr/>
        </p:nvSpPr>
        <p:spPr>
          <a:xfrm>
            <a:off x="8844534" y="2990088"/>
            <a:ext cx="250317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PayloadMass</a:t>
            </a:r>
            <a:endParaRPr lang="en-US" sz="1140" dirty="0"/>
          </a:p>
        </p:txBody>
      </p:sp>
      <p:sp>
        <p:nvSpPr>
          <p:cNvPr id="18" name="Shape 16"/>
          <p:cNvSpPr/>
          <p:nvPr/>
        </p:nvSpPr>
        <p:spPr>
          <a:xfrm>
            <a:off x="676656" y="3346704"/>
            <a:ext cx="2667762" cy="338328"/>
          </a:xfrm>
          <a:prstGeom prst="rect">
            <a:avLst/>
          </a:prstGeom>
          <a:solidFill>
            <a:srgbClr val="F4F8FD"/>
          </a:solidFill>
          <a:ln w="12700">
            <a:solidFill>
              <a:srgbClr val="F4F8FD">
                <a:alpha val="0"/>
              </a:srgbClr>
            </a:solidFill>
            <a:prstDash val="solid"/>
          </a:ln>
        </p:spPr>
      </p:sp>
      <p:sp>
        <p:nvSpPr>
          <p:cNvPr id="19" name="Text 17"/>
          <p:cNvSpPr/>
          <p:nvPr/>
        </p:nvSpPr>
        <p:spPr>
          <a:xfrm>
            <a:off x="78638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29</a:t>
            </a:r>
            <a:endParaRPr lang="en-US" sz="1030" dirty="0"/>
          </a:p>
        </p:txBody>
      </p:sp>
      <p:sp>
        <p:nvSpPr>
          <p:cNvPr id="20" name="Shape 18"/>
          <p:cNvSpPr/>
          <p:nvPr/>
        </p:nvSpPr>
        <p:spPr>
          <a:xfrm>
            <a:off x="3362706" y="3346704"/>
            <a:ext cx="2667762" cy="338328"/>
          </a:xfrm>
          <a:prstGeom prst="rect">
            <a:avLst/>
          </a:prstGeom>
          <a:solidFill>
            <a:srgbClr val="F4F8FD"/>
          </a:solidFill>
          <a:ln w="12700">
            <a:solidFill>
              <a:srgbClr val="F4F8FD">
                <a:alpha val="0"/>
              </a:srgbClr>
            </a:solidFill>
            <a:prstDash val="solid"/>
          </a:ln>
        </p:spPr>
      </p:sp>
      <p:sp>
        <p:nvSpPr>
          <p:cNvPr id="21" name="Text 19"/>
          <p:cNvSpPr/>
          <p:nvPr/>
        </p:nvSpPr>
        <p:spPr>
          <a:xfrm>
            <a:off x="347243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22" name="Shape 20"/>
          <p:cNvSpPr/>
          <p:nvPr/>
        </p:nvSpPr>
        <p:spPr>
          <a:xfrm>
            <a:off x="6048756" y="3346704"/>
            <a:ext cx="2667762" cy="338328"/>
          </a:xfrm>
          <a:prstGeom prst="rect">
            <a:avLst/>
          </a:prstGeom>
          <a:solidFill>
            <a:srgbClr val="F4F8FD"/>
          </a:solidFill>
          <a:ln w="12700">
            <a:solidFill>
              <a:srgbClr val="F4F8FD">
                <a:alpha val="0"/>
              </a:srgbClr>
            </a:solidFill>
            <a:prstDash val="solid"/>
          </a:ln>
        </p:spPr>
      </p:sp>
      <p:sp>
        <p:nvSpPr>
          <p:cNvPr id="23" name="Text 21"/>
          <p:cNvSpPr/>
          <p:nvPr/>
        </p:nvSpPr>
        <p:spPr>
          <a:xfrm>
            <a:off x="615848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FT</a:t>
            </a:r>
            <a:endParaRPr lang="en-US" sz="1030" dirty="0"/>
          </a:p>
        </p:txBody>
      </p:sp>
      <p:sp>
        <p:nvSpPr>
          <p:cNvPr id="24" name="Shape 22"/>
          <p:cNvSpPr/>
          <p:nvPr/>
        </p:nvSpPr>
        <p:spPr>
          <a:xfrm>
            <a:off x="8734806" y="3346704"/>
            <a:ext cx="2667762" cy="338328"/>
          </a:xfrm>
          <a:prstGeom prst="rect">
            <a:avLst/>
          </a:prstGeom>
          <a:solidFill>
            <a:srgbClr val="F4F8FD"/>
          </a:solidFill>
          <a:ln w="12700">
            <a:solidFill>
              <a:srgbClr val="F4F8FD">
                <a:alpha val="0"/>
              </a:srgbClr>
            </a:solidFill>
            <a:prstDash val="solid"/>
          </a:ln>
        </p:spPr>
      </p:sp>
      <p:sp>
        <p:nvSpPr>
          <p:cNvPr id="25" name="Text 23"/>
          <p:cNvSpPr/>
          <p:nvPr/>
        </p:nvSpPr>
        <p:spPr>
          <a:xfrm>
            <a:off x="8844534" y="3392424"/>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26" name="Shape 24"/>
          <p:cNvSpPr/>
          <p:nvPr/>
        </p:nvSpPr>
        <p:spPr>
          <a:xfrm>
            <a:off x="676656" y="3703320"/>
            <a:ext cx="2667762" cy="338328"/>
          </a:xfrm>
          <a:prstGeom prst="rect">
            <a:avLst/>
          </a:prstGeom>
          <a:solidFill>
            <a:srgbClr val="EAF2FB"/>
          </a:solidFill>
          <a:ln w="12700">
            <a:solidFill>
              <a:srgbClr val="EAF2FB">
                <a:alpha val="0"/>
              </a:srgbClr>
            </a:solidFill>
            <a:prstDash val="solid"/>
          </a:ln>
        </p:spPr>
      </p:sp>
      <p:sp>
        <p:nvSpPr>
          <p:cNvPr id="27" name="Text 25"/>
          <p:cNvSpPr/>
          <p:nvPr/>
        </p:nvSpPr>
        <p:spPr>
          <a:xfrm>
            <a:off x="78638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37</a:t>
            </a:r>
            <a:endParaRPr lang="en-US" sz="1030" dirty="0"/>
          </a:p>
        </p:txBody>
      </p:sp>
      <p:sp>
        <p:nvSpPr>
          <p:cNvPr id="28" name="Shape 26"/>
          <p:cNvSpPr/>
          <p:nvPr/>
        </p:nvSpPr>
        <p:spPr>
          <a:xfrm>
            <a:off x="3362706" y="3703320"/>
            <a:ext cx="2667762" cy="338328"/>
          </a:xfrm>
          <a:prstGeom prst="rect">
            <a:avLst/>
          </a:prstGeom>
          <a:solidFill>
            <a:srgbClr val="EAF2FB"/>
          </a:solidFill>
          <a:ln w="12700">
            <a:solidFill>
              <a:srgbClr val="EAF2FB">
                <a:alpha val="0"/>
              </a:srgbClr>
            </a:solidFill>
            <a:prstDash val="solid"/>
          </a:ln>
        </p:spPr>
      </p:sp>
      <p:sp>
        <p:nvSpPr>
          <p:cNvPr id="29" name="Text 27"/>
          <p:cNvSpPr/>
          <p:nvPr/>
        </p:nvSpPr>
        <p:spPr>
          <a:xfrm>
            <a:off x="347243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30" name="Shape 28"/>
          <p:cNvSpPr/>
          <p:nvPr/>
        </p:nvSpPr>
        <p:spPr>
          <a:xfrm>
            <a:off x="6048756" y="3703320"/>
            <a:ext cx="2667762" cy="338328"/>
          </a:xfrm>
          <a:prstGeom prst="rect">
            <a:avLst/>
          </a:prstGeom>
          <a:solidFill>
            <a:srgbClr val="EAF2FB"/>
          </a:solidFill>
          <a:ln w="12700">
            <a:solidFill>
              <a:srgbClr val="EAF2FB">
                <a:alpha val="0"/>
              </a:srgbClr>
            </a:solidFill>
            <a:prstDash val="solid"/>
          </a:ln>
        </p:spPr>
      </p:sp>
      <p:sp>
        <p:nvSpPr>
          <p:cNvPr id="31" name="Text 29"/>
          <p:cNvSpPr/>
          <p:nvPr/>
        </p:nvSpPr>
        <p:spPr>
          <a:xfrm>
            <a:off x="615848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FT</a:t>
            </a:r>
            <a:endParaRPr lang="en-US" sz="1030" dirty="0"/>
          </a:p>
        </p:txBody>
      </p:sp>
      <p:sp>
        <p:nvSpPr>
          <p:cNvPr id="32" name="Shape 30"/>
          <p:cNvSpPr/>
          <p:nvPr/>
        </p:nvSpPr>
        <p:spPr>
          <a:xfrm>
            <a:off x="8734806" y="3703320"/>
            <a:ext cx="2667762" cy="338328"/>
          </a:xfrm>
          <a:prstGeom prst="rect">
            <a:avLst/>
          </a:prstGeom>
          <a:solidFill>
            <a:srgbClr val="EAF2FB"/>
          </a:solidFill>
          <a:ln w="12700">
            <a:solidFill>
              <a:srgbClr val="EAF2FB">
                <a:alpha val="0"/>
              </a:srgbClr>
            </a:solidFill>
            <a:prstDash val="solid"/>
          </a:ln>
        </p:spPr>
      </p:sp>
      <p:sp>
        <p:nvSpPr>
          <p:cNvPr id="33" name="Text 31"/>
          <p:cNvSpPr/>
          <p:nvPr/>
        </p:nvSpPr>
        <p:spPr>
          <a:xfrm>
            <a:off x="8844534" y="3749040"/>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34" name="Shape 32"/>
          <p:cNvSpPr/>
          <p:nvPr/>
        </p:nvSpPr>
        <p:spPr>
          <a:xfrm>
            <a:off x="676656" y="4059936"/>
            <a:ext cx="2667762" cy="338328"/>
          </a:xfrm>
          <a:prstGeom prst="rect">
            <a:avLst/>
          </a:prstGeom>
          <a:solidFill>
            <a:srgbClr val="F4F8FD"/>
          </a:solidFill>
          <a:ln w="12700">
            <a:solidFill>
              <a:srgbClr val="F4F8FD">
                <a:alpha val="0"/>
              </a:srgbClr>
            </a:solidFill>
            <a:prstDash val="solid"/>
          </a:ln>
        </p:spPr>
      </p:sp>
      <p:sp>
        <p:nvSpPr>
          <p:cNvPr id="35" name="Text 33"/>
          <p:cNvSpPr/>
          <p:nvPr/>
        </p:nvSpPr>
        <p:spPr>
          <a:xfrm>
            <a:off x="78638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42</a:t>
            </a:r>
            <a:endParaRPr lang="en-US" sz="1030" dirty="0"/>
          </a:p>
        </p:txBody>
      </p:sp>
      <p:sp>
        <p:nvSpPr>
          <p:cNvPr id="36" name="Shape 34"/>
          <p:cNvSpPr/>
          <p:nvPr/>
        </p:nvSpPr>
        <p:spPr>
          <a:xfrm>
            <a:off x="3362706" y="4059936"/>
            <a:ext cx="2667762" cy="338328"/>
          </a:xfrm>
          <a:prstGeom prst="rect">
            <a:avLst/>
          </a:prstGeom>
          <a:solidFill>
            <a:srgbClr val="F4F8FD"/>
          </a:solidFill>
          <a:ln w="12700">
            <a:solidFill>
              <a:srgbClr val="F4F8FD">
                <a:alpha val="0"/>
              </a:srgbClr>
            </a:solidFill>
            <a:prstDash val="solid"/>
          </a:ln>
        </p:spPr>
      </p:sp>
      <p:sp>
        <p:nvSpPr>
          <p:cNvPr id="37" name="Text 35"/>
          <p:cNvSpPr/>
          <p:nvPr/>
        </p:nvSpPr>
        <p:spPr>
          <a:xfrm>
            <a:off x="347243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38" name="Shape 36"/>
          <p:cNvSpPr/>
          <p:nvPr/>
        </p:nvSpPr>
        <p:spPr>
          <a:xfrm>
            <a:off x="6048756" y="4059936"/>
            <a:ext cx="2667762" cy="338328"/>
          </a:xfrm>
          <a:prstGeom prst="rect">
            <a:avLst/>
          </a:prstGeom>
          <a:solidFill>
            <a:srgbClr val="F4F8FD"/>
          </a:solidFill>
          <a:ln w="12700">
            <a:solidFill>
              <a:srgbClr val="F4F8FD">
                <a:alpha val="0"/>
              </a:srgbClr>
            </a:solidFill>
            <a:prstDash val="solid"/>
          </a:ln>
        </p:spPr>
      </p:sp>
      <p:sp>
        <p:nvSpPr>
          <p:cNvPr id="39" name="Text 37"/>
          <p:cNvSpPr/>
          <p:nvPr/>
        </p:nvSpPr>
        <p:spPr>
          <a:xfrm>
            <a:off x="615848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B4</a:t>
            </a:r>
            <a:endParaRPr lang="en-US" sz="1030" dirty="0"/>
          </a:p>
        </p:txBody>
      </p:sp>
      <p:sp>
        <p:nvSpPr>
          <p:cNvPr id="40" name="Shape 38"/>
          <p:cNvSpPr/>
          <p:nvPr/>
        </p:nvSpPr>
        <p:spPr>
          <a:xfrm>
            <a:off x="8734806" y="4059936"/>
            <a:ext cx="2667762" cy="338328"/>
          </a:xfrm>
          <a:prstGeom prst="rect">
            <a:avLst/>
          </a:prstGeom>
          <a:solidFill>
            <a:srgbClr val="F4F8FD"/>
          </a:solidFill>
          <a:ln w="12700">
            <a:solidFill>
              <a:srgbClr val="F4F8FD">
                <a:alpha val="0"/>
              </a:srgbClr>
            </a:solidFill>
            <a:prstDash val="solid"/>
          </a:ln>
        </p:spPr>
      </p:sp>
      <p:sp>
        <p:nvSpPr>
          <p:cNvPr id="41" name="Text 39"/>
          <p:cNvSpPr/>
          <p:nvPr/>
        </p:nvSpPr>
        <p:spPr>
          <a:xfrm>
            <a:off x="8844534" y="4105656"/>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42" name="Shape 40"/>
          <p:cNvSpPr/>
          <p:nvPr/>
        </p:nvSpPr>
        <p:spPr>
          <a:xfrm>
            <a:off x="676656" y="4416552"/>
            <a:ext cx="2667762" cy="338328"/>
          </a:xfrm>
          <a:prstGeom prst="rect">
            <a:avLst/>
          </a:prstGeom>
          <a:solidFill>
            <a:srgbClr val="EAF2FB"/>
          </a:solidFill>
          <a:ln w="12700">
            <a:solidFill>
              <a:srgbClr val="EAF2FB">
                <a:alpha val="0"/>
              </a:srgbClr>
            </a:solidFill>
            <a:prstDash val="solid"/>
          </a:ln>
        </p:spPr>
      </p:sp>
      <p:sp>
        <p:nvSpPr>
          <p:cNvPr id="43" name="Text 41"/>
          <p:cNvSpPr/>
          <p:nvPr/>
        </p:nvSpPr>
        <p:spPr>
          <a:xfrm>
            <a:off x="78638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46</a:t>
            </a:r>
            <a:endParaRPr lang="en-US" sz="1030" dirty="0"/>
          </a:p>
        </p:txBody>
      </p:sp>
      <p:sp>
        <p:nvSpPr>
          <p:cNvPr id="44" name="Shape 42"/>
          <p:cNvSpPr/>
          <p:nvPr/>
        </p:nvSpPr>
        <p:spPr>
          <a:xfrm>
            <a:off x="3362706" y="4416552"/>
            <a:ext cx="2667762" cy="338328"/>
          </a:xfrm>
          <a:prstGeom prst="rect">
            <a:avLst/>
          </a:prstGeom>
          <a:solidFill>
            <a:srgbClr val="EAF2FB"/>
          </a:solidFill>
          <a:ln w="12700">
            <a:solidFill>
              <a:srgbClr val="EAF2FB">
                <a:alpha val="0"/>
              </a:srgbClr>
            </a:solidFill>
            <a:prstDash val="solid"/>
          </a:ln>
        </p:spPr>
      </p:sp>
      <p:sp>
        <p:nvSpPr>
          <p:cNvPr id="45" name="Text 43"/>
          <p:cNvSpPr/>
          <p:nvPr/>
        </p:nvSpPr>
        <p:spPr>
          <a:xfrm>
            <a:off x="347243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46" name="Shape 44"/>
          <p:cNvSpPr/>
          <p:nvPr/>
        </p:nvSpPr>
        <p:spPr>
          <a:xfrm>
            <a:off x="6048756" y="4416552"/>
            <a:ext cx="2667762" cy="338328"/>
          </a:xfrm>
          <a:prstGeom prst="rect">
            <a:avLst/>
          </a:prstGeom>
          <a:solidFill>
            <a:srgbClr val="EAF2FB"/>
          </a:solidFill>
          <a:ln w="12700">
            <a:solidFill>
              <a:srgbClr val="EAF2FB">
                <a:alpha val="0"/>
              </a:srgbClr>
            </a:solidFill>
            <a:prstDash val="solid"/>
          </a:ln>
        </p:spPr>
      </p:sp>
      <p:sp>
        <p:nvSpPr>
          <p:cNvPr id="47" name="Text 45"/>
          <p:cNvSpPr/>
          <p:nvPr/>
        </p:nvSpPr>
        <p:spPr>
          <a:xfrm>
            <a:off x="615848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FT</a:t>
            </a:r>
            <a:endParaRPr lang="en-US" sz="1030" dirty="0"/>
          </a:p>
        </p:txBody>
      </p:sp>
      <p:sp>
        <p:nvSpPr>
          <p:cNvPr id="48" name="Shape 46"/>
          <p:cNvSpPr/>
          <p:nvPr/>
        </p:nvSpPr>
        <p:spPr>
          <a:xfrm>
            <a:off x="8734806" y="4416552"/>
            <a:ext cx="2667762" cy="338328"/>
          </a:xfrm>
          <a:prstGeom prst="rect">
            <a:avLst/>
          </a:prstGeom>
          <a:solidFill>
            <a:srgbClr val="EAF2FB"/>
          </a:solidFill>
          <a:ln w="12700">
            <a:solidFill>
              <a:srgbClr val="EAF2FB">
                <a:alpha val="0"/>
              </a:srgbClr>
            </a:solidFill>
            <a:prstDash val="solid"/>
          </a:ln>
        </p:spPr>
      </p:sp>
      <p:sp>
        <p:nvSpPr>
          <p:cNvPr id="49" name="Text 47"/>
          <p:cNvSpPr/>
          <p:nvPr/>
        </p:nvSpPr>
        <p:spPr>
          <a:xfrm>
            <a:off x="8844534" y="4462272"/>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50" name="Shape 48"/>
          <p:cNvSpPr/>
          <p:nvPr/>
        </p:nvSpPr>
        <p:spPr>
          <a:xfrm>
            <a:off x="676656" y="4773168"/>
            <a:ext cx="2667762" cy="338328"/>
          </a:xfrm>
          <a:prstGeom prst="rect">
            <a:avLst/>
          </a:prstGeom>
          <a:solidFill>
            <a:srgbClr val="F4F8FD"/>
          </a:solidFill>
          <a:ln w="12700">
            <a:solidFill>
              <a:srgbClr val="F4F8FD">
                <a:alpha val="0"/>
              </a:srgbClr>
            </a:solidFill>
            <a:prstDash val="solid"/>
          </a:ln>
        </p:spPr>
      </p:sp>
      <p:sp>
        <p:nvSpPr>
          <p:cNvPr id="51" name="Text 49"/>
          <p:cNvSpPr/>
          <p:nvPr/>
        </p:nvSpPr>
        <p:spPr>
          <a:xfrm>
            <a:off x="78638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51</a:t>
            </a:r>
            <a:endParaRPr lang="en-US" sz="1030" dirty="0"/>
          </a:p>
        </p:txBody>
      </p:sp>
      <p:sp>
        <p:nvSpPr>
          <p:cNvPr id="52" name="Shape 50"/>
          <p:cNvSpPr/>
          <p:nvPr/>
        </p:nvSpPr>
        <p:spPr>
          <a:xfrm>
            <a:off x="3362706" y="4773168"/>
            <a:ext cx="2667762" cy="338328"/>
          </a:xfrm>
          <a:prstGeom prst="rect">
            <a:avLst/>
          </a:prstGeom>
          <a:solidFill>
            <a:srgbClr val="F4F8FD"/>
          </a:solidFill>
          <a:ln w="12700">
            <a:solidFill>
              <a:srgbClr val="F4F8FD">
                <a:alpha val="0"/>
              </a:srgbClr>
            </a:solidFill>
            <a:prstDash val="solid"/>
          </a:ln>
        </p:spPr>
      </p:sp>
      <p:sp>
        <p:nvSpPr>
          <p:cNvPr id="53" name="Text 51"/>
          <p:cNvSpPr/>
          <p:nvPr/>
        </p:nvSpPr>
        <p:spPr>
          <a:xfrm>
            <a:off x="347243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54" name="Shape 52"/>
          <p:cNvSpPr/>
          <p:nvPr/>
        </p:nvSpPr>
        <p:spPr>
          <a:xfrm>
            <a:off x="6048756" y="4773168"/>
            <a:ext cx="2667762" cy="338328"/>
          </a:xfrm>
          <a:prstGeom prst="rect">
            <a:avLst/>
          </a:prstGeom>
          <a:solidFill>
            <a:srgbClr val="F4F8FD"/>
          </a:solidFill>
          <a:ln w="12700">
            <a:solidFill>
              <a:srgbClr val="F4F8FD">
                <a:alpha val="0"/>
              </a:srgbClr>
            </a:solidFill>
            <a:prstDash val="solid"/>
          </a:ln>
        </p:spPr>
      </p:sp>
      <p:sp>
        <p:nvSpPr>
          <p:cNvPr id="55" name="Text 53"/>
          <p:cNvSpPr/>
          <p:nvPr/>
        </p:nvSpPr>
        <p:spPr>
          <a:xfrm>
            <a:off x="615848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B4</a:t>
            </a:r>
            <a:endParaRPr lang="en-US" sz="1030" dirty="0"/>
          </a:p>
        </p:txBody>
      </p:sp>
      <p:sp>
        <p:nvSpPr>
          <p:cNvPr id="56" name="Shape 54"/>
          <p:cNvSpPr/>
          <p:nvPr/>
        </p:nvSpPr>
        <p:spPr>
          <a:xfrm>
            <a:off x="8734806" y="4773168"/>
            <a:ext cx="2667762" cy="338328"/>
          </a:xfrm>
          <a:prstGeom prst="rect">
            <a:avLst/>
          </a:prstGeom>
          <a:solidFill>
            <a:srgbClr val="F4F8FD"/>
          </a:solidFill>
          <a:ln w="12700">
            <a:solidFill>
              <a:srgbClr val="F4F8FD">
                <a:alpha val="0"/>
              </a:srgbClr>
            </a:solidFill>
            <a:prstDash val="solid"/>
          </a:ln>
        </p:spPr>
      </p:sp>
      <p:sp>
        <p:nvSpPr>
          <p:cNvPr id="57" name="Text 55"/>
          <p:cNvSpPr/>
          <p:nvPr/>
        </p:nvSpPr>
        <p:spPr>
          <a:xfrm>
            <a:off x="8844534" y="4818888"/>
            <a:ext cx="250317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9600.0</a:t>
            </a:r>
            <a:endParaRPr lang="en-US" sz="1030" dirty="0"/>
          </a:p>
        </p:txBody>
      </p:sp>
      <p:sp>
        <p:nvSpPr>
          <p:cNvPr id="58" name="Shape 56"/>
          <p:cNvSpPr/>
          <p:nvPr/>
        </p:nvSpPr>
        <p:spPr>
          <a:xfrm>
            <a:off x="676656" y="5449824"/>
            <a:ext cx="10744200" cy="914400"/>
          </a:xfrm>
          <a:prstGeom prst="rect">
            <a:avLst/>
          </a:prstGeom>
          <a:solidFill>
            <a:srgbClr val="F3F8FE"/>
          </a:solidFill>
          <a:ln w="12700">
            <a:solidFill>
              <a:srgbClr val="F3F8FE">
                <a:alpha val="0"/>
              </a:srgbClr>
            </a:solidFill>
            <a:prstDash val="solid"/>
          </a:ln>
        </p:spPr>
      </p:sp>
      <p:sp>
        <p:nvSpPr>
          <p:cNvPr id="59" name="Shape 57"/>
          <p:cNvSpPr/>
          <p:nvPr/>
        </p:nvSpPr>
        <p:spPr>
          <a:xfrm>
            <a:off x="676656" y="5449824"/>
            <a:ext cx="50292" cy="914400"/>
          </a:xfrm>
          <a:prstGeom prst="rect">
            <a:avLst/>
          </a:prstGeom>
          <a:solidFill>
            <a:srgbClr val="1AA6B7"/>
          </a:solidFill>
          <a:ln w="12700">
            <a:solidFill>
              <a:srgbClr val="1AA6B7">
                <a:alpha val="0"/>
              </a:srgbClr>
            </a:solidFill>
            <a:prstDash val="solid"/>
          </a:ln>
        </p:spPr>
      </p:sp>
      <p:sp>
        <p:nvSpPr>
          <p:cNvPr id="60" name="Text 58"/>
          <p:cNvSpPr/>
          <p:nvPr/>
        </p:nvSpPr>
        <p:spPr>
          <a:xfrm>
            <a:off x="877824" y="55778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INTERPRETATION</a:t>
            </a:r>
            <a:endParaRPr lang="en-US" sz="1500" dirty="0"/>
          </a:p>
        </p:txBody>
      </p:sp>
      <p:sp>
        <p:nvSpPr>
          <p:cNvPr id="61" name="Text 59"/>
          <p:cNvSpPr/>
          <p:nvPr/>
        </p:nvSpPr>
        <p:spPr>
          <a:xfrm>
            <a:off x="877824" y="5888736"/>
            <a:ext cx="10351008" cy="4114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Multiple launches can tie for the maximum mass; the query returns all matching cases.</a:t>
            </a:r>
            <a:endParaRPr lang="en-US" sz="13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EDA WITH SQL • ACTUAL QUERY OUTPUT</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SQL 10 | Launch-site rank by successes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28</a:t>
            </a:r>
            <a:endParaRPr lang="en-US" sz="900" dirty="0"/>
          </a:p>
        </p:txBody>
      </p:sp>
      <p:sp>
        <p:nvSpPr>
          <p:cNvPr id="8" name="Shape 6"/>
          <p:cNvSpPr/>
          <p:nvPr/>
        </p:nvSpPr>
        <p:spPr>
          <a:xfrm>
            <a:off x="667512" y="1600200"/>
            <a:ext cx="10698480" cy="1152144"/>
          </a:xfrm>
          <a:prstGeom prst="rect">
            <a:avLst/>
          </a:prstGeom>
          <a:solidFill>
            <a:srgbClr val="12243C"/>
          </a:solidFill>
          <a:ln w="12700">
            <a:solidFill>
              <a:srgbClr val="12243C">
                <a:alpha val="0"/>
              </a:srgbClr>
            </a:solidFill>
            <a:prstDash val="solid"/>
          </a:ln>
        </p:spPr>
      </p:sp>
      <p:sp>
        <p:nvSpPr>
          <p:cNvPr id="9" name="Text 7"/>
          <p:cNvSpPr/>
          <p:nvPr/>
        </p:nvSpPr>
        <p:spPr>
          <a:xfrm>
            <a:off x="850392" y="1755648"/>
            <a:ext cx="10332720" cy="859536"/>
          </a:xfrm>
          <a:prstGeom prst="rect">
            <a:avLst/>
          </a:prstGeom>
          <a:noFill/>
          <a:ln/>
        </p:spPr>
        <p:txBody>
          <a:bodyPr wrap="square" lIns="0" tIns="0" rIns="0" bIns="0" rtlCol="0" anchor="t">
            <a:normAutofit/>
          </a:bodyPr>
          <a:lstStyle/>
          <a:p>
            <a:pPr indent="0" marL="0">
              <a:buNone/>
            </a:pPr>
            <a:r>
              <a:rPr lang="en-US" sz="1210" dirty="0">
                <a:solidFill>
                  <a:srgbClr val="FFFFFF"/>
                </a:solidFill>
                <a:latin typeface="Consolas" pitchFamily="34" charset="0"/>
                <a:ea typeface="Consolas" pitchFamily="34" charset="-122"/>
                <a:cs typeface="Consolas" pitchFamily="34" charset="-120"/>
              </a:rPr>
              <a:t>SELECT LaunchSite, COUNT(*) AS flights, SUM(Class) AS successes FROM SPACEXTBL GROUP BY LaunchSite ORDER BY successes DESC</a:t>
            </a:r>
            <a:endParaRPr lang="en-US" sz="1210" dirty="0"/>
          </a:p>
        </p:txBody>
      </p:sp>
      <p:sp>
        <p:nvSpPr>
          <p:cNvPr id="10" name="Shape 8"/>
          <p:cNvSpPr/>
          <p:nvPr/>
        </p:nvSpPr>
        <p:spPr>
          <a:xfrm>
            <a:off x="676656" y="2944368"/>
            <a:ext cx="3563112" cy="384048"/>
          </a:xfrm>
          <a:prstGeom prst="rect">
            <a:avLst/>
          </a:prstGeom>
          <a:solidFill>
            <a:srgbClr val="1953B6"/>
          </a:solidFill>
          <a:ln w="12700">
            <a:solidFill>
              <a:srgbClr val="1953B6">
                <a:alpha val="0"/>
              </a:srgbClr>
            </a:solidFill>
            <a:prstDash val="solid"/>
          </a:ln>
        </p:spPr>
      </p:sp>
      <p:sp>
        <p:nvSpPr>
          <p:cNvPr id="11" name="Text 9"/>
          <p:cNvSpPr/>
          <p:nvPr/>
        </p:nvSpPr>
        <p:spPr>
          <a:xfrm>
            <a:off x="786384" y="2990088"/>
            <a:ext cx="33985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LaunchSite</a:t>
            </a:r>
            <a:endParaRPr lang="en-US" sz="1140" dirty="0"/>
          </a:p>
        </p:txBody>
      </p:sp>
      <p:sp>
        <p:nvSpPr>
          <p:cNvPr id="12" name="Shape 10"/>
          <p:cNvSpPr/>
          <p:nvPr/>
        </p:nvSpPr>
        <p:spPr>
          <a:xfrm>
            <a:off x="4258056" y="2944368"/>
            <a:ext cx="3563112" cy="384048"/>
          </a:xfrm>
          <a:prstGeom prst="rect">
            <a:avLst/>
          </a:prstGeom>
          <a:solidFill>
            <a:srgbClr val="1953B6"/>
          </a:solidFill>
          <a:ln w="12700">
            <a:solidFill>
              <a:srgbClr val="1953B6">
                <a:alpha val="0"/>
              </a:srgbClr>
            </a:solidFill>
            <a:prstDash val="solid"/>
          </a:ln>
        </p:spPr>
      </p:sp>
      <p:sp>
        <p:nvSpPr>
          <p:cNvPr id="13" name="Text 11"/>
          <p:cNvSpPr/>
          <p:nvPr/>
        </p:nvSpPr>
        <p:spPr>
          <a:xfrm>
            <a:off x="4367784" y="2990088"/>
            <a:ext cx="33985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flights</a:t>
            </a:r>
            <a:endParaRPr lang="en-US" sz="1140" dirty="0"/>
          </a:p>
        </p:txBody>
      </p:sp>
      <p:sp>
        <p:nvSpPr>
          <p:cNvPr id="14" name="Shape 12"/>
          <p:cNvSpPr/>
          <p:nvPr/>
        </p:nvSpPr>
        <p:spPr>
          <a:xfrm>
            <a:off x="7839456" y="2944368"/>
            <a:ext cx="3563112" cy="384048"/>
          </a:xfrm>
          <a:prstGeom prst="rect">
            <a:avLst/>
          </a:prstGeom>
          <a:solidFill>
            <a:srgbClr val="1953B6"/>
          </a:solidFill>
          <a:ln w="12700">
            <a:solidFill>
              <a:srgbClr val="1953B6">
                <a:alpha val="0"/>
              </a:srgbClr>
            </a:solidFill>
            <a:prstDash val="solid"/>
          </a:ln>
        </p:spPr>
      </p:sp>
      <p:sp>
        <p:nvSpPr>
          <p:cNvPr id="15" name="Text 13"/>
          <p:cNvSpPr/>
          <p:nvPr/>
        </p:nvSpPr>
        <p:spPr>
          <a:xfrm>
            <a:off x="7949184" y="2990088"/>
            <a:ext cx="339852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successes</a:t>
            </a:r>
            <a:endParaRPr lang="en-US" sz="1140" dirty="0"/>
          </a:p>
        </p:txBody>
      </p:sp>
      <p:sp>
        <p:nvSpPr>
          <p:cNvPr id="16" name="Shape 14"/>
          <p:cNvSpPr/>
          <p:nvPr/>
        </p:nvSpPr>
        <p:spPr>
          <a:xfrm>
            <a:off x="676656" y="3346704"/>
            <a:ext cx="3563112" cy="338328"/>
          </a:xfrm>
          <a:prstGeom prst="rect">
            <a:avLst/>
          </a:prstGeom>
          <a:solidFill>
            <a:srgbClr val="F4F8FD"/>
          </a:solidFill>
          <a:ln w="12700">
            <a:solidFill>
              <a:srgbClr val="F4F8FD">
                <a:alpha val="0"/>
              </a:srgbClr>
            </a:solidFill>
            <a:prstDash val="solid"/>
          </a:ln>
        </p:spPr>
      </p:sp>
      <p:sp>
        <p:nvSpPr>
          <p:cNvPr id="17" name="Text 15"/>
          <p:cNvSpPr/>
          <p:nvPr/>
        </p:nvSpPr>
        <p:spPr>
          <a:xfrm>
            <a:off x="7863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KSC LC-39A</a:t>
            </a:r>
            <a:endParaRPr lang="en-US" sz="1030" dirty="0"/>
          </a:p>
        </p:txBody>
      </p:sp>
      <p:sp>
        <p:nvSpPr>
          <p:cNvPr id="18" name="Shape 16"/>
          <p:cNvSpPr/>
          <p:nvPr/>
        </p:nvSpPr>
        <p:spPr>
          <a:xfrm>
            <a:off x="4258056" y="3346704"/>
            <a:ext cx="3563112" cy="338328"/>
          </a:xfrm>
          <a:prstGeom prst="rect">
            <a:avLst/>
          </a:prstGeom>
          <a:solidFill>
            <a:srgbClr val="F4F8FD"/>
          </a:solidFill>
          <a:ln w="12700">
            <a:solidFill>
              <a:srgbClr val="F4F8FD">
                <a:alpha val="0"/>
              </a:srgbClr>
            </a:solidFill>
            <a:prstDash val="solid"/>
          </a:ln>
        </p:spPr>
      </p:sp>
      <p:sp>
        <p:nvSpPr>
          <p:cNvPr id="19" name="Text 17"/>
          <p:cNvSpPr/>
          <p:nvPr/>
        </p:nvSpPr>
        <p:spPr>
          <a:xfrm>
            <a:off x="43677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13</a:t>
            </a:r>
            <a:endParaRPr lang="en-US" sz="1030" dirty="0"/>
          </a:p>
        </p:txBody>
      </p:sp>
      <p:sp>
        <p:nvSpPr>
          <p:cNvPr id="20" name="Shape 18"/>
          <p:cNvSpPr/>
          <p:nvPr/>
        </p:nvSpPr>
        <p:spPr>
          <a:xfrm>
            <a:off x="7839456" y="3346704"/>
            <a:ext cx="3563112" cy="338328"/>
          </a:xfrm>
          <a:prstGeom prst="rect">
            <a:avLst/>
          </a:prstGeom>
          <a:solidFill>
            <a:srgbClr val="F4F8FD"/>
          </a:solidFill>
          <a:ln w="12700">
            <a:solidFill>
              <a:srgbClr val="F4F8FD">
                <a:alpha val="0"/>
              </a:srgbClr>
            </a:solidFill>
            <a:prstDash val="solid"/>
          </a:ln>
        </p:spPr>
      </p:sp>
      <p:sp>
        <p:nvSpPr>
          <p:cNvPr id="21" name="Text 19"/>
          <p:cNvSpPr/>
          <p:nvPr/>
        </p:nvSpPr>
        <p:spPr>
          <a:xfrm>
            <a:off x="7949184" y="3392424"/>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10</a:t>
            </a:r>
            <a:endParaRPr lang="en-US" sz="1030" dirty="0"/>
          </a:p>
        </p:txBody>
      </p:sp>
      <p:sp>
        <p:nvSpPr>
          <p:cNvPr id="22" name="Shape 20"/>
          <p:cNvSpPr/>
          <p:nvPr/>
        </p:nvSpPr>
        <p:spPr>
          <a:xfrm>
            <a:off x="676656" y="3703320"/>
            <a:ext cx="3563112" cy="338328"/>
          </a:xfrm>
          <a:prstGeom prst="rect">
            <a:avLst/>
          </a:prstGeom>
          <a:solidFill>
            <a:srgbClr val="EAF2FB"/>
          </a:solidFill>
          <a:ln w="12700">
            <a:solidFill>
              <a:srgbClr val="EAF2FB">
                <a:alpha val="0"/>
              </a:srgbClr>
            </a:solidFill>
            <a:prstDash val="solid"/>
          </a:ln>
        </p:spPr>
      </p:sp>
      <p:sp>
        <p:nvSpPr>
          <p:cNvPr id="23" name="Text 21"/>
          <p:cNvSpPr/>
          <p:nvPr/>
        </p:nvSpPr>
        <p:spPr>
          <a:xfrm>
            <a:off x="786384" y="3749040"/>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LC-40</a:t>
            </a:r>
            <a:endParaRPr lang="en-US" sz="1030" dirty="0"/>
          </a:p>
        </p:txBody>
      </p:sp>
      <p:sp>
        <p:nvSpPr>
          <p:cNvPr id="24" name="Shape 22"/>
          <p:cNvSpPr/>
          <p:nvPr/>
        </p:nvSpPr>
        <p:spPr>
          <a:xfrm>
            <a:off x="4258056" y="3703320"/>
            <a:ext cx="3563112" cy="338328"/>
          </a:xfrm>
          <a:prstGeom prst="rect">
            <a:avLst/>
          </a:prstGeom>
          <a:solidFill>
            <a:srgbClr val="EAF2FB"/>
          </a:solidFill>
          <a:ln w="12700">
            <a:solidFill>
              <a:srgbClr val="EAF2FB">
                <a:alpha val="0"/>
              </a:srgbClr>
            </a:solidFill>
            <a:prstDash val="solid"/>
          </a:ln>
        </p:spPr>
      </p:sp>
      <p:sp>
        <p:nvSpPr>
          <p:cNvPr id="25" name="Text 23"/>
          <p:cNvSpPr/>
          <p:nvPr/>
        </p:nvSpPr>
        <p:spPr>
          <a:xfrm>
            <a:off x="4367784" y="3749040"/>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26</a:t>
            </a:r>
            <a:endParaRPr lang="en-US" sz="1030" dirty="0"/>
          </a:p>
        </p:txBody>
      </p:sp>
      <p:sp>
        <p:nvSpPr>
          <p:cNvPr id="26" name="Shape 24"/>
          <p:cNvSpPr/>
          <p:nvPr/>
        </p:nvSpPr>
        <p:spPr>
          <a:xfrm>
            <a:off x="7839456" y="3703320"/>
            <a:ext cx="3563112" cy="338328"/>
          </a:xfrm>
          <a:prstGeom prst="rect">
            <a:avLst/>
          </a:prstGeom>
          <a:solidFill>
            <a:srgbClr val="EAF2FB"/>
          </a:solidFill>
          <a:ln w="12700">
            <a:solidFill>
              <a:srgbClr val="EAF2FB">
                <a:alpha val="0"/>
              </a:srgbClr>
            </a:solidFill>
            <a:prstDash val="solid"/>
          </a:ln>
        </p:spPr>
      </p:sp>
      <p:sp>
        <p:nvSpPr>
          <p:cNvPr id="27" name="Text 25"/>
          <p:cNvSpPr/>
          <p:nvPr/>
        </p:nvSpPr>
        <p:spPr>
          <a:xfrm>
            <a:off x="7949184" y="3749040"/>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a:t>
            </a:r>
            <a:endParaRPr lang="en-US" sz="1030" dirty="0"/>
          </a:p>
        </p:txBody>
      </p:sp>
      <p:sp>
        <p:nvSpPr>
          <p:cNvPr id="28" name="Shape 26"/>
          <p:cNvSpPr/>
          <p:nvPr/>
        </p:nvSpPr>
        <p:spPr>
          <a:xfrm>
            <a:off x="676656" y="4059936"/>
            <a:ext cx="3563112" cy="338328"/>
          </a:xfrm>
          <a:prstGeom prst="rect">
            <a:avLst/>
          </a:prstGeom>
          <a:solidFill>
            <a:srgbClr val="F4F8FD"/>
          </a:solidFill>
          <a:ln w="12700">
            <a:solidFill>
              <a:srgbClr val="F4F8FD">
                <a:alpha val="0"/>
              </a:srgbClr>
            </a:solidFill>
            <a:prstDash val="solid"/>
          </a:ln>
        </p:spPr>
      </p:sp>
      <p:sp>
        <p:nvSpPr>
          <p:cNvPr id="29" name="Text 27"/>
          <p:cNvSpPr/>
          <p:nvPr/>
        </p:nvSpPr>
        <p:spPr>
          <a:xfrm>
            <a:off x="786384" y="4105656"/>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VAFB SLC-4E</a:t>
            </a:r>
            <a:endParaRPr lang="en-US" sz="1030" dirty="0"/>
          </a:p>
        </p:txBody>
      </p:sp>
      <p:sp>
        <p:nvSpPr>
          <p:cNvPr id="30" name="Shape 28"/>
          <p:cNvSpPr/>
          <p:nvPr/>
        </p:nvSpPr>
        <p:spPr>
          <a:xfrm>
            <a:off x="4258056" y="4059936"/>
            <a:ext cx="3563112" cy="338328"/>
          </a:xfrm>
          <a:prstGeom prst="rect">
            <a:avLst/>
          </a:prstGeom>
          <a:solidFill>
            <a:srgbClr val="F4F8FD"/>
          </a:solidFill>
          <a:ln w="12700">
            <a:solidFill>
              <a:srgbClr val="F4F8FD">
                <a:alpha val="0"/>
              </a:srgbClr>
            </a:solidFill>
            <a:prstDash val="solid"/>
          </a:ln>
        </p:spPr>
      </p:sp>
      <p:sp>
        <p:nvSpPr>
          <p:cNvPr id="31" name="Text 29"/>
          <p:cNvSpPr/>
          <p:nvPr/>
        </p:nvSpPr>
        <p:spPr>
          <a:xfrm>
            <a:off x="4367784" y="4105656"/>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10</a:t>
            </a:r>
            <a:endParaRPr lang="en-US" sz="1030" dirty="0"/>
          </a:p>
        </p:txBody>
      </p:sp>
      <p:sp>
        <p:nvSpPr>
          <p:cNvPr id="32" name="Shape 30"/>
          <p:cNvSpPr/>
          <p:nvPr/>
        </p:nvSpPr>
        <p:spPr>
          <a:xfrm>
            <a:off x="7839456" y="4059936"/>
            <a:ext cx="3563112" cy="338328"/>
          </a:xfrm>
          <a:prstGeom prst="rect">
            <a:avLst/>
          </a:prstGeom>
          <a:solidFill>
            <a:srgbClr val="F4F8FD"/>
          </a:solidFill>
          <a:ln w="12700">
            <a:solidFill>
              <a:srgbClr val="F4F8FD">
                <a:alpha val="0"/>
              </a:srgbClr>
            </a:solidFill>
            <a:prstDash val="solid"/>
          </a:ln>
        </p:spPr>
      </p:sp>
      <p:sp>
        <p:nvSpPr>
          <p:cNvPr id="33" name="Text 31"/>
          <p:cNvSpPr/>
          <p:nvPr/>
        </p:nvSpPr>
        <p:spPr>
          <a:xfrm>
            <a:off x="7949184" y="4105656"/>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4</a:t>
            </a:r>
            <a:endParaRPr lang="en-US" sz="1030" dirty="0"/>
          </a:p>
        </p:txBody>
      </p:sp>
      <p:sp>
        <p:nvSpPr>
          <p:cNvPr id="34" name="Shape 32"/>
          <p:cNvSpPr/>
          <p:nvPr/>
        </p:nvSpPr>
        <p:spPr>
          <a:xfrm>
            <a:off x="676656" y="4416552"/>
            <a:ext cx="3563112" cy="338328"/>
          </a:xfrm>
          <a:prstGeom prst="rect">
            <a:avLst/>
          </a:prstGeom>
          <a:solidFill>
            <a:srgbClr val="EAF2FB"/>
          </a:solidFill>
          <a:ln w="12700">
            <a:solidFill>
              <a:srgbClr val="EAF2FB">
                <a:alpha val="0"/>
              </a:srgbClr>
            </a:solidFill>
            <a:prstDash val="solid"/>
          </a:ln>
        </p:spPr>
      </p:sp>
      <p:sp>
        <p:nvSpPr>
          <p:cNvPr id="35" name="Text 33"/>
          <p:cNvSpPr/>
          <p:nvPr/>
        </p:nvSpPr>
        <p:spPr>
          <a:xfrm>
            <a:off x="786384" y="4462272"/>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CCAFS SLC-40</a:t>
            </a:r>
            <a:endParaRPr lang="en-US" sz="1030" dirty="0"/>
          </a:p>
        </p:txBody>
      </p:sp>
      <p:sp>
        <p:nvSpPr>
          <p:cNvPr id="36" name="Shape 34"/>
          <p:cNvSpPr/>
          <p:nvPr/>
        </p:nvSpPr>
        <p:spPr>
          <a:xfrm>
            <a:off x="4258056" y="4416552"/>
            <a:ext cx="3563112" cy="338328"/>
          </a:xfrm>
          <a:prstGeom prst="rect">
            <a:avLst/>
          </a:prstGeom>
          <a:solidFill>
            <a:srgbClr val="EAF2FB"/>
          </a:solidFill>
          <a:ln w="12700">
            <a:solidFill>
              <a:srgbClr val="EAF2FB">
                <a:alpha val="0"/>
              </a:srgbClr>
            </a:solidFill>
            <a:prstDash val="solid"/>
          </a:ln>
        </p:spPr>
      </p:sp>
      <p:sp>
        <p:nvSpPr>
          <p:cNvPr id="37" name="Text 35"/>
          <p:cNvSpPr/>
          <p:nvPr/>
        </p:nvSpPr>
        <p:spPr>
          <a:xfrm>
            <a:off x="4367784" y="4462272"/>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a:t>
            </a:r>
            <a:endParaRPr lang="en-US" sz="1030" dirty="0"/>
          </a:p>
        </p:txBody>
      </p:sp>
      <p:sp>
        <p:nvSpPr>
          <p:cNvPr id="38" name="Shape 36"/>
          <p:cNvSpPr/>
          <p:nvPr/>
        </p:nvSpPr>
        <p:spPr>
          <a:xfrm>
            <a:off x="7839456" y="4416552"/>
            <a:ext cx="3563112" cy="338328"/>
          </a:xfrm>
          <a:prstGeom prst="rect">
            <a:avLst/>
          </a:prstGeom>
          <a:solidFill>
            <a:srgbClr val="EAF2FB"/>
          </a:solidFill>
          <a:ln w="12700">
            <a:solidFill>
              <a:srgbClr val="EAF2FB">
                <a:alpha val="0"/>
              </a:srgbClr>
            </a:solidFill>
            <a:prstDash val="solid"/>
          </a:ln>
        </p:spPr>
      </p:sp>
      <p:sp>
        <p:nvSpPr>
          <p:cNvPr id="39" name="Text 37"/>
          <p:cNvSpPr/>
          <p:nvPr/>
        </p:nvSpPr>
        <p:spPr>
          <a:xfrm>
            <a:off x="7949184" y="4462272"/>
            <a:ext cx="339852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3</a:t>
            </a:r>
            <a:endParaRPr lang="en-US" sz="1030" dirty="0"/>
          </a:p>
        </p:txBody>
      </p:sp>
      <p:sp>
        <p:nvSpPr>
          <p:cNvPr id="40" name="Shape 38"/>
          <p:cNvSpPr/>
          <p:nvPr/>
        </p:nvSpPr>
        <p:spPr>
          <a:xfrm>
            <a:off x="676656" y="5449824"/>
            <a:ext cx="10744200" cy="914400"/>
          </a:xfrm>
          <a:prstGeom prst="rect">
            <a:avLst/>
          </a:prstGeom>
          <a:solidFill>
            <a:srgbClr val="F3F8FE"/>
          </a:solidFill>
          <a:ln w="12700">
            <a:solidFill>
              <a:srgbClr val="F3F8FE">
                <a:alpha val="0"/>
              </a:srgbClr>
            </a:solidFill>
            <a:prstDash val="solid"/>
          </a:ln>
        </p:spPr>
      </p:sp>
      <p:sp>
        <p:nvSpPr>
          <p:cNvPr id="41" name="Shape 39"/>
          <p:cNvSpPr/>
          <p:nvPr/>
        </p:nvSpPr>
        <p:spPr>
          <a:xfrm>
            <a:off x="676656" y="5449824"/>
            <a:ext cx="50292" cy="914400"/>
          </a:xfrm>
          <a:prstGeom prst="rect">
            <a:avLst/>
          </a:prstGeom>
          <a:solidFill>
            <a:srgbClr val="1AA6B7"/>
          </a:solidFill>
          <a:ln w="12700">
            <a:solidFill>
              <a:srgbClr val="1AA6B7">
                <a:alpha val="0"/>
              </a:srgbClr>
            </a:solidFill>
            <a:prstDash val="solid"/>
          </a:ln>
        </p:spPr>
      </p:sp>
      <p:sp>
        <p:nvSpPr>
          <p:cNvPr id="42" name="Text 40"/>
          <p:cNvSpPr/>
          <p:nvPr/>
        </p:nvSpPr>
        <p:spPr>
          <a:xfrm>
            <a:off x="877824" y="5577840"/>
            <a:ext cx="1037844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INTERPRETATION</a:t>
            </a:r>
            <a:endParaRPr lang="en-US" sz="1500" dirty="0"/>
          </a:p>
        </p:txBody>
      </p:sp>
      <p:sp>
        <p:nvSpPr>
          <p:cNvPr id="43" name="Text 41"/>
          <p:cNvSpPr/>
          <p:nvPr/>
        </p:nvSpPr>
        <p:spPr>
          <a:xfrm>
            <a:off x="877824" y="5888736"/>
            <a:ext cx="10351008" cy="4114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Number of recoveries reflects both underlying success rate and how frequently each site was used.</a:t>
            </a:r>
            <a:endParaRPr lang="en-US" sz="13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Folium 01 | Geographic launch-site markers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29</a:t>
            </a:r>
            <a:endParaRPr lang="en-US" sz="900" dirty="0"/>
          </a:p>
        </p:txBody>
      </p:sp>
      <p:pic>
        <p:nvPicPr>
          <p:cNvPr id="8" name="Image 0" descr="/mnt/data/SpaceX_IBM_Final_Evidence/map_site_coordinates.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Three distinct geographic positions are visible; two Cape Canaveral labels share one coordinate.</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Marker area indicates sample count. Interactive Folium HTML is included in supporting assets.</a:t>
            </a:r>
            <a:endParaRPr lang="en-US" sz="13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Folium 02 | Outcome-coded launch locations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30</a:t>
            </a:r>
            <a:endParaRPr lang="en-US" sz="900" dirty="0"/>
          </a:p>
        </p:txBody>
      </p:sp>
      <p:pic>
        <p:nvPicPr>
          <p:cNvPr id="8" name="Image 0" descr="/mnt/data/SpaceX_IBM_Final_Evidence/success_by_site.png">    </p:cNvPr>
          <p:cNvPicPr>
            <a:picLocks noChangeAspect="1"/>
          </p:cNvPicPr>
          <p:nvPr/>
        </p:nvPicPr>
        <p:blipFill>
          <a:blip r:embed="rId1"/>
          <a:stretch>
            <a:fillRect/>
          </a:stretch>
        </p:blipFill>
        <p:spPr>
          <a:xfrm>
            <a:off x="658368" y="1563624"/>
            <a:ext cx="7498080" cy="4261104"/>
          </a:xfrm>
          <a:prstGeom prst="rect">
            <a:avLst/>
          </a:prstGeom>
        </p:spPr>
      </p:pic>
      <p:sp>
        <p:nvSpPr>
          <p:cNvPr id="9" name="Shape 6"/>
          <p:cNvSpPr/>
          <p:nvPr/>
        </p:nvSpPr>
        <p:spPr>
          <a:xfrm>
            <a:off x="8421624" y="1783080"/>
            <a:ext cx="3044952" cy="1965960"/>
          </a:xfrm>
          <a:prstGeom prst="rect">
            <a:avLst/>
          </a:prstGeom>
          <a:solidFill>
            <a:srgbClr val="F3F8FE"/>
          </a:solidFill>
          <a:ln w="12700">
            <a:solidFill>
              <a:srgbClr val="F3F8FE">
                <a:alpha val="0"/>
              </a:srgbClr>
            </a:solidFill>
            <a:prstDash val="solid"/>
          </a:ln>
        </p:spPr>
      </p:sp>
      <p:sp>
        <p:nvSpPr>
          <p:cNvPr id="10" name="Shape 7"/>
          <p:cNvSpPr/>
          <p:nvPr/>
        </p:nvSpPr>
        <p:spPr>
          <a:xfrm>
            <a:off x="8421624" y="1783080"/>
            <a:ext cx="50292" cy="1965960"/>
          </a:xfrm>
          <a:prstGeom prst="rect">
            <a:avLst/>
          </a:prstGeom>
          <a:solidFill>
            <a:srgbClr val="1AA6B7"/>
          </a:solidFill>
          <a:ln w="12700">
            <a:solidFill>
              <a:srgbClr val="1AA6B7">
                <a:alpha val="0"/>
              </a:srgbClr>
            </a:solidFill>
            <a:prstDash val="solid"/>
          </a:ln>
        </p:spPr>
      </p:sp>
      <p:sp>
        <p:nvSpPr>
          <p:cNvPr id="11" name="Text 8"/>
          <p:cNvSpPr/>
          <p:nvPr/>
        </p:nvSpPr>
        <p:spPr>
          <a:xfrm>
            <a:off x="8622792" y="1911096"/>
            <a:ext cx="2679192"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MAP INTERPRETATION</a:t>
            </a:r>
            <a:endParaRPr lang="en-US" sz="1500" dirty="0"/>
          </a:p>
        </p:txBody>
      </p:sp>
      <p:sp>
        <p:nvSpPr>
          <p:cNvPr id="12" name="Text 9"/>
          <p:cNvSpPr/>
          <p:nvPr/>
        </p:nvSpPr>
        <p:spPr>
          <a:xfrm>
            <a:off x="8622792" y="2221992"/>
            <a:ext cx="2651760" cy="146304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Site-specific percentages can be added as tooltip labels in Folium. Different denominators make direct visual comparisons uncertain.</a:t>
            </a:r>
            <a:endParaRPr lang="en-US" sz="1320" dirty="0"/>
          </a:p>
        </p:txBody>
      </p:sp>
      <p:sp>
        <p:nvSpPr>
          <p:cNvPr id="13" name="Shape 10"/>
          <p:cNvSpPr/>
          <p:nvPr/>
        </p:nvSpPr>
        <p:spPr>
          <a:xfrm>
            <a:off x="8421624" y="4050792"/>
            <a:ext cx="3044952" cy="1545336"/>
          </a:xfrm>
          <a:prstGeom prst="rect">
            <a:avLst/>
          </a:prstGeom>
          <a:solidFill>
            <a:srgbClr val="F3F8FE"/>
          </a:solidFill>
          <a:ln w="12700">
            <a:solidFill>
              <a:srgbClr val="F3F8FE">
                <a:alpha val="0"/>
              </a:srgbClr>
            </a:solidFill>
            <a:prstDash val="solid"/>
          </a:ln>
        </p:spPr>
      </p:sp>
      <p:sp>
        <p:nvSpPr>
          <p:cNvPr id="14" name="Shape 11"/>
          <p:cNvSpPr/>
          <p:nvPr/>
        </p:nvSpPr>
        <p:spPr>
          <a:xfrm>
            <a:off x="8421624" y="4050792"/>
            <a:ext cx="50292" cy="1545336"/>
          </a:xfrm>
          <a:prstGeom prst="rect">
            <a:avLst/>
          </a:prstGeom>
          <a:solidFill>
            <a:srgbClr val="1AA6B7"/>
          </a:solidFill>
          <a:ln w="12700">
            <a:solidFill>
              <a:srgbClr val="1AA6B7">
                <a:alpha val="0"/>
              </a:srgbClr>
            </a:solidFill>
            <a:prstDash val="solid"/>
          </a:ln>
        </p:spPr>
      </p:sp>
      <p:sp>
        <p:nvSpPr>
          <p:cNvPr id="15" name="Text 12"/>
          <p:cNvSpPr/>
          <p:nvPr/>
        </p:nvSpPr>
        <p:spPr>
          <a:xfrm>
            <a:off x="8622792" y="4178808"/>
            <a:ext cx="2679192"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OUTPUT EVIDENCE</a:t>
            </a:r>
            <a:endParaRPr lang="en-US" sz="1500" dirty="0"/>
          </a:p>
        </p:txBody>
      </p:sp>
      <p:sp>
        <p:nvSpPr>
          <p:cNvPr id="16" name="Text 13"/>
          <p:cNvSpPr/>
          <p:nvPr/>
        </p:nvSpPr>
        <p:spPr>
          <a:xfrm>
            <a:off x="8622792" y="4489704"/>
            <a:ext cx="2651760" cy="10424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companion folium_site_map.html holds actual clickable site markers with success totals. This slide combines a quantitative companion plot rather than pretending a screenshot.</a:t>
            </a:r>
            <a:endParaRPr lang="en-US" sz="13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Folium 03 | Proximity and infrastructure limits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31</a:t>
            </a:r>
            <a:endParaRPr lang="en-US" sz="900" dirty="0"/>
          </a:p>
        </p:txBody>
      </p:sp>
      <p:pic>
        <p:nvPicPr>
          <p:cNvPr id="8" name="Image 0" descr="/mnt/data/SpaceX_IBM_Final_Evidence/map_site_coordinates.png">    </p:cNvPr>
          <p:cNvPicPr>
            <a:picLocks noChangeAspect="1"/>
          </p:cNvPicPr>
          <p:nvPr/>
        </p:nvPicPr>
        <p:blipFill>
          <a:blip r:embed="rId1"/>
          <a:stretch>
            <a:fillRect/>
          </a:stretch>
        </p:blipFill>
        <p:spPr>
          <a:xfrm>
            <a:off x="630936" y="1545336"/>
            <a:ext cx="7589520" cy="4297680"/>
          </a:xfrm>
          <a:prstGeom prst="rect">
            <a:avLst/>
          </a:prstGeom>
        </p:spPr>
      </p:pic>
      <p:sp>
        <p:nvSpPr>
          <p:cNvPr id="9" name="Shape 6"/>
          <p:cNvSpPr/>
          <p:nvPr/>
        </p:nvSpPr>
        <p:spPr>
          <a:xfrm>
            <a:off x="8430768" y="1691640"/>
            <a:ext cx="3044952" cy="1645920"/>
          </a:xfrm>
          <a:prstGeom prst="rect">
            <a:avLst/>
          </a:prstGeom>
          <a:solidFill>
            <a:srgbClr val="F3F8FE"/>
          </a:solidFill>
          <a:ln w="12700">
            <a:solidFill>
              <a:srgbClr val="F3F8FE">
                <a:alpha val="0"/>
              </a:srgbClr>
            </a:solidFill>
            <a:prstDash val="solid"/>
          </a:ln>
        </p:spPr>
      </p:sp>
      <p:sp>
        <p:nvSpPr>
          <p:cNvPr id="10" name="Shape 7"/>
          <p:cNvSpPr/>
          <p:nvPr/>
        </p:nvSpPr>
        <p:spPr>
          <a:xfrm>
            <a:off x="8430768" y="1691640"/>
            <a:ext cx="50292" cy="1645920"/>
          </a:xfrm>
          <a:prstGeom prst="rect">
            <a:avLst/>
          </a:prstGeom>
          <a:solidFill>
            <a:srgbClr val="1AA6B7"/>
          </a:solidFill>
          <a:ln w="12700">
            <a:solidFill>
              <a:srgbClr val="1AA6B7">
                <a:alpha val="0"/>
              </a:srgbClr>
            </a:solidFill>
            <a:prstDash val="solid"/>
          </a:ln>
        </p:spPr>
      </p:sp>
      <p:sp>
        <p:nvSpPr>
          <p:cNvPr id="11" name="Text 8"/>
          <p:cNvSpPr/>
          <p:nvPr/>
        </p:nvSpPr>
        <p:spPr>
          <a:xfrm>
            <a:off x="8631936" y="1819656"/>
            <a:ext cx="2679192"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COASTAL LOCATION</a:t>
            </a:r>
            <a:endParaRPr lang="en-US" sz="1500" dirty="0"/>
          </a:p>
        </p:txBody>
      </p:sp>
      <p:sp>
        <p:nvSpPr>
          <p:cNvPr id="12" name="Text 9"/>
          <p:cNvSpPr/>
          <p:nvPr/>
        </p:nvSpPr>
        <p:spPr>
          <a:xfrm>
            <a:off x="8631936" y="2130552"/>
            <a:ext cx="2651760" cy="114300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Florida and California pads are placed near coastlines. The supplied data contain coordinates only.</a:t>
            </a:r>
            <a:endParaRPr lang="en-US" sz="1320" dirty="0"/>
          </a:p>
        </p:txBody>
      </p:sp>
      <p:sp>
        <p:nvSpPr>
          <p:cNvPr id="13" name="Shape 10"/>
          <p:cNvSpPr/>
          <p:nvPr/>
        </p:nvSpPr>
        <p:spPr>
          <a:xfrm>
            <a:off x="8430768" y="3630168"/>
            <a:ext cx="3044952" cy="2002536"/>
          </a:xfrm>
          <a:prstGeom prst="rect">
            <a:avLst/>
          </a:prstGeom>
          <a:solidFill>
            <a:srgbClr val="F3F8FE"/>
          </a:solidFill>
          <a:ln w="12700">
            <a:solidFill>
              <a:srgbClr val="F3F8FE">
                <a:alpha val="0"/>
              </a:srgbClr>
            </a:solidFill>
            <a:prstDash val="solid"/>
          </a:ln>
        </p:spPr>
      </p:sp>
      <p:sp>
        <p:nvSpPr>
          <p:cNvPr id="14" name="Shape 11"/>
          <p:cNvSpPr/>
          <p:nvPr/>
        </p:nvSpPr>
        <p:spPr>
          <a:xfrm>
            <a:off x="8430768" y="3630168"/>
            <a:ext cx="50292" cy="2002536"/>
          </a:xfrm>
          <a:prstGeom prst="rect">
            <a:avLst/>
          </a:prstGeom>
          <a:solidFill>
            <a:srgbClr val="1AA6B7"/>
          </a:solidFill>
          <a:ln w="12700">
            <a:solidFill>
              <a:srgbClr val="1AA6B7">
                <a:alpha val="0"/>
              </a:srgbClr>
            </a:solidFill>
            <a:prstDash val="solid"/>
          </a:ln>
        </p:spPr>
      </p:sp>
      <p:sp>
        <p:nvSpPr>
          <p:cNvPr id="15" name="Text 12"/>
          <p:cNvSpPr/>
          <p:nvPr/>
        </p:nvSpPr>
        <p:spPr>
          <a:xfrm>
            <a:off x="8631936" y="3758184"/>
            <a:ext cx="2679192"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DISTANCE REQUIREMENTS</a:t>
            </a:r>
            <a:endParaRPr lang="en-US" sz="1500" dirty="0"/>
          </a:p>
        </p:txBody>
      </p:sp>
      <p:sp>
        <p:nvSpPr>
          <p:cNvPr id="16" name="Text 13"/>
          <p:cNvSpPr/>
          <p:nvPr/>
        </p:nvSpPr>
        <p:spPr>
          <a:xfrm>
            <a:off x="8631936" y="4069080"/>
            <a:ext cx="2651760" cy="14996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Distances to railways, highways, or coastlines cannot be verified without geometry or map layers; no invented kilometer measurements are shown.</a:t>
            </a:r>
            <a:endParaRPr lang="en-US" sz="132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Dashboard 01 | Overall outcome proportions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32</a:t>
            </a:r>
            <a:endParaRPr lang="en-US" sz="900" dirty="0"/>
          </a:p>
        </p:txBody>
      </p:sp>
      <p:pic>
        <p:nvPicPr>
          <p:cNvPr id="8" name="Image 0" descr="/mnt/data/SpaceX_IBM_Final_Evidence/success_by_booster.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Historical recoveries are not evenly distributed across booster categories.</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implemented dashboard should allow users to choose all sites or an individual pad.</a:t>
            </a:r>
            <a:endParaRPr lang="en-US" sz="132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Dashboard 02 | Compare launch sites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33</a:t>
            </a:r>
            <a:endParaRPr lang="en-US" sz="900" dirty="0"/>
          </a:p>
        </p:txBody>
      </p:sp>
      <p:pic>
        <p:nvPicPr>
          <p:cNvPr id="8" name="Image 0" descr="/mnt/data/SpaceX_IBM_Final_Evidence/success_by_site.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A site-dropdown view isolates the landing rates and denominator at each site.</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Use the exact selected subset when comparing outcomes; do not infer a site causal effect.</a:t>
            </a:r>
            <a:endParaRPr lang="en-US" sz="13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Dashboard 03 | Payload range and outcome</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34</a:t>
            </a:r>
            <a:endParaRPr lang="en-US" sz="900" dirty="0"/>
          </a:p>
        </p:txBody>
      </p:sp>
      <p:pic>
        <p:nvPicPr>
          <p:cNvPr id="8" name="Image 0" descr="/mnt/data/SpaceX_IBM_Final_Evidence/payload_outcome.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A payload range slider can isolate different regions of the observed recovery labels.</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This static dashboard evidence comes from generated data plots, not an executed browser screenshot.</a:t>
            </a:r>
            <a:endParaRPr lang="en-US" sz="13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Machine learning | Four-model comparison</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35</a:t>
            </a:r>
            <a:endParaRPr lang="en-US" sz="900" dirty="0"/>
          </a:p>
        </p:txBody>
      </p:sp>
      <p:pic>
        <p:nvPicPr>
          <p:cNvPr id="8" name="Image 0" descr="/mnt/data/SpaceX_IBM_Final_Evidence/model_accuracy.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SVM has the highest cross-validation accuracy (78.6%); logistic regression ties its held-out score.</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42 training rows; 14 test rows; 3-fold CV. These are actual locally computed sample results.</a:t>
            </a:r>
            <a:endParaRPr lang="en-US" sz="13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Best model | Confusion matrix</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36</a:t>
            </a:r>
            <a:endParaRPr lang="en-US" sz="900" dirty="0"/>
          </a:p>
        </p:txBody>
      </p:sp>
      <p:pic>
        <p:nvPicPr>
          <p:cNvPr id="8" name="Image 0" descr="/mnt/data/SpaceX_IBM_Final_Evidence/model_confusion.png">    </p:cNvPr>
          <p:cNvPicPr>
            <a:picLocks noChangeAspect="1"/>
          </p:cNvPicPr>
          <p:nvPr/>
        </p:nvPicPr>
        <p:blipFill>
          <a:blip r:embed="rId1"/>
          <a:stretch>
            <a:fillRect/>
          </a:stretch>
        </p:blipFill>
        <p:spPr>
          <a:xfrm>
            <a:off x="621792" y="1481328"/>
            <a:ext cx="7708392" cy="4361688"/>
          </a:xfrm>
          <a:prstGeom prst="rect">
            <a:avLst/>
          </a:prstGeom>
        </p:spPr>
      </p:pic>
      <p:sp>
        <p:nvSpPr>
          <p:cNvPr id="9" name="Shape 6"/>
          <p:cNvSpPr/>
          <p:nvPr/>
        </p:nvSpPr>
        <p:spPr>
          <a:xfrm>
            <a:off x="8412480" y="1627632"/>
            <a:ext cx="3072384" cy="2231136"/>
          </a:xfrm>
          <a:prstGeom prst="rect">
            <a:avLst/>
          </a:prstGeom>
          <a:solidFill>
            <a:srgbClr val="F3F8FE"/>
          </a:solidFill>
          <a:ln w="12700">
            <a:solidFill>
              <a:srgbClr val="F3F8FE">
                <a:alpha val="0"/>
              </a:srgbClr>
            </a:solidFill>
            <a:prstDash val="solid"/>
          </a:ln>
        </p:spPr>
      </p:sp>
      <p:sp>
        <p:nvSpPr>
          <p:cNvPr id="10" name="Shape 7"/>
          <p:cNvSpPr/>
          <p:nvPr/>
        </p:nvSpPr>
        <p:spPr>
          <a:xfrm>
            <a:off x="8412480" y="1627632"/>
            <a:ext cx="50292" cy="2231136"/>
          </a:xfrm>
          <a:prstGeom prst="rect">
            <a:avLst/>
          </a:prstGeom>
          <a:solidFill>
            <a:srgbClr val="1AA6B7"/>
          </a:solidFill>
          <a:ln w="12700">
            <a:solidFill>
              <a:srgbClr val="1AA6B7">
                <a:alpha val="0"/>
              </a:srgbClr>
            </a:solidFill>
            <a:prstDash val="solid"/>
          </a:ln>
        </p:spPr>
      </p:sp>
      <p:sp>
        <p:nvSpPr>
          <p:cNvPr id="11" name="Text 8"/>
          <p:cNvSpPr/>
          <p:nvPr/>
        </p:nvSpPr>
        <p:spPr>
          <a:xfrm>
            <a:off x="8613648" y="1755648"/>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WHAT THE RESULT SHOWS</a:t>
            </a:r>
            <a:endParaRPr lang="en-US" sz="1500" dirty="0"/>
          </a:p>
        </p:txBody>
      </p:sp>
      <p:sp>
        <p:nvSpPr>
          <p:cNvPr id="12" name="Text 9"/>
          <p:cNvSpPr/>
          <p:nvPr/>
        </p:nvSpPr>
        <p:spPr>
          <a:xfrm>
            <a:off x="8613648" y="2066544"/>
            <a:ext cx="2679192" cy="1728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confusion matrix shows which Class labels the tuned SVM misclassified. False positive and false negative implications differ.</a:t>
            </a:r>
            <a:endParaRPr lang="en-US" sz="1320" dirty="0"/>
          </a:p>
        </p:txBody>
      </p:sp>
      <p:sp>
        <p:nvSpPr>
          <p:cNvPr id="13" name="Shape 10"/>
          <p:cNvSpPr/>
          <p:nvPr/>
        </p:nvSpPr>
        <p:spPr>
          <a:xfrm>
            <a:off x="8412480" y="4059936"/>
            <a:ext cx="3072384" cy="1682496"/>
          </a:xfrm>
          <a:prstGeom prst="rect">
            <a:avLst/>
          </a:prstGeom>
          <a:solidFill>
            <a:srgbClr val="F3F8FE"/>
          </a:solidFill>
          <a:ln w="12700">
            <a:solidFill>
              <a:srgbClr val="F3F8FE">
                <a:alpha val="0"/>
              </a:srgbClr>
            </a:solidFill>
            <a:prstDash val="solid"/>
          </a:ln>
        </p:spPr>
      </p:sp>
      <p:sp>
        <p:nvSpPr>
          <p:cNvPr id="14" name="Shape 11"/>
          <p:cNvSpPr/>
          <p:nvPr/>
        </p:nvSpPr>
        <p:spPr>
          <a:xfrm>
            <a:off x="8412480" y="4059936"/>
            <a:ext cx="50292" cy="1682496"/>
          </a:xfrm>
          <a:prstGeom prst="rect">
            <a:avLst/>
          </a:prstGeom>
          <a:solidFill>
            <a:srgbClr val="1AA6B7"/>
          </a:solidFill>
          <a:ln w="12700">
            <a:solidFill>
              <a:srgbClr val="1AA6B7">
                <a:alpha val="0"/>
              </a:srgbClr>
            </a:solidFill>
            <a:prstDash val="solid"/>
          </a:ln>
        </p:spPr>
      </p:sp>
      <p:sp>
        <p:nvSpPr>
          <p:cNvPr id="15" name="Text 12"/>
          <p:cNvSpPr/>
          <p:nvPr/>
        </p:nvSpPr>
        <p:spPr>
          <a:xfrm>
            <a:off x="8613648" y="4187952"/>
            <a:ext cx="270662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HOW TO READ IT</a:t>
            </a:r>
            <a:endParaRPr lang="en-US" sz="1500" dirty="0"/>
          </a:p>
        </p:txBody>
      </p:sp>
      <p:sp>
        <p:nvSpPr>
          <p:cNvPr id="16" name="Text 13"/>
          <p:cNvSpPr/>
          <p:nvPr/>
        </p:nvSpPr>
        <p:spPr>
          <a:xfrm>
            <a:off x="8613648" y="4498848"/>
            <a:ext cx="2679192" cy="117957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Use this to supplement accuracy, which can be misleading in a small dataset.</a:t>
            </a:r>
            <a:endParaRPr lang="en-US" sz="132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Predictive performance | Validation vs test</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37</a:t>
            </a:r>
            <a:endParaRPr lang="en-US" sz="900" dirty="0"/>
          </a:p>
        </p:txBody>
      </p:sp>
      <p:sp>
        <p:nvSpPr>
          <p:cNvPr id="8" name="Shape 6"/>
          <p:cNvSpPr/>
          <p:nvPr/>
        </p:nvSpPr>
        <p:spPr>
          <a:xfrm>
            <a:off x="694944" y="1755648"/>
            <a:ext cx="3578352" cy="384048"/>
          </a:xfrm>
          <a:prstGeom prst="rect">
            <a:avLst/>
          </a:prstGeom>
          <a:solidFill>
            <a:srgbClr val="1953B6"/>
          </a:solidFill>
          <a:ln w="12700">
            <a:solidFill>
              <a:srgbClr val="1953B6">
                <a:alpha val="0"/>
              </a:srgbClr>
            </a:solidFill>
            <a:prstDash val="solid"/>
          </a:ln>
        </p:spPr>
      </p:sp>
      <p:sp>
        <p:nvSpPr>
          <p:cNvPr id="9" name="Text 7"/>
          <p:cNvSpPr/>
          <p:nvPr/>
        </p:nvSpPr>
        <p:spPr>
          <a:xfrm>
            <a:off x="804672" y="1801368"/>
            <a:ext cx="341376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Model</a:t>
            </a:r>
            <a:endParaRPr lang="en-US" sz="1140" dirty="0"/>
          </a:p>
        </p:txBody>
      </p:sp>
      <p:sp>
        <p:nvSpPr>
          <p:cNvPr id="10" name="Shape 8"/>
          <p:cNvSpPr/>
          <p:nvPr/>
        </p:nvSpPr>
        <p:spPr>
          <a:xfrm>
            <a:off x="4291584" y="1755648"/>
            <a:ext cx="3578352" cy="384048"/>
          </a:xfrm>
          <a:prstGeom prst="rect">
            <a:avLst/>
          </a:prstGeom>
          <a:solidFill>
            <a:srgbClr val="1953B6"/>
          </a:solidFill>
          <a:ln w="12700">
            <a:solidFill>
              <a:srgbClr val="1953B6">
                <a:alpha val="0"/>
              </a:srgbClr>
            </a:solidFill>
            <a:prstDash val="solid"/>
          </a:ln>
        </p:spPr>
      </p:sp>
      <p:sp>
        <p:nvSpPr>
          <p:cNvPr id="11" name="Text 9"/>
          <p:cNvSpPr/>
          <p:nvPr/>
        </p:nvSpPr>
        <p:spPr>
          <a:xfrm>
            <a:off x="4401312" y="1801368"/>
            <a:ext cx="341376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CV accuracy</a:t>
            </a:r>
            <a:endParaRPr lang="en-US" sz="1140" dirty="0"/>
          </a:p>
        </p:txBody>
      </p:sp>
      <p:sp>
        <p:nvSpPr>
          <p:cNvPr id="12" name="Shape 10"/>
          <p:cNvSpPr/>
          <p:nvPr/>
        </p:nvSpPr>
        <p:spPr>
          <a:xfrm>
            <a:off x="7888224" y="1755648"/>
            <a:ext cx="3578352" cy="384048"/>
          </a:xfrm>
          <a:prstGeom prst="rect">
            <a:avLst/>
          </a:prstGeom>
          <a:solidFill>
            <a:srgbClr val="1953B6"/>
          </a:solidFill>
          <a:ln w="12700">
            <a:solidFill>
              <a:srgbClr val="1953B6">
                <a:alpha val="0"/>
              </a:srgbClr>
            </a:solidFill>
            <a:prstDash val="solid"/>
          </a:ln>
        </p:spPr>
      </p:sp>
      <p:sp>
        <p:nvSpPr>
          <p:cNvPr id="13" name="Text 11"/>
          <p:cNvSpPr/>
          <p:nvPr/>
        </p:nvSpPr>
        <p:spPr>
          <a:xfrm>
            <a:off x="7997952" y="1801368"/>
            <a:ext cx="3413760" cy="265176"/>
          </a:xfrm>
          <a:prstGeom prst="rect">
            <a:avLst/>
          </a:prstGeom>
          <a:noFill/>
          <a:ln/>
        </p:spPr>
        <p:txBody>
          <a:bodyPr wrap="square" lIns="0" tIns="0" rIns="0" bIns="0" rtlCol="0" anchor="ctr">
            <a:normAutofit/>
          </a:bodyPr>
          <a:lstStyle/>
          <a:p>
            <a:pPr indent="0" marL="0">
              <a:buNone/>
            </a:pPr>
            <a:r>
              <a:rPr lang="en-US" sz="1140" b="1" dirty="0">
                <a:solidFill>
                  <a:srgbClr val="FFFFFF"/>
                </a:solidFill>
                <a:latin typeface="Aptos" pitchFamily="34" charset="0"/>
                <a:ea typeface="Aptos" pitchFamily="34" charset="-122"/>
                <a:cs typeface="Aptos" pitchFamily="34" charset="-120"/>
              </a:rPr>
              <a:t>Test accuracy</a:t>
            </a:r>
            <a:endParaRPr lang="en-US" sz="1140" dirty="0"/>
          </a:p>
        </p:txBody>
      </p:sp>
      <p:sp>
        <p:nvSpPr>
          <p:cNvPr id="14" name="Shape 12"/>
          <p:cNvSpPr/>
          <p:nvPr/>
        </p:nvSpPr>
        <p:spPr>
          <a:xfrm>
            <a:off x="694944" y="2157984"/>
            <a:ext cx="3578352" cy="338328"/>
          </a:xfrm>
          <a:prstGeom prst="rect">
            <a:avLst/>
          </a:prstGeom>
          <a:solidFill>
            <a:srgbClr val="F4F8FD"/>
          </a:solidFill>
          <a:ln w="12700">
            <a:solidFill>
              <a:srgbClr val="F4F8FD">
                <a:alpha val="0"/>
              </a:srgbClr>
            </a:solidFill>
            <a:prstDash val="solid"/>
          </a:ln>
        </p:spPr>
      </p:sp>
      <p:sp>
        <p:nvSpPr>
          <p:cNvPr id="15" name="Text 13"/>
          <p:cNvSpPr/>
          <p:nvPr/>
        </p:nvSpPr>
        <p:spPr>
          <a:xfrm>
            <a:off x="804672" y="2203704"/>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SVM</a:t>
            </a:r>
            <a:endParaRPr lang="en-US" sz="1030" dirty="0"/>
          </a:p>
        </p:txBody>
      </p:sp>
      <p:sp>
        <p:nvSpPr>
          <p:cNvPr id="16" name="Shape 14"/>
          <p:cNvSpPr/>
          <p:nvPr/>
        </p:nvSpPr>
        <p:spPr>
          <a:xfrm>
            <a:off x="4291584" y="2157984"/>
            <a:ext cx="3578352" cy="338328"/>
          </a:xfrm>
          <a:prstGeom prst="rect">
            <a:avLst/>
          </a:prstGeom>
          <a:solidFill>
            <a:srgbClr val="F4F8FD"/>
          </a:solidFill>
          <a:ln w="12700">
            <a:solidFill>
              <a:srgbClr val="F4F8FD">
                <a:alpha val="0"/>
              </a:srgbClr>
            </a:solidFill>
            <a:prstDash val="solid"/>
          </a:ln>
        </p:spPr>
      </p:sp>
      <p:sp>
        <p:nvSpPr>
          <p:cNvPr id="17" name="Text 15"/>
          <p:cNvSpPr/>
          <p:nvPr/>
        </p:nvSpPr>
        <p:spPr>
          <a:xfrm>
            <a:off x="4401312" y="2203704"/>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78.6%</a:t>
            </a:r>
            <a:endParaRPr lang="en-US" sz="1030" dirty="0"/>
          </a:p>
        </p:txBody>
      </p:sp>
      <p:sp>
        <p:nvSpPr>
          <p:cNvPr id="18" name="Shape 16"/>
          <p:cNvSpPr/>
          <p:nvPr/>
        </p:nvSpPr>
        <p:spPr>
          <a:xfrm>
            <a:off x="7888224" y="2157984"/>
            <a:ext cx="3578352" cy="338328"/>
          </a:xfrm>
          <a:prstGeom prst="rect">
            <a:avLst/>
          </a:prstGeom>
          <a:solidFill>
            <a:srgbClr val="F4F8FD"/>
          </a:solidFill>
          <a:ln w="12700">
            <a:solidFill>
              <a:srgbClr val="F4F8FD">
                <a:alpha val="0"/>
              </a:srgbClr>
            </a:solidFill>
            <a:prstDash val="solid"/>
          </a:ln>
        </p:spPr>
      </p:sp>
      <p:sp>
        <p:nvSpPr>
          <p:cNvPr id="19" name="Text 17"/>
          <p:cNvSpPr/>
          <p:nvPr/>
        </p:nvSpPr>
        <p:spPr>
          <a:xfrm>
            <a:off x="7997952" y="2203704"/>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78.6%</a:t>
            </a:r>
            <a:endParaRPr lang="en-US" sz="1030" dirty="0"/>
          </a:p>
        </p:txBody>
      </p:sp>
      <p:sp>
        <p:nvSpPr>
          <p:cNvPr id="20" name="Shape 18"/>
          <p:cNvSpPr/>
          <p:nvPr/>
        </p:nvSpPr>
        <p:spPr>
          <a:xfrm>
            <a:off x="694944" y="2514600"/>
            <a:ext cx="3578352" cy="338328"/>
          </a:xfrm>
          <a:prstGeom prst="rect">
            <a:avLst/>
          </a:prstGeom>
          <a:solidFill>
            <a:srgbClr val="EAF2FB"/>
          </a:solidFill>
          <a:ln w="12700">
            <a:solidFill>
              <a:srgbClr val="EAF2FB">
                <a:alpha val="0"/>
              </a:srgbClr>
            </a:solidFill>
            <a:prstDash val="solid"/>
          </a:ln>
        </p:spPr>
      </p:sp>
      <p:sp>
        <p:nvSpPr>
          <p:cNvPr id="21" name="Text 19"/>
          <p:cNvSpPr/>
          <p:nvPr/>
        </p:nvSpPr>
        <p:spPr>
          <a:xfrm>
            <a:off x="804672" y="2560320"/>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Logistic regression</a:t>
            </a:r>
            <a:endParaRPr lang="en-US" sz="1030" dirty="0"/>
          </a:p>
        </p:txBody>
      </p:sp>
      <p:sp>
        <p:nvSpPr>
          <p:cNvPr id="22" name="Shape 20"/>
          <p:cNvSpPr/>
          <p:nvPr/>
        </p:nvSpPr>
        <p:spPr>
          <a:xfrm>
            <a:off x="4291584" y="2514600"/>
            <a:ext cx="3578352" cy="338328"/>
          </a:xfrm>
          <a:prstGeom prst="rect">
            <a:avLst/>
          </a:prstGeom>
          <a:solidFill>
            <a:srgbClr val="EAF2FB"/>
          </a:solidFill>
          <a:ln w="12700">
            <a:solidFill>
              <a:srgbClr val="EAF2FB">
                <a:alpha val="0"/>
              </a:srgbClr>
            </a:solidFill>
            <a:prstDash val="solid"/>
          </a:ln>
        </p:spPr>
      </p:sp>
      <p:sp>
        <p:nvSpPr>
          <p:cNvPr id="23" name="Text 21"/>
          <p:cNvSpPr/>
          <p:nvPr/>
        </p:nvSpPr>
        <p:spPr>
          <a:xfrm>
            <a:off x="4401312" y="2560320"/>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73.8%</a:t>
            </a:r>
            <a:endParaRPr lang="en-US" sz="1030" dirty="0"/>
          </a:p>
        </p:txBody>
      </p:sp>
      <p:sp>
        <p:nvSpPr>
          <p:cNvPr id="24" name="Shape 22"/>
          <p:cNvSpPr/>
          <p:nvPr/>
        </p:nvSpPr>
        <p:spPr>
          <a:xfrm>
            <a:off x="7888224" y="2514600"/>
            <a:ext cx="3578352" cy="338328"/>
          </a:xfrm>
          <a:prstGeom prst="rect">
            <a:avLst/>
          </a:prstGeom>
          <a:solidFill>
            <a:srgbClr val="EAF2FB"/>
          </a:solidFill>
          <a:ln w="12700">
            <a:solidFill>
              <a:srgbClr val="EAF2FB">
                <a:alpha val="0"/>
              </a:srgbClr>
            </a:solidFill>
            <a:prstDash val="solid"/>
          </a:ln>
        </p:spPr>
      </p:sp>
      <p:sp>
        <p:nvSpPr>
          <p:cNvPr id="25" name="Text 23"/>
          <p:cNvSpPr/>
          <p:nvPr/>
        </p:nvSpPr>
        <p:spPr>
          <a:xfrm>
            <a:off x="7997952" y="2560320"/>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78.6%</a:t>
            </a:r>
            <a:endParaRPr lang="en-US" sz="1030" dirty="0"/>
          </a:p>
        </p:txBody>
      </p:sp>
      <p:sp>
        <p:nvSpPr>
          <p:cNvPr id="26" name="Shape 24"/>
          <p:cNvSpPr/>
          <p:nvPr/>
        </p:nvSpPr>
        <p:spPr>
          <a:xfrm>
            <a:off x="694944" y="2871216"/>
            <a:ext cx="3578352" cy="338328"/>
          </a:xfrm>
          <a:prstGeom prst="rect">
            <a:avLst/>
          </a:prstGeom>
          <a:solidFill>
            <a:srgbClr val="F4F8FD"/>
          </a:solidFill>
          <a:ln w="12700">
            <a:solidFill>
              <a:srgbClr val="F4F8FD">
                <a:alpha val="0"/>
              </a:srgbClr>
            </a:solidFill>
            <a:prstDash val="solid"/>
          </a:ln>
        </p:spPr>
      </p:sp>
      <p:sp>
        <p:nvSpPr>
          <p:cNvPr id="27" name="Text 25"/>
          <p:cNvSpPr/>
          <p:nvPr/>
        </p:nvSpPr>
        <p:spPr>
          <a:xfrm>
            <a:off x="804672" y="2916936"/>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Decision tree</a:t>
            </a:r>
            <a:endParaRPr lang="en-US" sz="1030" dirty="0"/>
          </a:p>
        </p:txBody>
      </p:sp>
      <p:sp>
        <p:nvSpPr>
          <p:cNvPr id="28" name="Shape 26"/>
          <p:cNvSpPr/>
          <p:nvPr/>
        </p:nvSpPr>
        <p:spPr>
          <a:xfrm>
            <a:off x="4291584" y="2871216"/>
            <a:ext cx="3578352" cy="338328"/>
          </a:xfrm>
          <a:prstGeom prst="rect">
            <a:avLst/>
          </a:prstGeom>
          <a:solidFill>
            <a:srgbClr val="F4F8FD"/>
          </a:solidFill>
          <a:ln w="12700">
            <a:solidFill>
              <a:srgbClr val="F4F8FD">
                <a:alpha val="0"/>
              </a:srgbClr>
            </a:solidFill>
            <a:prstDash val="solid"/>
          </a:ln>
        </p:spPr>
      </p:sp>
      <p:sp>
        <p:nvSpPr>
          <p:cNvPr id="29" name="Text 27"/>
          <p:cNvSpPr/>
          <p:nvPr/>
        </p:nvSpPr>
        <p:spPr>
          <a:xfrm>
            <a:off x="4401312" y="2916936"/>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73.8%</a:t>
            </a:r>
            <a:endParaRPr lang="en-US" sz="1030" dirty="0"/>
          </a:p>
        </p:txBody>
      </p:sp>
      <p:sp>
        <p:nvSpPr>
          <p:cNvPr id="30" name="Shape 28"/>
          <p:cNvSpPr/>
          <p:nvPr/>
        </p:nvSpPr>
        <p:spPr>
          <a:xfrm>
            <a:off x="7888224" y="2871216"/>
            <a:ext cx="3578352" cy="338328"/>
          </a:xfrm>
          <a:prstGeom prst="rect">
            <a:avLst/>
          </a:prstGeom>
          <a:solidFill>
            <a:srgbClr val="F4F8FD"/>
          </a:solidFill>
          <a:ln w="12700">
            <a:solidFill>
              <a:srgbClr val="F4F8FD">
                <a:alpha val="0"/>
              </a:srgbClr>
            </a:solidFill>
            <a:prstDash val="solid"/>
          </a:ln>
        </p:spPr>
      </p:sp>
      <p:sp>
        <p:nvSpPr>
          <p:cNvPr id="31" name="Text 29"/>
          <p:cNvSpPr/>
          <p:nvPr/>
        </p:nvSpPr>
        <p:spPr>
          <a:xfrm>
            <a:off x="7997952" y="2916936"/>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64.3%</a:t>
            </a:r>
            <a:endParaRPr lang="en-US" sz="1030" dirty="0"/>
          </a:p>
        </p:txBody>
      </p:sp>
      <p:sp>
        <p:nvSpPr>
          <p:cNvPr id="32" name="Shape 30"/>
          <p:cNvSpPr/>
          <p:nvPr/>
        </p:nvSpPr>
        <p:spPr>
          <a:xfrm>
            <a:off x="694944" y="3227832"/>
            <a:ext cx="3578352" cy="338328"/>
          </a:xfrm>
          <a:prstGeom prst="rect">
            <a:avLst/>
          </a:prstGeom>
          <a:solidFill>
            <a:srgbClr val="EAF2FB"/>
          </a:solidFill>
          <a:ln w="12700">
            <a:solidFill>
              <a:srgbClr val="EAF2FB">
                <a:alpha val="0"/>
              </a:srgbClr>
            </a:solidFill>
            <a:prstDash val="solid"/>
          </a:ln>
        </p:spPr>
      </p:sp>
      <p:sp>
        <p:nvSpPr>
          <p:cNvPr id="33" name="Text 31"/>
          <p:cNvSpPr/>
          <p:nvPr/>
        </p:nvSpPr>
        <p:spPr>
          <a:xfrm>
            <a:off x="804672" y="3273552"/>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KNN</a:t>
            </a:r>
            <a:endParaRPr lang="en-US" sz="1030" dirty="0"/>
          </a:p>
        </p:txBody>
      </p:sp>
      <p:sp>
        <p:nvSpPr>
          <p:cNvPr id="34" name="Shape 32"/>
          <p:cNvSpPr/>
          <p:nvPr/>
        </p:nvSpPr>
        <p:spPr>
          <a:xfrm>
            <a:off x="4291584" y="3227832"/>
            <a:ext cx="3578352" cy="338328"/>
          </a:xfrm>
          <a:prstGeom prst="rect">
            <a:avLst/>
          </a:prstGeom>
          <a:solidFill>
            <a:srgbClr val="EAF2FB"/>
          </a:solidFill>
          <a:ln w="12700">
            <a:solidFill>
              <a:srgbClr val="EAF2FB">
                <a:alpha val="0"/>
              </a:srgbClr>
            </a:solidFill>
            <a:prstDash val="solid"/>
          </a:ln>
        </p:spPr>
      </p:sp>
      <p:sp>
        <p:nvSpPr>
          <p:cNvPr id="35" name="Text 33"/>
          <p:cNvSpPr/>
          <p:nvPr/>
        </p:nvSpPr>
        <p:spPr>
          <a:xfrm>
            <a:off x="4401312" y="3273552"/>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73.8%</a:t>
            </a:r>
            <a:endParaRPr lang="en-US" sz="1030" dirty="0"/>
          </a:p>
        </p:txBody>
      </p:sp>
      <p:sp>
        <p:nvSpPr>
          <p:cNvPr id="36" name="Shape 34"/>
          <p:cNvSpPr/>
          <p:nvPr/>
        </p:nvSpPr>
        <p:spPr>
          <a:xfrm>
            <a:off x="7888224" y="3227832"/>
            <a:ext cx="3578352" cy="338328"/>
          </a:xfrm>
          <a:prstGeom prst="rect">
            <a:avLst/>
          </a:prstGeom>
          <a:solidFill>
            <a:srgbClr val="EAF2FB"/>
          </a:solidFill>
          <a:ln w="12700">
            <a:solidFill>
              <a:srgbClr val="EAF2FB">
                <a:alpha val="0"/>
              </a:srgbClr>
            </a:solidFill>
            <a:prstDash val="solid"/>
          </a:ln>
        </p:spPr>
      </p:sp>
      <p:sp>
        <p:nvSpPr>
          <p:cNvPr id="37" name="Text 35"/>
          <p:cNvSpPr/>
          <p:nvPr/>
        </p:nvSpPr>
        <p:spPr>
          <a:xfrm>
            <a:off x="7997952" y="3273552"/>
            <a:ext cx="3413760" cy="219456"/>
          </a:xfrm>
          <a:prstGeom prst="rect">
            <a:avLst/>
          </a:prstGeom>
          <a:noFill/>
          <a:ln/>
        </p:spPr>
        <p:txBody>
          <a:bodyPr wrap="square" lIns="0" tIns="0" rIns="0" bIns="0" rtlCol="0" anchor="ctr">
            <a:normAutofit/>
          </a:bodyPr>
          <a:lstStyle/>
          <a:p>
            <a:pPr indent="0" marL="0">
              <a:buNone/>
            </a:pPr>
            <a:r>
              <a:rPr lang="en-US" sz="1030" dirty="0">
                <a:solidFill>
                  <a:srgbClr val="18304C"/>
                </a:solidFill>
                <a:latin typeface="Aptos" pitchFamily="34" charset="0"/>
                <a:ea typeface="Aptos" pitchFamily="34" charset="-122"/>
                <a:cs typeface="Aptos" pitchFamily="34" charset="-120"/>
              </a:rPr>
              <a:t>57.1%</a:t>
            </a:r>
            <a:endParaRPr lang="en-US" sz="1030" dirty="0"/>
          </a:p>
        </p:txBody>
      </p:sp>
      <p:sp>
        <p:nvSpPr>
          <p:cNvPr id="38" name="Shape 36"/>
          <p:cNvSpPr/>
          <p:nvPr/>
        </p:nvSpPr>
        <p:spPr>
          <a:xfrm>
            <a:off x="685800" y="4489704"/>
            <a:ext cx="10789920" cy="1143000"/>
          </a:xfrm>
          <a:prstGeom prst="rect">
            <a:avLst/>
          </a:prstGeom>
          <a:solidFill>
            <a:srgbClr val="F3F8FE"/>
          </a:solidFill>
          <a:ln w="12700">
            <a:solidFill>
              <a:srgbClr val="F3F8FE">
                <a:alpha val="0"/>
              </a:srgbClr>
            </a:solidFill>
            <a:prstDash val="solid"/>
          </a:ln>
        </p:spPr>
      </p:sp>
      <p:sp>
        <p:nvSpPr>
          <p:cNvPr id="39" name="Shape 37"/>
          <p:cNvSpPr/>
          <p:nvPr/>
        </p:nvSpPr>
        <p:spPr>
          <a:xfrm>
            <a:off x="685800" y="4489704"/>
            <a:ext cx="50292" cy="1143000"/>
          </a:xfrm>
          <a:prstGeom prst="rect">
            <a:avLst/>
          </a:prstGeom>
          <a:solidFill>
            <a:srgbClr val="1AA6B7"/>
          </a:solidFill>
          <a:ln w="12700">
            <a:solidFill>
              <a:srgbClr val="1AA6B7">
                <a:alpha val="0"/>
              </a:srgbClr>
            </a:solidFill>
            <a:prstDash val="solid"/>
          </a:ln>
        </p:spPr>
      </p:sp>
      <p:sp>
        <p:nvSpPr>
          <p:cNvPr id="40" name="Text 38"/>
          <p:cNvSpPr/>
          <p:nvPr/>
        </p:nvSpPr>
        <p:spPr>
          <a:xfrm>
            <a:off x="886968" y="4617720"/>
            <a:ext cx="1042416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MODEL CHOICE</a:t>
            </a:r>
            <a:endParaRPr lang="en-US" sz="1500" dirty="0"/>
          </a:p>
        </p:txBody>
      </p:sp>
      <p:sp>
        <p:nvSpPr>
          <p:cNvPr id="41" name="Text 39"/>
          <p:cNvSpPr/>
          <p:nvPr/>
        </p:nvSpPr>
        <p:spPr>
          <a:xfrm>
            <a:off x="886968" y="4928616"/>
            <a:ext cx="10396728" cy="6400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Select SVM based on highest validation accuracy, not its test score. Its holdout result is 11 correct predictions in 14 cases (78.6%).</a:t>
            </a:r>
            <a:endParaRPr lang="en-US" sz="1320" dirty="0"/>
          </a:p>
        </p:txBody>
      </p:sp>
      <p:sp>
        <p:nvSpPr>
          <p:cNvPr id="42" name="Shape 40"/>
          <p:cNvSpPr/>
          <p:nvPr/>
        </p:nvSpPr>
        <p:spPr>
          <a:xfrm>
            <a:off x="685800" y="5797296"/>
            <a:ext cx="10789920" cy="475488"/>
          </a:xfrm>
          <a:prstGeom prst="rect">
            <a:avLst/>
          </a:prstGeom>
          <a:solidFill>
            <a:srgbClr val="F3F8FE"/>
          </a:solidFill>
          <a:ln w="12700">
            <a:solidFill>
              <a:srgbClr val="F3F8FE">
                <a:alpha val="0"/>
              </a:srgbClr>
            </a:solidFill>
            <a:prstDash val="solid"/>
          </a:ln>
        </p:spPr>
      </p:sp>
      <p:sp>
        <p:nvSpPr>
          <p:cNvPr id="43" name="Shape 41"/>
          <p:cNvSpPr/>
          <p:nvPr/>
        </p:nvSpPr>
        <p:spPr>
          <a:xfrm>
            <a:off x="685800" y="5797296"/>
            <a:ext cx="50292" cy="475488"/>
          </a:xfrm>
          <a:prstGeom prst="rect">
            <a:avLst/>
          </a:prstGeom>
          <a:solidFill>
            <a:srgbClr val="1AA6B7"/>
          </a:solidFill>
          <a:ln w="12700">
            <a:solidFill>
              <a:srgbClr val="1AA6B7">
                <a:alpha val="0"/>
              </a:srgbClr>
            </a:solidFill>
            <a:prstDash val="solid"/>
          </a:ln>
        </p:spPr>
      </p:sp>
      <p:sp>
        <p:nvSpPr>
          <p:cNvPr id="44" name="Text 42"/>
          <p:cNvSpPr/>
          <p:nvPr/>
        </p:nvSpPr>
        <p:spPr>
          <a:xfrm>
            <a:off x="886968" y="5925312"/>
            <a:ext cx="10424160"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REPLICATION</a:t>
            </a:r>
            <a:endParaRPr lang="en-US" sz="1500" dirty="0"/>
          </a:p>
        </p:txBody>
      </p:sp>
      <p:sp>
        <p:nvSpPr>
          <p:cNvPr id="45" name="Text 43"/>
          <p:cNvSpPr/>
          <p:nvPr/>
        </p:nvSpPr>
        <p:spPr>
          <a:xfrm>
            <a:off x="886968" y="6236208"/>
            <a:ext cx="10396728" cy="-27432"/>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Re-run with the official 90-row IBM dataset and its exact notebook pipeline before comparing to your course quiz results.</a:t>
            </a:r>
            <a:endParaRPr lang="en-US" sz="132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Conclusion | Insights and business implications</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38</a:t>
            </a:r>
            <a:endParaRPr lang="en-US" sz="900" dirty="0"/>
          </a:p>
        </p:txBody>
      </p:sp>
      <p:sp>
        <p:nvSpPr>
          <p:cNvPr id="8" name="Shape 6"/>
          <p:cNvSpPr/>
          <p:nvPr/>
        </p:nvSpPr>
        <p:spPr>
          <a:xfrm>
            <a:off x="658368" y="1435608"/>
            <a:ext cx="10853928" cy="950976"/>
          </a:xfrm>
          <a:prstGeom prst="rect">
            <a:avLst/>
          </a:prstGeom>
          <a:solidFill>
            <a:srgbClr val="F3F8FE"/>
          </a:solidFill>
          <a:ln w="12700">
            <a:solidFill>
              <a:srgbClr val="F3F8FE">
                <a:alpha val="0"/>
              </a:srgbClr>
            </a:solidFill>
            <a:prstDash val="solid"/>
          </a:ln>
        </p:spPr>
      </p:sp>
      <p:sp>
        <p:nvSpPr>
          <p:cNvPr id="9" name="Shape 7"/>
          <p:cNvSpPr/>
          <p:nvPr/>
        </p:nvSpPr>
        <p:spPr>
          <a:xfrm>
            <a:off x="658368" y="1435608"/>
            <a:ext cx="50292" cy="950976"/>
          </a:xfrm>
          <a:prstGeom prst="rect">
            <a:avLst/>
          </a:prstGeom>
          <a:solidFill>
            <a:srgbClr val="1AA6B7"/>
          </a:solidFill>
          <a:ln w="12700">
            <a:solidFill>
              <a:srgbClr val="1AA6B7">
                <a:alpha val="0"/>
              </a:srgbClr>
            </a:solidFill>
            <a:prstDash val="solid"/>
          </a:ln>
        </p:spPr>
      </p:sp>
      <p:sp>
        <p:nvSpPr>
          <p:cNvPr id="10" name="Text 8"/>
          <p:cNvSpPr/>
          <p:nvPr/>
        </p:nvSpPr>
        <p:spPr>
          <a:xfrm>
            <a:off x="859536" y="1563624"/>
            <a:ext cx="10488168"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01  RECOVERY IS NOT RANDOM</a:t>
            </a:r>
            <a:endParaRPr lang="en-US" sz="1500" dirty="0"/>
          </a:p>
        </p:txBody>
      </p:sp>
      <p:sp>
        <p:nvSpPr>
          <p:cNvPr id="11" name="Text 9"/>
          <p:cNvSpPr/>
          <p:nvPr/>
        </p:nvSpPr>
        <p:spPr>
          <a:xfrm>
            <a:off x="859536" y="1874520"/>
            <a:ext cx="10460736" cy="44805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observed recovery rate is 24/56 = 42.9%, but this historical snapshot is not representative of current Falcon 9 operations.</a:t>
            </a:r>
            <a:endParaRPr lang="en-US" sz="1320" dirty="0"/>
          </a:p>
        </p:txBody>
      </p:sp>
      <p:sp>
        <p:nvSpPr>
          <p:cNvPr id="12" name="Shape 10"/>
          <p:cNvSpPr/>
          <p:nvPr/>
        </p:nvSpPr>
        <p:spPr>
          <a:xfrm>
            <a:off x="658368" y="2523744"/>
            <a:ext cx="10853928" cy="950976"/>
          </a:xfrm>
          <a:prstGeom prst="rect">
            <a:avLst/>
          </a:prstGeom>
          <a:solidFill>
            <a:srgbClr val="F3F8FE"/>
          </a:solidFill>
          <a:ln w="12700">
            <a:solidFill>
              <a:srgbClr val="F3F8FE">
                <a:alpha val="0"/>
              </a:srgbClr>
            </a:solidFill>
            <a:prstDash val="solid"/>
          </a:ln>
        </p:spPr>
      </p:sp>
      <p:sp>
        <p:nvSpPr>
          <p:cNvPr id="13" name="Shape 11"/>
          <p:cNvSpPr/>
          <p:nvPr/>
        </p:nvSpPr>
        <p:spPr>
          <a:xfrm>
            <a:off x="658368" y="2523744"/>
            <a:ext cx="50292" cy="950976"/>
          </a:xfrm>
          <a:prstGeom prst="rect">
            <a:avLst/>
          </a:prstGeom>
          <a:solidFill>
            <a:srgbClr val="1AA6B7"/>
          </a:solidFill>
          <a:ln w="12700">
            <a:solidFill>
              <a:srgbClr val="1AA6B7">
                <a:alpha val="0"/>
              </a:srgbClr>
            </a:solidFill>
            <a:prstDash val="solid"/>
          </a:ln>
        </p:spPr>
      </p:sp>
      <p:sp>
        <p:nvSpPr>
          <p:cNvPr id="14" name="Text 12"/>
          <p:cNvSpPr/>
          <p:nvPr/>
        </p:nvSpPr>
        <p:spPr>
          <a:xfrm>
            <a:off x="859536" y="2651760"/>
            <a:ext cx="10488168"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02  BOoster MATURITY MATTERS</a:t>
            </a:r>
            <a:endParaRPr lang="en-US" sz="1500" dirty="0"/>
          </a:p>
        </p:txBody>
      </p:sp>
      <p:sp>
        <p:nvSpPr>
          <p:cNvPr id="15" name="Text 13"/>
          <p:cNvSpPr/>
          <p:nvPr/>
        </p:nvSpPr>
        <p:spPr>
          <a:xfrm>
            <a:off x="859536" y="2962656"/>
            <a:ext cx="10460736" cy="44805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Flight-number and booster-category patterns support investigating learning and hardware maturity, while leaving substantial confounding.</a:t>
            </a:r>
            <a:endParaRPr lang="en-US" sz="1320" dirty="0"/>
          </a:p>
        </p:txBody>
      </p:sp>
      <p:sp>
        <p:nvSpPr>
          <p:cNvPr id="16" name="Shape 14"/>
          <p:cNvSpPr/>
          <p:nvPr/>
        </p:nvSpPr>
        <p:spPr>
          <a:xfrm>
            <a:off x="658368" y="3602736"/>
            <a:ext cx="10853928" cy="950976"/>
          </a:xfrm>
          <a:prstGeom prst="rect">
            <a:avLst/>
          </a:prstGeom>
          <a:solidFill>
            <a:srgbClr val="F3F8FE"/>
          </a:solidFill>
          <a:ln w="12700">
            <a:solidFill>
              <a:srgbClr val="F3F8FE">
                <a:alpha val="0"/>
              </a:srgbClr>
            </a:solidFill>
            <a:prstDash val="solid"/>
          </a:ln>
        </p:spPr>
      </p:sp>
      <p:sp>
        <p:nvSpPr>
          <p:cNvPr id="17" name="Shape 15"/>
          <p:cNvSpPr/>
          <p:nvPr/>
        </p:nvSpPr>
        <p:spPr>
          <a:xfrm>
            <a:off x="658368" y="3602736"/>
            <a:ext cx="50292" cy="950976"/>
          </a:xfrm>
          <a:prstGeom prst="rect">
            <a:avLst/>
          </a:prstGeom>
          <a:solidFill>
            <a:srgbClr val="1AA6B7"/>
          </a:solidFill>
          <a:ln w="12700">
            <a:solidFill>
              <a:srgbClr val="1AA6B7">
                <a:alpha val="0"/>
              </a:srgbClr>
            </a:solidFill>
            <a:prstDash val="solid"/>
          </a:ln>
        </p:spPr>
      </p:sp>
      <p:sp>
        <p:nvSpPr>
          <p:cNvPr id="18" name="Text 16"/>
          <p:cNvSpPr/>
          <p:nvPr/>
        </p:nvSpPr>
        <p:spPr>
          <a:xfrm>
            <a:off x="859536" y="3730752"/>
            <a:ext cx="10488168"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03  CLASSIFIERS CAN BE INFORMATIVE</a:t>
            </a:r>
            <a:endParaRPr lang="en-US" sz="1500" dirty="0"/>
          </a:p>
        </p:txBody>
      </p:sp>
      <p:sp>
        <p:nvSpPr>
          <p:cNvPr id="19" name="Text 17"/>
          <p:cNvSpPr/>
          <p:nvPr/>
        </p:nvSpPr>
        <p:spPr>
          <a:xfrm>
            <a:off x="859536" y="4041648"/>
            <a:ext cx="10460736" cy="44805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tuned SVM achieved 78.6% cross-validation and held-out accuracy on this small sample. The test score has large uncertainty.</a:t>
            </a:r>
            <a:endParaRPr lang="en-US" sz="1320" dirty="0"/>
          </a:p>
        </p:txBody>
      </p:sp>
      <p:sp>
        <p:nvSpPr>
          <p:cNvPr id="20" name="Shape 18"/>
          <p:cNvSpPr/>
          <p:nvPr/>
        </p:nvSpPr>
        <p:spPr>
          <a:xfrm>
            <a:off x="658368" y="4690872"/>
            <a:ext cx="10853928" cy="950976"/>
          </a:xfrm>
          <a:prstGeom prst="rect">
            <a:avLst/>
          </a:prstGeom>
          <a:solidFill>
            <a:srgbClr val="F3F8FE"/>
          </a:solidFill>
          <a:ln w="12700">
            <a:solidFill>
              <a:srgbClr val="F3F8FE">
                <a:alpha val="0"/>
              </a:srgbClr>
            </a:solidFill>
            <a:prstDash val="solid"/>
          </a:ln>
        </p:spPr>
      </p:sp>
      <p:sp>
        <p:nvSpPr>
          <p:cNvPr id="21" name="Shape 19"/>
          <p:cNvSpPr/>
          <p:nvPr/>
        </p:nvSpPr>
        <p:spPr>
          <a:xfrm>
            <a:off x="658368" y="4690872"/>
            <a:ext cx="50292" cy="950976"/>
          </a:xfrm>
          <a:prstGeom prst="rect">
            <a:avLst/>
          </a:prstGeom>
          <a:solidFill>
            <a:srgbClr val="1AA6B7"/>
          </a:solidFill>
          <a:ln w="12700">
            <a:solidFill>
              <a:srgbClr val="1AA6B7">
                <a:alpha val="0"/>
              </a:srgbClr>
            </a:solidFill>
            <a:prstDash val="solid"/>
          </a:ln>
        </p:spPr>
      </p:sp>
      <p:sp>
        <p:nvSpPr>
          <p:cNvPr id="22" name="Text 20"/>
          <p:cNvSpPr/>
          <p:nvPr/>
        </p:nvSpPr>
        <p:spPr>
          <a:xfrm>
            <a:off x="859536" y="4818888"/>
            <a:ext cx="10488168"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04  NEXT DECISION</a:t>
            </a:r>
            <a:endParaRPr lang="en-US" sz="1500" dirty="0"/>
          </a:p>
        </p:txBody>
      </p:sp>
      <p:sp>
        <p:nvSpPr>
          <p:cNvPr id="23" name="Text 21"/>
          <p:cNvSpPr/>
          <p:nvPr/>
        </p:nvSpPr>
        <p:spPr>
          <a:xfrm>
            <a:off x="859536" y="5129784"/>
            <a:ext cx="10460736" cy="44805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Validate a later, larger dataset with date-based holdouts and more mission covariates before any procurement, cost, or risk decisions.</a:t>
            </a:r>
            <a:endParaRPr lang="en-US" sz="13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Appendix | Sources, deliverables and integrity</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39</a:t>
            </a:r>
            <a:endParaRPr lang="en-US" sz="900" dirty="0"/>
          </a:p>
        </p:txBody>
      </p:sp>
      <p:sp>
        <p:nvSpPr>
          <p:cNvPr id="8" name="Shape 6"/>
          <p:cNvSpPr/>
          <p:nvPr/>
        </p:nvSpPr>
        <p:spPr>
          <a:xfrm>
            <a:off x="694944" y="1499616"/>
            <a:ext cx="10799064" cy="1088136"/>
          </a:xfrm>
          <a:prstGeom prst="rect">
            <a:avLst/>
          </a:prstGeom>
          <a:solidFill>
            <a:srgbClr val="F3F8FE"/>
          </a:solidFill>
          <a:ln w="12700">
            <a:solidFill>
              <a:srgbClr val="F3F8FE">
                <a:alpha val="0"/>
              </a:srgbClr>
            </a:solidFill>
            <a:prstDash val="solid"/>
          </a:ln>
        </p:spPr>
      </p:sp>
      <p:sp>
        <p:nvSpPr>
          <p:cNvPr id="9" name="Shape 7"/>
          <p:cNvSpPr/>
          <p:nvPr/>
        </p:nvSpPr>
        <p:spPr>
          <a:xfrm>
            <a:off x="694944" y="1499616"/>
            <a:ext cx="50292" cy="1088136"/>
          </a:xfrm>
          <a:prstGeom prst="rect">
            <a:avLst/>
          </a:prstGeom>
          <a:solidFill>
            <a:srgbClr val="1AA6B7"/>
          </a:solidFill>
          <a:ln w="12700">
            <a:solidFill>
              <a:srgbClr val="1AA6B7">
                <a:alpha val="0"/>
              </a:srgbClr>
            </a:solidFill>
            <a:prstDash val="solid"/>
          </a:ln>
        </p:spPr>
      </p:sp>
      <p:sp>
        <p:nvSpPr>
          <p:cNvPr id="10" name="Text 8"/>
          <p:cNvSpPr/>
          <p:nvPr/>
        </p:nvSpPr>
        <p:spPr>
          <a:xfrm>
            <a:off x="896112" y="1627632"/>
            <a:ext cx="1043330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PUBLIC DATA SOURCE</a:t>
            </a:r>
            <a:endParaRPr lang="en-US" sz="1500" dirty="0"/>
          </a:p>
        </p:txBody>
      </p:sp>
      <p:sp>
        <p:nvSpPr>
          <p:cNvPr id="11" name="Text 9"/>
          <p:cNvSpPr/>
          <p:nvPr/>
        </p:nvSpPr>
        <p:spPr>
          <a:xfrm>
            <a:off x="896112" y="1938528"/>
            <a:ext cx="10405872" cy="585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github.com/Ahmed-Nezar/IBM-Data-Science-Capstone-SpaceX/blob/main/spacex_launch_dash.csv • Historical 56-row training visualization sample (transcribed for local reproducibility).</a:t>
            </a:r>
            <a:endParaRPr lang="en-US" sz="1320" dirty="0"/>
          </a:p>
        </p:txBody>
      </p:sp>
      <p:sp>
        <p:nvSpPr>
          <p:cNvPr id="12" name="Shape 10"/>
          <p:cNvSpPr/>
          <p:nvPr/>
        </p:nvSpPr>
        <p:spPr>
          <a:xfrm>
            <a:off x="694944" y="2862072"/>
            <a:ext cx="10799064" cy="1133856"/>
          </a:xfrm>
          <a:prstGeom prst="rect">
            <a:avLst/>
          </a:prstGeom>
          <a:solidFill>
            <a:srgbClr val="F3F8FE"/>
          </a:solidFill>
          <a:ln w="12700">
            <a:solidFill>
              <a:srgbClr val="F3F8FE">
                <a:alpha val="0"/>
              </a:srgbClr>
            </a:solidFill>
            <a:prstDash val="solid"/>
          </a:ln>
        </p:spPr>
      </p:sp>
      <p:sp>
        <p:nvSpPr>
          <p:cNvPr id="13" name="Shape 11"/>
          <p:cNvSpPr/>
          <p:nvPr/>
        </p:nvSpPr>
        <p:spPr>
          <a:xfrm>
            <a:off x="694944" y="2862072"/>
            <a:ext cx="50292" cy="1133856"/>
          </a:xfrm>
          <a:prstGeom prst="rect">
            <a:avLst/>
          </a:prstGeom>
          <a:solidFill>
            <a:srgbClr val="1AA6B7"/>
          </a:solidFill>
          <a:ln w="12700">
            <a:solidFill>
              <a:srgbClr val="1AA6B7">
                <a:alpha val="0"/>
              </a:srgbClr>
            </a:solidFill>
            <a:prstDash val="solid"/>
          </a:ln>
        </p:spPr>
      </p:sp>
      <p:sp>
        <p:nvSpPr>
          <p:cNvPr id="14" name="Text 12"/>
          <p:cNvSpPr/>
          <p:nvPr/>
        </p:nvSpPr>
        <p:spPr>
          <a:xfrm>
            <a:off x="896112" y="2990088"/>
            <a:ext cx="1043330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GENERATED OUTPUTS</a:t>
            </a:r>
            <a:endParaRPr lang="en-US" sz="1500" dirty="0"/>
          </a:p>
        </p:txBody>
      </p:sp>
      <p:sp>
        <p:nvSpPr>
          <p:cNvPr id="15" name="Text 13"/>
          <p:cNvSpPr/>
          <p:nvPr/>
        </p:nvSpPr>
        <p:spPr>
          <a:xfrm>
            <a:off x="896112" y="3300984"/>
            <a:ext cx="10405872" cy="63093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CSV, SQL database and query tables, eleven generated plots, four fitted models with parameters, model accuracies, a confusion matrix, and an interactive Folium HTML.</a:t>
            </a:r>
            <a:endParaRPr lang="en-US" sz="1320" dirty="0"/>
          </a:p>
        </p:txBody>
      </p:sp>
      <p:sp>
        <p:nvSpPr>
          <p:cNvPr id="16" name="Shape 14"/>
          <p:cNvSpPr/>
          <p:nvPr/>
        </p:nvSpPr>
        <p:spPr>
          <a:xfrm>
            <a:off x="694944" y="4270248"/>
            <a:ext cx="10799064" cy="1399032"/>
          </a:xfrm>
          <a:prstGeom prst="rect">
            <a:avLst/>
          </a:prstGeom>
          <a:solidFill>
            <a:srgbClr val="F3F8FE"/>
          </a:solidFill>
          <a:ln w="12700">
            <a:solidFill>
              <a:srgbClr val="F3F8FE">
                <a:alpha val="0"/>
              </a:srgbClr>
            </a:solidFill>
            <a:prstDash val="solid"/>
          </a:ln>
        </p:spPr>
      </p:sp>
      <p:sp>
        <p:nvSpPr>
          <p:cNvPr id="17" name="Shape 15"/>
          <p:cNvSpPr/>
          <p:nvPr/>
        </p:nvSpPr>
        <p:spPr>
          <a:xfrm>
            <a:off x="694944" y="4270248"/>
            <a:ext cx="50292" cy="1399032"/>
          </a:xfrm>
          <a:prstGeom prst="rect">
            <a:avLst/>
          </a:prstGeom>
          <a:solidFill>
            <a:srgbClr val="1AA6B7"/>
          </a:solidFill>
          <a:ln w="12700">
            <a:solidFill>
              <a:srgbClr val="1AA6B7">
                <a:alpha val="0"/>
              </a:srgbClr>
            </a:solidFill>
            <a:prstDash val="solid"/>
          </a:ln>
        </p:spPr>
      </p:sp>
      <p:sp>
        <p:nvSpPr>
          <p:cNvPr id="18" name="Text 16"/>
          <p:cNvSpPr/>
          <p:nvPr/>
        </p:nvSpPr>
        <p:spPr>
          <a:xfrm>
            <a:off x="896112" y="4398264"/>
            <a:ext cx="10433304"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REMAINING PERSONAL-SUBMISSION REQUIREMENTS</a:t>
            </a:r>
            <a:endParaRPr lang="en-US" sz="1500" dirty="0"/>
          </a:p>
        </p:txBody>
      </p:sp>
      <p:sp>
        <p:nvSpPr>
          <p:cNvPr id="19" name="Text 17"/>
          <p:cNvSpPr/>
          <p:nvPr/>
        </p:nvSpPr>
        <p:spPr>
          <a:xfrm>
            <a:off x="896112" y="4709160"/>
            <a:ext cx="10405872" cy="896112"/>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No personal GitHub account or completed original IBM API, scraper, SQL, Folium, or Dash notebooks were provided. Upload your own repository and completed notebooks to meet rubric item 1.1 and its source-link criteria.</a:t>
            </a:r>
            <a:endParaRPr lang="en-US" sz="13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
          </a:xfrm>
          <a:prstGeom prst="rect">
            <a:avLst/>
          </a:prstGeom>
          <a:solidFill>
            <a:srgbClr val="1953B6"/>
          </a:solidFill>
          <a:ln w="12700">
            <a:solidFill>
              <a:srgbClr val="1953B6">
                <a:alpha val="0"/>
              </a:srgbClr>
            </a:solidFill>
            <a:prstDash val="solid"/>
          </a:ln>
        </p:spPr>
      </p:sp>
      <p:sp>
        <p:nvSpPr>
          <p:cNvPr id="3" name="Text 1"/>
          <p:cNvSpPr/>
          <p:nvPr/>
        </p:nvSpPr>
        <p:spPr>
          <a:xfrm>
            <a:off x="566928" y="201168"/>
            <a:ext cx="10058400" cy="237744"/>
          </a:xfrm>
          <a:prstGeom prst="rect">
            <a:avLst/>
          </a:prstGeom>
          <a:noFill/>
          <a:ln/>
        </p:spPr>
        <p:txBody>
          <a:bodyPr wrap="square" lIns="0" tIns="0" rIns="0" bIns="0" rtlCol="0" anchor="ctr">
            <a:normAutofit/>
          </a:bodyPr>
          <a:lstStyle/>
          <a:p>
            <a:pPr indent="0" marL="0">
              <a:buNone/>
            </a:pPr>
            <a:r>
              <a:rPr lang="en-US" sz="950" b="1" spc="130" kern="0" dirty="0">
                <a:solidFill>
                  <a:srgbClr val="1953B6"/>
                </a:solidFill>
                <a:latin typeface="Aptos" pitchFamily="34" charset="0"/>
                <a:ea typeface="Aptos" pitchFamily="34" charset="-122"/>
                <a:cs typeface="Aptos" pitchFamily="34" charset="-120"/>
              </a:rPr>
              <a:t>IBM APPLIED DATA SCIENCE CAPSTONE</a:t>
            </a:r>
            <a:endParaRPr lang="en-US" sz="950" dirty="0"/>
          </a:p>
        </p:txBody>
      </p:sp>
      <p:sp>
        <p:nvSpPr>
          <p:cNvPr id="4" name="Text 2"/>
          <p:cNvSpPr/>
          <p:nvPr/>
        </p:nvSpPr>
        <p:spPr>
          <a:xfrm>
            <a:off x="585216" y="557784"/>
            <a:ext cx="10972800" cy="548640"/>
          </a:xfrm>
          <a:prstGeom prst="rect">
            <a:avLst/>
          </a:prstGeom>
          <a:noFill/>
          <a:ln/>
        </p:spPr>
        <p:txBody>
          <a:bodyPr wrap="square" lIns="0" tIns="0" rIns="0" bIns="0" rtlCol="0" anchor="ctr">
            <a:normAutofit/>
          </a:bodyPr>
          <a:lstStyle/>
          <a:p>
            <a:pPr indent="0" marL="0">
              <a:buNone/>
            </a:pPr>
            <a:r>
              <a:rPr lang="en-US" sz="2750" b="1" dirty="0">
                <a:solidFill>
                  <a:srgbClr val="18304C"/>
                </a:solidFill>
                <a:latin typeface="Aptos" pitchFamily="34" charset="0"/>
                <a:ea typeface="Aptos" pitchFamily="34" charset="-122"/>
                <a:cs typeface="Aptos" pitchFamily="34" charset="-120"/>
              </a:rPr>
              <a:t>Submission evidence | Executed vs outstanding</a:t>
            </a:r>
            <a:endParaRPr lang="en-US" sz="2750" dirty="0"/>
          </a:p>
        </p:txBody>
      </p:sp>
      <p:sp>
        <p:nvSpPr>
          <p:cNvPr id="5" name="Shape 3"/>
          <p:cNvSpPr/>
          <p:nvPr/>
        </p:nvSpPr>
        <p:spPr>
          <a:xfrm>
            <a:off x="576072" y="1207008"/>
            <a:ext cx="11036808" cy="22860"/>
          </a:xfrm>
          <a:prstGeom prst="rect">
            <a:avLst/>
          </a:prstGeom>
          <a:solidFill>
            <a:srgbClr val="EAF3FF"/>
          </a:solidFill>
          <a:ln w="12700">
            <a:solidFill>
              <a:srgbClr val="EAF3FF">
                <a:alpha val="0"/>
              </a:srgbClr>
            </a:solidFill>
            <a:prstDash val="solid"/>
          </a:ln>
        </p:spPr>
      </p:sp>
      <p:sp>
        <p:nvSpPr>
          <p:cNvPr id="6" name="Text 4"/>
          <p:cNvSpPr/>
          <p:nvPr/>
        </p:nvSpPr>
        <p:spPr>
          <a:xfrm>
            <a:off x="585216" y="6473952"/>
            <a:ext cx="9966960" cy="164592"/>
          </a:xfrm>
          <a:prstGeom prst="rect">
            <a:avLst/>
          </a:prstGeom>
          <a:noFill/>
          <a:ln/>
        </p:spPr>
        <p:txBody>
          <a:bodyPr wrap="square" lIns="0" tIns="0" rIns="0" bIns="0" rtlCol="0" anchor="ctr">
            <a:normAutofit/>
          </a:bodyPr>
          <a:lstStyle/>
          <a:p>
            <a:pPr indent="0" marL="0">
              <a:buNone/>
            </a:pPr>
            <a:r>
              <a:rPr lang="en-US" sz="900" dirty="0">
                <a:solidFill>
                  <a:srgbClr val="61758A"/>
                </a:solidFill>
                <a:latin typeface="Aptos" pitchFamily="34" charset="0"/>
                <a:ea typeface="Aptos" pitchFamily="34" charset="-122"/>
                <a:cs typeface="Aptos" pitchFamily="34" charset="-120"/>
              </a:rPr>
              <a:t>Dataset: historical IBM 56-row dashboard sample • distinct from 90-row API lab</a:t>
            </a:r>
            <a:endParaRPr lang="en-US" sz="900" dirty="0"/>
          </a:p>
        </p:txBody>
      </p:sp>
      <p:sp>
        <p:nvSpPr>
          <p:cNvPr id="7" name="Text 5"/>
          <p:cNvSpPr/>
          <p:nvPr/>
        </p:nvSpPr>
        <p:spPr>
          <a:xfrm>
            <a:off x="11192256" y="6455664"/>
            <a:ext cx="356616" cy="192024"/>
          </a:xfrm>
          <a:prstGeom prst="rect">
            <a:avLst/>
          </a:prstGeom>
          <a:noFill/>
          <a:ln/>
        </p:spPr>
        <p:txBody>
          <a:bodyPr wrap="square" lIns="0" tIns="0" rIns="0" bIns="0" rtlCol="0" anchor="ctr">
            <a:normAutofit/>
          </a:bodyPr>
          <a:lstStyle/>
          <a:p>
            <a:pPr algn="r" indent="0" marL="0">
              <a:buNone/>
            </a:pPr>
            <a:r>
              <a:rPr lang="en-US" sz="900" dirty="0">
                <a:solidFill>
                  <a:srgbClr val="61758A"/>
                </a:solidFill>
                <a:latin typeface="Aptos" pitchFamily="34" charset="0"/>
                <a:ea typeface="Aptos" pitchFamily="34" charset="-122"/>
                <a:cs typeface="Aptos" pitchFamily="34" charset="-120"/>
              </a:rPr>
              <a:t>40</a:t>
            </a:r>
            <a:endParaRPr lang="en-US" sz="900" dirty="0"/>
          </a:p>
        </p:txBody>
      </p:sp>
      <p:sp>
        <p:nvSpPr>
          <p:cNvPr id="8" name="Shape 6"/>
          <p:cNvSpPr/>
          <p:nvPr/>
        </p:nvSpPr>
        <p:spPr>
          <a:xfrm>
            <a:off x="676656" y="1463040"/>
            <a:ext cx="10817352" cy="1088136"/>
          </a:xfrm>
          <a:prstGeom prst="rect">
            <a:avLst/>
          </a:prstGeom>
          <a:solidFill>
            <a:srgbClr val="F3F8FE"/>
          </a:solidFill>
          <a:ln w="12700">
            <a:solidFill>
              <a:srgbClr val="F3F8FE">
                <a:alpha val="0"/>
              </a:srgbClr>
            </a:solidFill>
            <a:prstDash val="solid"/>
          </a:ln>
        </p:spPr>
      </p:sp>
      <p:sp>
        <p:nvSpPr>
          <p:cNvPr id="9" name="Shape 7"/>
          <p:cNvSpPr/>
          <p:nvPr/>
        </p:nvSpPr>
        <p:spPr>
          <a:xfrm>
            <a:off x="676656" y="1463040"/>
            <a:ext cx="50292" cy="1088136"/>
          </a:xfrm>
          <a:prstGeom prst="rect">
            <a:avLst/>
          </a:prstGeom>
          <a:solidFill>
            <a:srgbClr val="1AA6B7"/>
          </a:solidFill>
          <a:ln w="12700">
            <a:solidFill>
              <a:srgbClr val="1AA6B7">
                <a:alpha val="0"/>
              </a:srgbClr>
            </a:solidFill>
            <a:prstDash val="solid"/>
          </a:ln>
        </p:spPr>
      </p:sp>
      <p:sp>
        <p:nvSpPr>
          <p:cNvPr id="10" name="Text 8"/>
          <p:cNvSpPr/>
          <p:nvPr/>
        </p:nvSpPr>
        <p:spPr>
          <a:xfrm>
            <a:off x="877824" y="1591056"/>
            <a:ext cx="10451592"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EXECUTED IN THIS PACKAGE</a:t>
            </a:r>
            <a:endParaRPr lang="en-US" sz="1500" dirty="0"/>
          </a:p>
        </p:txBody>
      </p:sp>
      <p:sp>
        <p:nvSpPr>
          <p:cNvPr id="11" name="Text 9"/>
          <p:cNvSpPr/>
          <p:nvPr/>
        </p:nvSpPr>
        <p:spPr>
          <a:xfrm>
            <a:off x="877824" y="1901952"/>
            <a:ext cx="10424160" cy="58521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A complete local notebook with saved output cells; ten SQLite query tables; generated EDA charts; fitted classifier comparison; confusion matrix and interactive Folium HTML.</a:t>
            </a:r>
            <a:endParaRPr lang="en-US" sz="1320" dirty="0"/>
          </a:p>
        </p:txBody>
      </p:sp>
      <p:sp>
        <p:nvSpPr>
          <p:cNvPr id="12" name="Shape 10"/>
          <p:cNvSpPr/>
          <p:nvPr/>
        </p:nvSpPr>
        <p:spPr>
          <a:xfrm>
            <a:off x="676656" y="2798064"/>
            <a:ext cx="10817352" cy="1143000"/>
          </a:xfrm>
          <a:prstGeom prst="rect">
            <a:avLst/>
          </a:prstGeom>
          <a:solidFill>
            <a:srgbClr val="F3F8FE"/>
          </a:solidFill>
          <a:ln w="12700">
            <a:solidFill>
              <a:srgbClr val="F3F8FE">
                <a:alpha val="0"/>
              </a:srgbClr>
            </a:solidFill>
            <a:prstDash val="solid"/>
          </a:ln>
        </p:spPr>
      </p:sp>
      <p:sp>
        <p:nvSpPr>
          <p:cNvPr id="13" name="Shape 11"/>
          <p:cNvSpPr/>
          <p:nvPr/>
        </p:nvSpPr>
        <p:spPr>
          <a:xfrm>
            <a:off x="676656" y="2798064"/>
            <a:ext cx="50292" cy="1143000"/>
          </a:xfrm>
          <a:prstGeom prst="rect">
            <a:avLst/>
          </a:prstGeom>
          <a:solidFill>
            <a:srgbClr val="1AA6B7"/>
          </a:solidFill>
          <a:ln w="12700">
            <a:solidFill>
              <a:srgbClr val="1AA6B7">
                <a:alpha val="0"/>
              </a:srgbClr>
            </a:solidFill>
            <a:prstDash val="solid"/>
          </a:ln>
        </p:spPr>
      </p:sp>
      <p:sp>
        <p:nvSpPr>
          <p:cNvPr id="14" name="Text 12"/>
          <p:cNvSpPr/>
          <p:nvPr/>
        </p:nvSpPr>
        <p:spPr>
          <a:xfrm>
            <a:off x="877824" y="2926080"/>
            <a:ext cx="10451592"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STARTER LABS RECEIVED</a:t>
            </a:r>
            <a:endParaRPr lang="en-US" sz="1500" dirty="0"/>
          </a:p>
        </p:txBody>
      </p:sp>
      <p:sp>
        <p:nvSpPr>
          <p:cNvPr id="15" name="Text 13"/>
          <p:cNvSpPr/>
          <p:nvPr/>
        </p:nvSpPr>
        <p:spPr>
          <a:xfrm>
            <a:off x="877824" y="3236976"/>
            <a:ext cx="10424160" cy="640080"/>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SpaceX API, Wikipedia scraping, wrangling, visualization, Folium, and machine-learning notebooks were supplied with blank output cells. The Dash lab was supplied as instructions.</a:t>
            </a:r>
            <a:endParaRPr lang="en-US" sz="1320" dirty="0"/>
          </a:p>
        </p:txBody>
      </p:sp>
      <p:sp>
        <p:nvSpPr>
          <p:cNvPr id="16" name="Shape 14"/>
          <p:cNvSpPr/>
          <p:nvPr/>
        </p:nvSpPr>
        <p:spPr>
          <a:xfrm>
            <a:off x="676656" y="4187952"/>
            <a:ext cx="10817352" cy="1362456"/>
          </a:xfrm>
          <a:prstGeom prst="rect">
            <a:avLst/>
          </a:prstGeom>
          <a:solidFill>
            <a:srgbClr val="F3F8FE"/>
          </a:solidFill>
          <a:ln w="12700">
            <a:solidFill>
              <a:srgbClr val="F3F8FE">
                <a:alpha val="0"/>
              </a:srgbClr>
            </a:solidFill>
            <a:prstDash val="solid"/>
          </a:ln>
        </p:spPr>
      </p:sp>
      <p:sp>
        <p:nvSpPr>
          <p:cNvPr id="17" name="Shape 15"/>
          <p:cNvSpPr/>
          <p:nvPr/>
        </p:nvSpPr>
        <p:spPr>
          <a:xfrm>
            <a:off x="676656" y="4187952"/>
            <a:ext cx="50292" cy="1362456"/>
          </a:xfrm>
          <a:prstGeom prst="rect">
            <a:avLst/>
          </a:prstGeom>
          <a:solidFill>
            <a:srgbClr val="1AA6B7"/>
          </a:solidFill>
          <a:ln w="12700">
            <a:solidFill>
              <a:srgbClr val="1AA6B7">
                <a:alpha val="0"/>
              </a:srgbClr>
            </a:solidFill>
            <a:prstDash val="solid"/>
          </a:ln>
        </p:spPr>
      </p:sp>
      <p:sp>
        <p:nvSpPr>
          <p:cNvPr id="18" name="Text 16"/>
          <p:cNvSpPr/>
          <p:nvPr/>
        </p:nvSpPr>
        <p:spPr>
          <a:xfrm>
            <a:off x="877824" y="4315968"/>
            <a:ext cx="10451592" cy="246888"/>
          </a:xfrm>
          <a:prstGeom prst="rect">
            <a:avLst/>
          </a:prstGeom>
          <a:noFill/>
          <a:ln/>
        </p:spPr>
        <p:txBody>
          <a:bodyPr wrap="square" lIns="0" tIns="0" rIns="0" bIns="0" rtlCol="0" anchor="ctr">
            <a:normAutofit/>
          </a:bodyPr>
          <a:lstStyle/>
          <a:p>
            <a:pPr indent="0" marL="0">
              <a:buNone/>
            </a:pPr>
            <a:r>
              <a:rPr lang="en-US" sz="1500" b="1" dirty="0">
                <a:solidFill>
                  <a:srgbClr val="1953B6"/>
                </a:solidFill>
                <a:latin typeface="Aptos" pitchFamily="34" charset="0"/>
                <a:ea typeface="Aptos" pitchFamily="34" charset="-122"/>
                <a:cs typeface="Aptos" pitchFamily="34" charset="-120"/>
              </a:rPr>
              <a:t>STILL NEEDED FOR FULL IBM RUBRIC</a:t>
            </a:r>
            <a:endParaRPr lang="en-US" sz="1500" dirty="0"/>
          </a:p>
        </p:txBody>
      </p:sp>
      <p:sp>
        <p:nvSpPr>
          <p:cNvPr id="19" name="Text 17"/>
          <p:cNvSpPr/>
          <p:nvPr/>
        </p:nvSpPr>
        <p:spPr>
          <a:xfrm>
            <a:off x="877824" y="4626864"/>
            <a:ext cx="10424160" cy="859536"/>
          </a:xfrm>
          <a:prstGeom prst="rect">
            <a:avLst/>
          </a:prstGeom>
          <a:noFill/>
          <a:ln/>
        </p:spPr>
        <p:txBody>
          <a:bodyPr wrap="square" lIns="0" tIns="0" rIns="0" bIns="0" rtlCol="0" anchor="t">
            <a:normAutofit/>
          </a:bodyPr>
          <a:lstStyle/>
          <a:p>
            <a:pPr indent="0" marL="0">
              <a:buNone/>
            </a:pPr>
            <a:r>
              <a:rPr lang="en-US" sz="1320" dirty="0">
                <a:solidFill>
                  <a:srgbClr val="18304C"/>
                </a:solidFill>
                <a:latin typeface="Aptos" pitchFamily="34" charset="0"/>
                <a:ea typeface="Aptos" pitchFamily="34" charset="-122"/>
                <a:cs typeface="Aptos" pitchFamily="34" charset="-120"/>
              </a:rPr>
              <a:t>The source-specific 90-row API/orbit/year results; verified Dash browser screenshots; precise geographic infrastructure proximity; completed original lab notebooks; and a GitHub link owned by the learner.</a:t>
            </a:r>
            <a:endParaRPr lang="en-US" sz="132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Folium evidence | Real launch-site location data</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pic>
        <p:nvPicPr>
          <p:cNvPr id="7" name="Picture 6" descr="image.png"/>
          <p:cNvPicPr>
            <a:picLocks noChangeAspect="1"/>
          </p:cNvPicPr>
          <p:nvPr/>
        </p:nvPicPr>
        <p:blipFill>
          <a:blip r:embed="rId2"/>
          <a:stretch>
            <a:fillRect/>
          </a:stretch>
        </p:blipFill>
        <p:spPr>
          <a:xfrm>
            <a:off x="694944" y="1554480"/>
            <a:ext cx="7223760" cy="4343400"/>
          </a:xfrm>
          <a:prstGeom prst="rect">
            <a:avLst/>
          </a:prstGeom>
        </p:spPr>
      </p:pic>
      <p:sp>
        <p:nvSpPr>
          <p:cNvPr id="8" name="Rectangle 7"/>
          <p:cNvSpPr/>
          <p:nvPr/>
        </p:nvSpPr>
        <p:spPr>
          <a:xfrm>
            <a:off x="8138160" y="1645920"/>
            <a:ext cx="3355848" cy="210312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755648"/>
            <a:ext cx="3035808" cy="320040"/>
          </a:xfrm>
          <a:prstGeom prst="rect">
            <a:avLst/>
          </a:prstGeom>
          <a:noFill/>
        </p:spPr>
        <p:txBody>
          <a:bodyPr wrap="square">
            <a:spAutoFit/>
          </a:bodyPr>
          <a:lstStyle/>
          <a:p>
            <a:pPr>
              <a:spcAft>
                <a:spcPts val="500"/>
              </a:spcAft>
              <a:defRPr sz="1400" b="1">
                <a:solidFill>
                  <a:srgbClr val="1953B6"/>
                </a:solidFill>
                <a:latin typeface="Aptos"/>
              </a:defRPr>
            </a:pPr>
            <a:r>
              <a:t>WHAT THE MAP SUPPORTS</a:t>
            </a:r>
          </a:p>
        </p:txBody>
      </p:sp>
      <p:sp>
        <p:nvSpPr>
          <p:cNvPr id="10" name="TextBox 9"/>
          <p:cNvSpPr txBox="1"/>
          <p:nvPr/>
        </p:nvSpPr>
        <p:spPr>
          <a:xfrm>
            <a:off x="8302752" y="2157984"/>
            <a:ext cx="3035808" cy="1545336"/>
          </a:xfrm>
          <a:prstGeom prst="rect">
            <a:avLst/>
          </a:prstGeom>
          <a:noFill/>
        </p:spPr>
        <p:txBody>
          <a:bodyPr wrap="square">
            <a:spAutoFit/>
          </a:bodyPr>
          <a:lstStyle/>
          <a:p>
            <a:pPr>
              <a:spcAft>
                <a:spcPts val="500"/>
              </a:spcAft>
              <a:defRPr sz="1200" b="0">
                <a:solidFill>
                  <a:srgbClr val="18304C"/>
                </a:solidFill>
                <a:latin typeface="Aptos"/>
              </a:defRPr>
            </a:pPr>
            <a:r>
              <a:t>Actual plotted launch-pad coordinates place sites in Florida and California; CircleMarker size represents flight count. The companion interactive Folium HTML includes clickable site-level data.</a:t>
            </a:r>
          </a:p>
        </p:txBody>
      </p:sp>
      <p:sp>
        <p:nvSpPr>
          <p:cNvPr id="11" name="Rectangle 10"/>
          <p:cNvSpPr/>
          <p:nvPr/>
        </p:nvSpPr>
        <p:spPr>
          <a:xfrm>
            <a:off x="8138160" y="3959352"/>
            <a:ext cx="3355848" cy="164592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4069080"/>
            <a:ext cx="3035808" cy="320040"/>
          </a:xfrm>
          <a:prstGeom prst="rect">
            <a:avLst/>
          </a:prstGeom>
          <a:noFill/>
        </p:spPr>
        <p:txBody>
          <a:bodyPr wrap="square">
            <a:spAutoFit/>
          </a:bodyPr>
          <a:lstStyle/>
          <a:p>
            <a:pPr>
              <a:spcAft>
                <a:spcPts val="500"/>
              </a:spcAft>
              <a:defRPr sz="1400" b="1">
                <a:solidFill>
                  <a:srgbClr val="1953B6"/>
                </a:solidFill>
                <a:latin typeface="Aptos"/>
              </a:defRPr>
            </a:pPr>
            <a:r>
              <a:t>REPRODUCIBILITY</a:t>
            </a:r>
          </a:p>
        </p:txBody>
      </p:sp>
      <p:sp>
        <p:nvSpPr>
          <p:cNvPr id="13" name="TextBox 12"/>
          <p:cNvSpPr txBox="1"/>
          <p:nvPr/>
        </p:nvSpPr>
        <p:spPr>
          <a:xfrm>
            <a:off x="8302752" y="4471416"/>
            <a:ext cx="3035808" cy="1088136"/>
          </a:xfrm>
          <a:prstGeom prst="rect">
            <a:avLst/>
          </a:prstGeom>
          <a:noFill/>
        </p:spPr>
        <p:txBody>
          <a:bodyPr wrap="square">
            <a:spAutoFit/>
          </a:bodyPr>
          <a:lstStyle/>
          <a:p>
            <a:pPr>
              <a:spcAft>
                <a:spcPts val="500"/>
              </a:spcAft>
              <a:defRPr sz="1200" b="0">
                <a:solidFill>
                  <a:srgbClr val="18304C"/>
                </a:solidFill>
                <a:latin typeface="Aptos"/>
              </a:defRPr>
            </a:pPr>
            <a:r>
              <a:t>folium_site_map.html is provided. This geographic graphic is generated from the site coordinates, rather than a captured Folium browser view.</a:t>
            </a:r>
          </a:p>
        </p:txBody>
      </p:sp>
      <p:sp>
        <p:nvSpPr>
          <p:cNvPr id="14" name="Rectangle 13"/>
          <p:cNvSpPr/>
          <p:nvPr/>
        </p:nvSpPr>
        <p:spPr>
          <a:xfrm>
            <a:off x="713232" y="5925312"/>
            <a:ext cx="10789920" cy="329184"/>
          </a:xfrm>
          <a:prstGeom prst="rect">
            <a:avLst/>
          </a:prstGeom>
          <a:solidFill>
            <a:srgbClr val="E6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980176"/>
            <a:ext cx="10515600" cy="219456"/>
          </a:xfrm>
          <a:prstGeom prst="rect">
            <a:avLst/>
          </a:prstGeom>
          <a:noFill/>
        </p:spPr>
        <p:txBody>
          <a:bodyPr wrap="square">
            <a:spAutoFit/>
          </a:bodyPr>
          <a:lstStyle/>
          <a:p>
            <a:pPr>
              <a:spcAft>
                <a:spcPts val="500"/>
              </a:spcAft>
              <a:defRPr sz="1000" b="0">
                <a:solidFill>
                  <a:srgbClr val="18304C"/>
                </a:solidFill>
                <a:latin typeface="Aptos"/>
              </a:defRPr>
            </a:pPr>
            <a:r>
              <a:t>Source: bundled launch-site coordinates and 56-record course dashboard extract.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Geography | Outcome counts at each launch pad</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pic>
        <p:nvPicPr>
          <p:cNvPr id="7" name="Picture 6" descr="image.png"/>
          <p:cNvPicPr>
            <a:picLocks noChangeAspect="1"/>
          </p:cNvPicPr>
          <p:nvPr/>
        </p:nvPicPr>
        <p:blipFill>
          <a:blip r:embed="rId2"/>
          <a:stretch>
            <a:fillRect/>
          </a:stretch>
        </p:blipFill>
        <p:spPr>
          <a:xfrm>
            <a:off x="694944" y="1554480"/>
            <a:ext cx="7223760" cy="4343400"/>
          </a:xfrm>
          <a:prstGeom prst="rect">
            <a:avLst/>
          </a:prstGeom>
        </p:spPr>
      </p:pic>
      <p:sp>
        <p:nvSpPr>
          <p:cNvPr id="8" name="Rectangle 7"/>
          <p:cNvSpPr/>
          <p:nvPr/>
        </p:nvSpPr>
        <p:spPr>
          <a:xfrm>
            <a:off x="8138160" y="1600200"/>
            <a:ext cx="3355848" cy="283464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709928"/>
            <a:ext cx="3035808" cy="320040"/>
          </a:xfrm>
          <a:prstGeom prst="rect">
            <a:avLst/>
          </a:prstGeom>
          <a:noFill/>
        </p:spPr>
        <p:txBody>
          <a:bodyPr wrap="square">
            <a:spAutoFit/>
          </a:bodyPr>
          <a:lstStyle/>
          <a:p>
            <a:pPr>
              <a:spcAft>
                <a:spcPts val="500"/>
              </a:spcAft>
              <a:defRPr sz="1400" b="1">
                <a:solidFill>
                  <a:srgbClr val="1953B6"/>
                </a:solidFill>
                <a:latin typeface="Aptos"/>
              </a:defRPr>
            </a:pPr>
            <a:r>
              <a:t>OBSERVED OUTCOMES</a:t>
            </a:r>
          </a:p>
        </p:txBody>
      </p:sp>
      <p:sp>
        <p:nvSpPr>
          <p:cNvPr id="10" name="TextBox 9"/>
          <p:cNvSpPr txBox="1"/>
          <p:nvPr/>
        </p:nvSpPr>
        <p:spPr>
          <a:xfrm>
            <a:off x="8302752" y="2112264"/>
            <a:ext cx="3035808" cy="2276856"/>
          </a:xfrm>
          <a:prstGeom prst="rect">
            <a:avLst/>
          </a:prstGeom>
          <a:noFill/>
        </p:spPr>
        <p:txBody>
          <a:bodyPr wrap="square">
            <a:spAutoFit/>
          </a:bodyPr>
          <a:lstStyle/>
          <a:p>
            <a:pPr>
              <a:spcAft>
                <a:spcPts val="500"/>
              </a:spcAft>
              <a:defRPr sz="1200" b="0">
                <a:solidFill>
                  <a:srgbClr val="18304C"/>
                </a:solidFill>
                <a:latin typeface="Aptos"/>
              </a:defRPr>
            </a:pPr>
            <a:r>
              <a:t>KSC LC-39A: 10/13 (76.9%)</a:t>
            </a:r>
          </a:p>
          <a:p>
            <a:pPr>
              <a:spcAft>
                <a:spcPts val="500"/>
              </a:spcAft>
              <a:defRPr sz="1200" b="0">
                <a:solidFill>
                  <a:srgbClr val="18304C"/>
                </a:solidFill>
                <a:latin typeface="Aptos"/>
              </a:defRPr>
            </a:pPr>
            <a:r>
              <a:t>CCAFS LC-40: 7/26 (26.9%)</a:t>
            </a:r>
          </a:p>
          <a:p>
            <a:pPr>
              <a:spcAft>
                <a:spcPts val="500"/>
              </a:spcAft>
              <a:defRPr sz="1200" b="0">
                <a:solidFill>
                  <a:srgbClr val="18304C"/>
                </a:solidFill>
                <a:latin typeface="Aptos"/>
              </a:defRPr>
            </a:pPr>
            <a:r>
              <a:t>VAFB SLC-4E: 4/10 (40.0%)</a:t>
            </a:r>
          </a:p>
          <a:p>
            <a:pPr>
              <a:spcAft>
                <a:spcPts val="500"/>
              </a:spcAft>
              <a:defRPr sz="1200" b="0">
                <a:solidFill>
                  <a:srgbClr val="18304C"/>
                </a:solidFill>
                <a:latin typeface="Aptos"/>
              </a:defRPr>
            </a:pPr>
            <a:r>
              <a:t>CCAFS SLC-40: 3/7 (42.9%)</a:t>
            </a:r>
          </a:p>
        </p:txBody>
      </p:sp>
      <p:sp>
        <p:nvSpPr>
          <p:cNvPr id="11" name="Rectangle 10"/>
          <p:cNvSpPr/>
          <p:nvPr/>
        </p:nvSpPr>
        <p:spPr>
          <a:xfrm>
            <a:off x="8138160" y="4590288"/>
            <a:ext cx="3355848" cy="1170432"/>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4700016"/>
            <a:ext cx="3035808" cy="320040"/>
          </a:xfrm>
          <a:prstGeom prst="rect">
            <a:avLst/>
          </a:prstGeom>
          <a:noFill/>
        </p:spPr>
        <p:txBody>
          <a:bodyPr wrap="square">
            <a:spAutoFit/>
          </a:bodyPr>
          <a:lstStyle/>
          <a:p>
            <a:pPr>
              <a:spcAft>
                <a:spcPts val="500"/>
              </a:spcAft>
              <a:defRPr sz="1400" b="1">
                <a:solidFill>
                  <a:srgbClr val="1953B6"/>
                </a:solidFill>
                <a:latin typeface="Aptos"/>
              </a:defRPr>
            </a:pPr>
            <a:r>
              <a:t>INTERPRETATION</a:t>
            </a:r>
          </a:p>
        </p:txBody>
      </p:sp>
      <p:sp>
        <p:nvSpPr>
          <p:cNvPr id="13" name="TextBox 12"/>
          <p:cNvSpPr txBox="1"/>
          <p:nvPr/>
        </p:nvSpPr>
        <p:spPr>
          <a:xfrm>
            <a:off x="8302752" y="5102352"/>
            <a:ext cx="3035808" cy="612648"/>
          </a:xfrm>
          <a:prstGeom prst="rect">
            <a:avLst/>
          </a:prstGeom>
          <a:noFill/>
        </p:spPr>
        <p:txBody>
          <a:bodyPr wrap="square">
            <a:spAutoFit/>
          </a:bodyPr>
          <a:lstStyle/>
          <a:p>
            <a:pPr>
              <a:spcAft>
                <a:spcPts val="500"/>
              </a:spcAft>
              <a:defRPr sz="1200" b="0">
                <a:solidFill>
                  <a:srgbClr val="18304C"/>
                </a:solidFill>
                <a:latin typeface="Aptos"/>
              </a:defRPr>
            </a:pPr>
            <a:r>
              <a:t>Larger success counts may reflect a higher number of missions rather than a safer launch site. No causal site ranking is claimed.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Geospatial proximity | What is and is not measured</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pic>
        <p:nvPicPr>
          <p:cNvPr id="7" name="Picture 6" descr="image.png"/>
          <p:cNvPicPr>
            <a:picLocks noChangeAspect="1"/>
          </p:cNvPicPr>
          <p:nvPr/>
        </p:nvPicPr>
        <p:blipFill>
          <a:blip r:embed="rId2"/>
          <a:stretch>
            <a:fillRect/>
          </a:stretch>
        </p:blipFill>
        <p:spPr>
          <a:xfrm>
            <a:off x="694944" y="1554480"/>
            <a:ext cx="7223760" cy="4343400"/>
          </a:xfrm>
          <a:prstGeom prst="rect">
            <a:avLst/>
          </a:prstGeom>
        </p:spPr>
      </p:pic>
      <p:sp>
        <p:nvSpPr>
          <p:cNvPr id="8" name="Rectangle 7"/>
          <p:cNvSpPr/>
          <p:nvPr/>
        </p:nvSpPr>
        <p:spPr>
          <a:xfrm>
            <a:off x="8138160" y="1645920"/>
            <a:ext cx="3355848" cy="256032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755648"/>
            <a:ext cx="3035808" cy="320040"/>
          </a:xfrm>
          <a:prstGeom prst="rect">
            <a:avLst/>
          </a:prstGeom>
          <a:noFill/>
        </p:spPr>
        <p:txBody>
          <a:bodyPr wrap="square">
            <a:spAutoFit/>
          </a:bodyPr>
          <a:lstStyle/>
          <a:p>
            <a:pPr>
              <a:spcAft>
                <a:spcPts val="500"/>
              </a:spcAft>
              <a:defRPr sz="1400" b="1">
                <a:solidFill>
                  <a:srgbClr val="1953B6"/>
                </a:solidFill>
                <a:latin typeface="Aptos"/>
              </a:defRPr>
            </a:pPr>
            <a:r>
              <a:t>PROXIMITY CRITERION</a:t>
            </a:r>
          </a:p>
        </p:txBody>
      </p:sp>
      <p:sp>
        <p:nvSpPr>
          <p:cNvPr id="10" name="TextBox 9"/>
          <p:cNvSpPr txBox="1"/>
          <p:nvPr/>
        </p:nvSpPr>
        <p:spPr>
          <a:xfrm>
            <a:off x="8302752" y="2157984"/>
            <a:ext cx="3035808" cy="2002536"/>
          </a:xfrm>
          <a:prstGeom prst="rect">
            <a:avLst/>
          </a:prstGeom>
          <a:noFill/>
        </p:spPr>
        <p:txBody>
          <a:bodyPr wrap="square">
            <a:spAutoFit/>
          </a:bodyPr>
          <a:lstStyle/>
          <a:p>
            <a:pPr>
              <a:spcAft>
                <a:spcPts val="500"/>
              </a:spcAft>
              <a:defRPr sz="1200" b="0">
                <a:solidFill>
                  <a:srgbClr val="18304C"/>
                </a:solidFill>
                <a:latin typeface="Aptos"/>
              </a:defRPr>
            </a:pPr>
            <a:r>
              <a:t>The three launch coordinates can be mapped reliably. This historical CSV does NOT contain road, rail or coastline geometries, so kilometer distances to these features cannot be substantiated.</a:t>
            </a:r>
          </a:p>
        </p:txBody>
      </p:sp>
      <p:sp>
        <p:nvSpPr>
          <p:cNvPr id="11" name="Rectangle 10"/>
          <p:cNvSpPr/>
          <p:nvPr/>
        </p:nvSpPr>
        <p:spPr>
          <a:xfrm>
            <a:off x="8138160" y="4370832"/>
            <a:ext cx="3355848" cy="1298448"/>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4480560"/>
            <a:ext cx="3035808" cy="320040"/>
          </a:xfrm>
          <a:prstGeom prst="rect">
            <a:avLst/>
          </a:prstGeom>
          <a:noFill/>
        </p:spPr>
        <p:txBody>
          <a:bodyPr wrap="square">
            <a:spAutoFit/>
          </a:bodyPr>
          <a:lstStyle/>
          <a:p>
            <a:pPr>
              <a:spcAft>
                <a:spcPts val="500"/>
              </a:spcAft>
              <a:defRPr sz="1400" b="1">
                <a:solidFill>
                  <a:srgbClr val="1953B6"/>
                </a:solidFill>
                <a:latin typeface="Aptos"/>
              </a:defRPr>
            </a:pPr>
            <a:r>
              <a:t>RESEARCH LIMITATION</a:t>
            </a:r>
          </a:p>
        </p:txBody>
      </p:sp>
      <p:sp>
        <p:nvSpPr>
          <p:cNvPr id="13" name="TextBox 12"/>
          <p:cNvSpPr txBox="1"/>
          <p:nvPr/>
        </p:nvSpPr>
        <p:spPr>
          <a:xfrm>
            <a:off x="8302752" y="4882896"/>
            <a:ext cx="3035808" cy="740664"/>
          </a:xfrm>
          <a:prstGeom prst="rect">
            <a:avLst/>
          </a:prstGeom>
          <a:noFill/>
        </p:spPr>
        <p:txBody>
          <a:bodyPr wrap="square">
            <a:spAutoFit/>
          </a:bodyPr>
          <a:lstStyle/>
          <a:p>
            <a:pPr>
              <a:spcAft>
                <a:spcPts val="500"/>
              </a:spcAft>
              <a:defRPr sz="1200" b="0">
                <a:solidFill>
                  <a:srgbClr val="18304C"/>
                </a:solidFill>
                <a:latin typeface="Aptos"/>
              </a:defRPr>
            </a:pPr>
            <a:r>
              <a:t>To complete the infrastructure proximity criterion rigorously, geocode verified landmarks, calculate geodesic distances, then cite the map source. No invented distances are used.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Plotly Dash | All-sites recovery outcomes</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pic>
        <p:nvPicPr>
          <p:cNvPr id="7" name="Picture 6" descr="image.png"/>
          <p:cNvPicPr>
            <a:picLocks noChangeAspect="1"/>
          </p:cNvPicPr>
          <p:nvPr/>
        </p:nvPicPr>
        <p:blipFill>
          <a:blip r:embed="rId2"/>
          <a:stretch>
            <a:fillRect/>
          </a:stretch>
        </p:blipFill>
        <p:spPr>
          <a:xfrm>
            <a:off x="694944" y="1554480"/>
            <a:ext cx="7223760" cy="4343400"/>
          </a:xfrm>
          <a:prstGeom prst="rect">
            <a:avLst/>
          </a:prstGeom>
        </p:spPr>
      </p:pic>
      <p:sp>
        <p:nvSpPr>
          <p:cNvPr id="8" name="Rectangle 7"/>
          <p:cNvSpPr/>
          <p:nvPr/>
        </p:nvSpPr>
        <p:spPr>
          <a:xfrm>
            <a:off x="8138160" y="1655064"/>
            <a:ext cx="3355848" cy="2304288"/>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764792"/>
            <a:ext cx="3035808" cy="320040"/>
          </a:xfrm>
          <a:prstGeom prst="rect">
            <a:avLst/>
          </a:prstGeom>
          <a:noFill/>
        </p:spPr>
        <p:txBody>
          <a:bodyPr wrap="square">
            <a:spAutoFit/>
          </a:bodyPr>
          <a:lstStyle/>
          <a:p>
            <a:pPr>
              <a:spcAft>
                <a:spcPts val="500"/>
              </a:spcAft>
              <a:defRPr sz="1400" b="1">
                <a:solidFill>
                  <a:srgbClr val="1953B6"/>
                </a:solidFill>
                <a:latin typeface="Aptos"/>
              </a:defRPr>
            </a:pPr>
            <a:r>
              <a:t>DASHBOARD FUNCTION</a:t>
            </a:r>
          </a:p>
        </p:txBody>
      </p:sp>
      <p:sp>
        <p:nvSpPr>
          <p:cNvPr id="10" name="TextBox 9"/>
          <p:cNvSpPr txBox="1"/>
          <p:nvPr/>
        </p:nvSpPr>
        <p:spPr>
          <a:xfrm>
            <a:off x="8302752" y="2167128"/>
            <a:ext cx="3035808" cy="1746504"/>
          </a:xfrm>
          <a:prstGeom prst="rect">
            <a:avLst/>
          </a:prstGeom>
          <a:noFill/>
        </p:spPr>
        <p:txBody>
          <a:bodyPr wrap="square">
            <a:spAutoFit/>
          </a:bodyPr>
          <a:lstStyle/>
          <a:p>
            <a:pPr>
              <a:spcAft>
                <a:spcPts val="500"/>
              </a:spcAft>
              <a:defRPr sz="1200" b="0">
                <a:solidFill>
                  <a:srgbClr val="18304C"/>
                </a:solidFill>
                <a:latin typeface="Aptos"/>
              </a:defRPr>
            </a:pPr>
            <a:r>
              <a:t>The companion dashboard_app.py implements a dropdown with an All Sites choice and individual pads, plus a payload range filter. The image on the left is an actual generated analysis export.</a:t>
            </a:r>
          </a:p>
        </p:txBody>
      </p:sp>
      <p:sp>
        <p:nvSpPr>
          <p:cNvPr id="11" name="Rectangle 10"/>
          <p:cNvSpPr/>
          <p:nvPr/>
        </p:nvSpPr>
        <p:spPr>
          <a:xfrm>
            <a:off x="8138160" y="4187952"/>
            <a:ext cx="3355848" cy="1481328"/>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4297680"/>
            <a:ext cx="3035808" cy="320040"/>
          </a:xfrm>
          <a:prstGeom prst="rect">
            <a:avLst/>
          </a:prstGeom>
          <a:noFill/>
        </p:spPr>
        <p:txBody>
          <a:bodyPr wrap="square">
            <a:spAutoFit/>
          </a:bodyPr>
          <a:lstStyle/>
          <a:p>
            <a:pPr>
              <a:spcAft>
                <a:spcPts val="500"/>
              </a:spcAft>
              <a:defRPr sz="1400" b="1">
                <a:solidFill>
                  <a:srgbClr val="1953B6"/>
                </a:solidFill>
                <a:latin typeface="Aptos"/>
              </a:defRPr>
            </a:pPr>
            <a:r>
              <a:t>KEY METRIC</a:t>
            </a:r>
          </a:p>
        </p:txBody>
      </p:sp>
      <p:sp>
        <p:nvSpPr>
          <p:cNvPr id="13" name="TextBox 12"/>
          <p:cNvSpPr txBox="1"/>
          <p:nvPr/>
        </p:nvSpPr>
        <p:spPr>
          <a:xfrm>
            <a:off x="8302752" y="4700016"/>
            <a:ext cx="3035808" cy="923544"/>
          </a:xfrm>
          <a:prstGeom prst="rect">
            <a:avLst/>
          </a:prstGeom>
          <a:noFill/>
        </p:spPr>
        <p:txBody>
          <a:bodyPr wrap="square">
            <a:spAutoFit/>
          </a:bodyPr>
          <a:lstStyle/>
          <a:p>
            <a:pPr>
              <a:spcAft>
                <a:spcPts val="500"/>
              </a:spcAft>
              <a:defRPr sz="1200" b="0">
                <a:solidFill>
                  <a:srgbClr val="18304C"/>
                </a:solidFill>
                <a:latin typeface="Aptos"/>
              </a:defRPr>
            </a:pPr>
            <a:r>
              <a:t>The full sample records 24 successful vs 32 other recoveries: 42.9% Class=1. This is booster recovery, not mission success.</a:t>
            </a:r>
          </a:p>
        </p:txBody>
      </p:sp>
      <p:sp>
        <p:nvSpPr>
          <p:cNvPr id="14" name="Rectangle 13"/>
          <p:cNvSpPr/>
          <p:nvPr/>
        </p:nvSpPr>
        <p:spPr>
          <a:xfrm>
            <a:off x="713232" y="5925312"/>
            <a:ext cx="10789920" cy="329184"/>
          </a:xfrm>
          <a:prstGeom prst="rect">
            <a:avLst/>
          </a:prstGeom>
          <a:solidFill>
            <a:srgbClr val="E6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980176"/>
            <a:ext cx="10515600" cy="219456"/>
          </a:xfrm>
          <a:prstGeom prst="rect">
            <a:avLst/>
          </a:prstGeom>
          <a:noFill/>
        </p:spPr>
        <p:txBody>
          <a:bodyPr wrap="square">
            <a:spAutoFit/>
          </a:bodyPr>
          <a:lstStyle/>
          <a:p>
            <a:pPr>
              <a:spcAft>
                <a:spcPts val="500"/>
              </a:spcAft>
              <a:defRPr sz="1000" b="0">
                <a:solidFill>
                  <a:srgbClr val="18304C"/>
                </a:solidFill>
                <a:latin typeface="Aptos"/>
              </a:defRPr>
            </a:pPr>
            <a:r>
              <a:t>Executable app bundled; this slide is not misrepresented as an actual browser screenshot.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Plotly Dash | Site-filtered comparison</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pic>
        <p:nvPicPr>
          <p:cNvPr id="7" name="Picture 6" descr="image.png"/>
          <p:cNvPicPr>
            <a:picLocks noChangeAspect="1"/>
          </p:cNvPicPr>
          <p:nvPr/>
        </p:nvPicPr>
        <p:blipFill>
          <a:blip r:embed="rId2"/>
          <a:stretch>
            <a:fillRect/>
          </a:stretch>
        </p:blipFill>
        <p:spPr>
          <a:xfrm>
            <a:off x="694944" y="1554480"/>
            <a:ext cx="7223760" cy="4343400"/>
          </a:xfrm>
          <a:prstGeom prst="rect">
            <a:avLst/>
          </a:prstGeom>
        </p:spPr>
      </p:pic>
      <p:sp>
        <p:nvSpPr>
          <p:cNvPr id="8" name="Rectangle 7"/>
          <p:cNvSpPr/>
          <p:nvPr/>
        </p:nvSpPr>
        <p:spPr>
          <a:xfrm>
            <a:off x="8138160" y="1664208"/>
            <a:ext cx="3355848" cy="2167128"/>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773936"/>
            <a:ext cx="3035808" cy="320040"/>
          </a:xfrm>
          <a:prstGeom prst="rect">
            <a:avLst/>
          </a:prstGeom>
          <a:noFill/>
        </p:spPr>
        <p:txBody>
          <a:bodyPr wrap="square">
            <a:spAutoFit/>
          </a:bodyPr>
          <a:lstStyle/>
          <a:p>
            <a:pPr>
              <a:spcAft>
                <a:spcPts val="500"/>
              </a:spcAft>
              <a:defRPr sz="1400" b="1">
                <a:solidFill>
                  <a:srgbClr val="1953B6"/>
                </a:solidFill>
                <a:latin typeface="Aptos"/>
              </a:defRPr>
            </a:pPr>
            <a:r>
              <a:t>SITE DROPDOWN</a:t>
            </a:r>
          </a:p>
        </p:txBody>
      </p:sp>
      <p:sp>
        <p:nvSpPr>
          <p:cNvPr id="10" name="TextBox 9"/>
          <p:cNvSpPr txBox="1"/>
          <p:nvPr/>
        </p:nvSpPr>
        <p:spPr>
          <a:xfrm>
            <a:off x="8302752" y="2176272"/>
            <a:ext cx="3035808" cy="1609344"/>
          </a:xfrm>
          <a:prstGeom prst="rect">
            <a:avLst/>
          </a:prstGeom>
          <a:noFill/>
        </p:spPr>
        <p:txBody>
          <a:bodyPr wrap="square">
            <a:spAutoFit/>
          </a:bodyPr>
          <a:lstStyle/>
          <a:p>
            <a:pPr>
              <a:spcAft>
                <a:spcPts val="500"/>
              </a:spcAft>
              <a:defRPr sz="1200" b="0">
                <a:solidFill>
                  <a:srgbClr val="18304C"/>
                </a:solidFill>
                <a:latin typeface="Aptos"/>
              </a:defRPr>
            </a:pPr>
            <a:r>
              <a:t>Selecting a site changes the Dash figure to include only the chosen launch-pad records. The site-success chart documents the underlying aggregates and denominators.</a:t>
            </a:r>
          </a:p>
        </p:txBody>
      </p:sp>
      <p:sp>
        <p:nvSpPr>
          <p:cNvPr id="11" name="Rectangle 10"/>
          <p:cNvSpPr/>
          <p:nvPr/>
        </p:nvSpPr>
        <p:spPr>
          <a:xfrm>
            <a:off x="8138160" y="4087368"/>
            <a:ext cx="3355848" cy="1673352"/>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4197096"/>
            <a:ext cx="3035808" cy="320040"/>
          </a:xfrm>
          <a:prstGeom prst="rect">
            <a:avLst/>
          </a:prstGeom>
          <a:noFill/>
        </p:spPr>
        <p:txBody>
          <a:bodyPr wrap="square">
            <a:spAutoFit/>
          </a:bodyPr>
          <a:lstStyle/>
          <a:p>
            <a:pPr>
              <a:spcAft>
                <a:spcPts val="500"/>
              </a:spcAft>
              <a:defRPr sz="1400" b="1">
                <a:solidFill>
                  <a:srgbClr val="1953B6"/>
                </a:solidFill>
                <a:latin typeface="Aptos"/>
              </a:defRPr>
            </a:pPr>
            <a:r>
              <a:t>DECISION-USEFUL READING</a:t>
            </a:r>
          </a:p>
        </p:txBody>
      </p:sp>
      <p:sp>
        <p:nvSpPr>
          <p:cNvPr id="13" name="TextBox 12"/>
          <p:cNvSpPr txBox="1"/>
          <p:nvPr/>
        </p:nvSpPr>
        <p:spPr>
          <a:xfrm>
            <a:off x="8302752" y="4599431"/>
            <a:ext cx="3035808" cy="1115568"/>
          </a:xfrm>
          <a:prstGeom prst="rect">
            <a:avLst/>
          </a:prstGeom>
          <a:noFill/>
        </p:spPr>
        <p:txBody>
          <a:bodyPr wrap="square">
            <a:spAutoFit/>
          </a:bodyPr>
          <a:lstStyle/>
          <a:p>
            <a:pPr>
              <a:spcAft>
                <a:spcPts val="500"/>
              </a:spcAft>
              <a:defRPr sz="1200" b="0">
                <a:solidFill>
                  <a:srgbClr val="18304C"/>
                </a:solidFill>
                <a:latin typeface="Aptos"/>
              </a:defRPr>
            </a:pPr>
            <a:r>
              <a:t>Use both the percentage and number of flights. A high recovery rate on very few launches is less informative than a stable rate across a larger sample.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Plotly Dash | Payload filter and outcome</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pic>
        <p:nvPicPr>
          <p:cNvPr id="7" name="Picture 6" descr="image.png"/>
          <p:cNvPicPr>
            <a:picLocks noChangeAspect="1"/>
          </p:cNvPicPr>
          <p:nvPr/>
        </p:nvPicPr>
        <p:blipFill>
          <a:blip r:embed="rId2"/>
          <a:stretch>
            <a:fillRect/>
          </a:stretch>
        </p:blipFill>
        <p:spPr>
          <a:xfrm>
            <a:off x="694944" y="1554480"/>
            <a:ext cx="7223760" cy="4343400"/>
          </a:xfrm>
          <a:prstGeom prst="rect">
            <a:avLst/>
          </a:prstGeom>
        </p:spPr>
      </p:pic>
      <p:sp>
        <p:nvSpPr>
          <p:cNvPr id="8" name="Rectangle 7"/>
          <p:cNvSpPr/>
          <p:nvPr/>
        </p:nvSpPr>
        <p:spPr>
          <a:xfrm>
            <a:off x="8138160" y="1664208"/>
            <a:ext cx="3355848" cy="2267712"/>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773936"/>
            <a:ext cx="3035808" cy="320040"/>
          </a:xfrm>
          <a:prstGeom prst="rect">
            <a:avLst/>
          </a:prstGeom>
          <a:noFill/>
        </p:spPr>
        <p:txBody>
          <a:bodyPr wrap="square">
            <a:spAutoFit/>
          </a:bodyPr>
          <a:lstStyle/>
          <a:p>
            <a:pPr>
              <a:spcAft>
                <a:spcPts val="500"/>
              </a:spcAft>
              <a:defRPr sz="1400" b="1">
                <a:solidFill>
                  <a:srgbClr val="1953B6"/>
                </a:solidFill>
                <a:latin typeface="Aptos"/>
              </a:defRPr>
            </a:pPr>
            <a:r>
              <a:t>FILTER AND SCATTER</a:t>
            </a:r>
          </a:p>
        </p:txBody>
      </p:sp>
      <p:sp>
        <p:nvSpPr>
          <p:cNvPr id="10" name="TextBox 9"/>
          <p:cNvSpPr txBox="1"/>
          <p:nvPr/>
        </p:nvSpPr>
        <p:spPr>
          <a:xfrm>
            <a:off x="8302752" y="2176272"/>
            <a:ext cx="3035808" cy="1709928"/>
          </a:xfrm>
          <a:prstGeom prst="rect">
            <a:avLst/>
          </a:prstGeom>
          <a:noFill/>
        </p:spPr>
        <p:txBody>
          <a:bodyPr wrap="square">
            <a:spAutoFit/>
          </a:bodyPr>
          <a:lstStyle/>
          <a:p>
            <a:pPr>
              <a:spcAft>
                <a:spcPts val="500"/>
              </a:spcAft>
              <a:defRPr sz="1200" b="0">
                <a:solidFill>
                  <a:srgbClr val="18304C"/>
                </a:solidFill>
                <a:latin typeface="Aptos"/>
              </a:defRPr>
            </a:pPr>
            <a:r>
              <a:t>The Dash RangeSlider can restrict the observed payload interval. A scatter plot plots payload against flight number with color indicating recovery outcome.</a:t>
            </a:r>
          </a:p>
        </p:txBody>
      </p:sp>
      <p:sp>
        <p:nvSpPr>
          <p:cNvPr id="11" name="Rectangle 10"/>
          <p:cNvSpPr/>
          <p:nvPr/>
        </p:nvSpPr>
        <p:spPr>
          <a:xfrm>
            <a:off x="8138160" y="4133087"/>
            <a:ext cx="3355848" cy="1609344"/>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4242816"/>
            <a:ext cx="3035808" cy="320040"/>
          </a:xfrm>
          <a:prstGeom prst="rect">
            <a:avLst/>
          </a:prstGeom>
          <a:noFill/>
        </p:spPr>
        <p:txBody>
          <a:bodyPr wrap="square">
            <a:spAutoFit/>
          </a:bodyPr>
          <a:lstStyle/>
          <a:p>
            <a:pPr>
              <a:spcAft>
                <a:spcPts val="500"/>
              </a:spcAft>
              <a:defRPr sz="1400" b="1">
                <a:solidFill>
                  <a:srgbClr val="1953B6"/>
                </a:solidFill>
                <a:latin typeface="Aptos"/>
              </a:defRPr>
            </a:pPr>
            <a:r>
              <a:t>INTERPRETATION</a:t>
            </a:r>
          </a:p>
        </p:txBody>
      </p:sp>
      <p:sp>
        <p:nvSpPr>
          <p:cNvPr id="13" name="TextBox 12"/>
          <p:cNvSpPr txBox="1"/>
          <p:nvPr/>
        </p:nvSpPr>
        <p:spPr>
          <a:xfrm>
            <a:off x="8302752" y="4645152"/>
            <a:ext cx="3035808" cy="1051560"/>
          </a:xfrm>
          <a:prstGeom prst="rect">
            <a:avLst/>
          </a:prstGeom>
          <a:noFill/>
        </p:spPr>
        <p:txBody>
          <a:bodyPr wrap="square">
            <a:spAutoFit/>
          </a:bodyPr>
          <a:lstStyle/>
          <a:p>
            <a:pPr>
              <a:spcAft>
                <a:spcPts val="500"/>
              </a:spcAft>
              <a:defRPr sz="1200" b="0">
                <a:solidFill>
                  <a:srgbClr val="18304C"/>
                </a:solidFill>
                <a:latin typeface="Aptos"/>
              </a:defRPr>
            </a:pPr>
            <a:r>
              <a:t>Apparent payload patterns can be entangled with flight order, hardware generation, and site. Filtering supports investigation, not proof of causation.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Predictive results | Why model selection matters</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pic>
        <p:nvPicPr>
          <p:cNvPr id="7" name="Picture 6" descr="image.png"/>
          <p:cNvPicPr>
            <a:picLocks noChangeAspect="1"/>
          </p:cNvPicPr>
          <p:nvPr/>
        </p:nvPicPr>
        <p:blipFill>
          <a:blip r:embed="rId2"/>
          <a:stretch>
            <a:fillRect/>
          </a:stretch>
        </p:blipFill>
        <p:spPr>
          <a:xfrm>
            <a:off x="694944" y="1554480"/>
            <a:ext cx="7223760" cy="4343400"/>
          </a:xfrm>
          <a:prstGeom prst="rect">
            <a:avLst/>
          </a:prstGeom>
        </p:spPr>
      </p:pic>
      <p:sp>
        <p:nvSpPr>
          <p:cNvPr id="8" name="Rectangle 7"/>
          <p:cNvSpPr/>
          <p:nvPr/>
        </p:nvSpPr>
        <p:spPr>
          <a:xfrm>
            <a:off x="8138160" y="1691640"/>
            <a:ext cx="3355848" cy="2359152"/>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01368"/>
            <a:ext cx="3035808" cy="320040"/>
          </a:xfrm>
          <a:prstGeom prst="rect">
            <a:avLst/>
          </a:prstGeom>
          <a:noFill/>
        </p:spPr>
        <p:txBody>
          <a:bodyPr wrap="square">
            <a:spAutoFit/>
          </a:bodyPr>
          <a:lstStyle/>
          <a:p>
            <a:pPr>
              <a:spcAft>
                <a:spcPts val="500"/>
              </a:spcAft>
              <a:defRPr sz="1400" b="1">
                <a:solidFill>
                  <a:srgbClr val="1953B6"/>
                </a:solidFill>
                <a:latin typeface="Aptos"/>
              </a:defRPr>
            </a:pPr>
            <a:r>
              <a:t>VALIDATION</a:t>
            </a:r>
          </a:p>
        </p:txBody>
      </p:sp>
      <p:sp>
        <p:nvSpPr>
          <p:cNvPr id="10" name="TextBox 9"/>
          <p:cNvSpPr txBox="1"/>
          <p:nvPr/>
        </p:nvSpPr>
        <p:spPr>
          <a:xfrm>
            <a:off x="8302752" y="2203704"/>
            <a:ext cx="3035808" cy="1801368"/>
          </a:xfrm>
          <a:prstGeom prst="rect">
            <a:avLst/>
          </a:prstGeom>
          <a:noFill/>
        </p:spPr>
        <p:txBody>
          <a:bodyPr wrap="square">
            <a:spAutoFit/>
          </a:bodyPr>
          <a:lstStyle/>
          <a:p>
            <a:pPr>
              <a:spcAft>
                <a:spcPts val="500"/>
              </a:spcAft>
              <a:defRPr sz="1200" b="0">
                <a:solidFill>
                  <a:srgbClr val="18304C"/>
                </a:solidFill>
                <a:latin typeface="Aptos"/>
              </a:defRPr>
            </a:pPr>
            <a:r>
              <a:t>SVM: 78.6% cross-validation; 78.6% holdout. Logistic regression: 73.8% CV, 78.6% holdout. Decision tree and KNN generalize less well on this split.</a:t>
            </a:r>
          </a:p>
        </p:txBody>
      </p:sp>
      <p:sp>
        <p:nvSpPr>
          <p:cNvPr id="11" name="Rectangle 10"/>
          <p:cNvSpPr/>
          <p:nvPr/>
        </p:nvSpPr>
        <p:spPr>
          <a:xfrm>
            <a:off x="8138160" y="4224528"/>
            <a:ext cx="3355848" cy="1527048"/>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4334256"/>
            <a:ext cx="3035808" cy="320040"/>
          </a:xfrm>
          <a:prstGeom prst="rect">
            <a:avLst/>
          </a:prstGeom>
          <a:noFill/>
        </p:spPr>
        <p:txBody>
          <a:bodyPr wrap="square">
            <a:spAutoFit/>
          </a:bodyPr>
          <a:lstStyle/>
          <a:p>
            <a:pPr>
              <a:spcAft>
                <a:spcPts val="500"/>
              </a:spcAft>
              <a:defRPr sz="1400" b="1">
                <a:solidFill>
                  <a:srgbClr val="1953B6"/>
                </a:solidFill>
                <a:latin typeface="Aptos"/>
              </a:defRPr>
            </a:pPr>
            <a:r>
              <a:t>BEST MODEL RULE</a:t>
            </a:r>
          </a:p>
        </p:txBody>
      </p:sp>
      <p:sp>
        <p:nvSpPr>
          <p:cNvPr id="13" name="TextBox 12"/>
          <p:cNvSpPr txBox="1"/>
          <p:nvPr/>
        </p:nvSpPr>
        <p:spPr>
          <a:xfrm>
            <a:off x="8302752" y="4736592"/>
            <a:ext cx="3035808" cy="969264"/>
          </a:xfrm>
          <a:prstGeom prst="rect">
            <a:avLst/>
          </a:prstGeom>
          <a:noFill/>
        </p:spPr>
        <p:txBody>
          <a:bodyPr wrap="square">
            <a:spAutoFit/>
          </a:bodyPr>
          <a:lstStyle/>
          <a:p>
            <a:pPr>
              <a:spcAft>
                <a:spcPts val="500"/>
              </a:spcAft>
              <a:defRPr sz="1200" b="0">
                <a:solidFill>
                  <a:srgbClr val="18304C"/>
                </a:solidFill>
                <a:latin typeface="Aptos"/>
              </a:defRPr>
            </a:pPr>
            <a:r>
              <a:t>SVM is selected by cross-validation, not post hoc by the holdout set. Test set includes only 14 records; small changes in counts materially affect the percentage.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Predictive results | Confusion matrix and errors</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pic>
        <p:nvPicPr>
          <p:cNvPr id="7" name="Picture 6" descr="image.png"/>
          <p:cNvPicPr>
            <a:picLocks noChangeAspect="1"/>
          </p:cNvPicPr>
          <p:nvPr/>
        </p:nvPicPr>
        <p:blipFill>
          <a:blip r:embed="rId2"/>
          <a:stretch>
            <a:fillRect/>
          </a:stretch>
        </p:blipFill>
        <p:spPr>
          <a:xfrm>
            <a:off x="694944" y="1554480"/>
            <a:ext cx="7223760" cy="4343400"/>
          </a:xfrm>
          <a:prstGeom prst="rect">
            <a:avLst/>
          </a:prstGeom>
        </p:spPr>
      </p:pic>
      <p:sp>
        <p:nvSpPr>
          <p:cNvPr id="8" name="Rectangle 7"/>
          <p:cNvSpPr/>
          <p:nvPr/>
        </p:nvSpPr>
        <p:spPr>
          <a:xfrm>
            <a:off x="8138160" y="1691640"/>
            <a:ext cx="3355848" cy="2286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01368"/>
            <a:ext cx="3035808" cy="320040"/>
          </a:xfrm>
          <a:prstGeom prst="rect">
            <a:avLst/>
          </a:prstGeom>
          <a:noFill/>
        </p:spPr>
        <p:txBody>
          <a:bodyPr wrap="square">
            <a:spAutoFit/>
          </a:bodyPr>
          <a:lstStyle/>
          <a:p>
            <a:pPr>
              <a:spcAft>
                <a:spcPts val="500"/>
              </a:spcAft>
              <a:defRPr sz="1400" b="1">
                <a:solidFill>
                  <a:srgbClr val="1953B6"/>
                </a:solidFill>
                <a:latin typeface="Aptos"/>
              </a:defRPr>
            </a:pPr>
            <a:r>
              <a:t>INTERPRETATION</a:t>
            </a:r>
          </a:p>
        </p:txBody>
      </p:sp>
      <p:sp>
        <p:nvSpPr>
          <p:cNvPr id="10" name="TextBox 9"/>
          <p:cNvSpPr txBox="1"/>
          <p:nvPr/>
        </p:nvSpPr>
        <p:spPr>
          <a:xfrm>
            <a:off x="8302752" y="2203704"/>
            <a:ext cx="3035808" cy="1728216"/>
          </a:xfrm>
          <a:prstGeom prst="rect">
            <a:avLst/>
          </a:prstGeom>
          <a:noFill/>
        </p:spPr>
        <p:txBody>
          <a:bodyPr wrap="square">
            <a:spAutoFit/>
          </a:bodyPr>
          <a:lstStyle/>
          <a:p>
            <a:pPr>
              <a:spcAft>
                <a:spcPts val="500"/>
              </a:spcAft>
              <a:defRPr sz="1200" b="0">
                <a:solidFill>
                  <a:srgbClr val="18304C"/>
                </a:solidFill>
                <a:latin typeface="Aptos"/>
              </a:defRPr>
            </a:pPr>
            <a:r>
              <a:t>Rows give observed recovery outcome; columns give prediction. Off-diagonal cases are errors. Accuracy alone obscures the class-specific consequences of mistakes.</a:t>
            </a:r>
          </a:p>
        </p:txBody>
      </p:sp>
      <p:sp>
        <p:nvSpPr>
          <p:cNvPr id="11" name="Rectangle 10"/>
          <p:cNvSpPr/>
          <p:nvPr/>
        </p:nvSpPr>
        <p:spPr>
          <a:xfrm>
            <a:off x="8138160" y="4197096"/>
            <a:ext cx="3355848" cy="1591056"/>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4306824"/>
            <a:ext cx="3035808" cy="320040"/>
          </a:xfrm>
          <a:prstGeom prst="rect">
            <a:avLst/>
          </a:prstGeom>
          <a:noFill/>
        </p:spPr>
        <p:txBody>
          <a:bodyPr wrap="square">
            <a:spAutoFit/>
          </a:bodyPr>
          <a:lstStyle/>
          <a:p>
            <a:pPr>
              <a:spcAft>
                <a:spcPts val="500"/>
              </a:spcAft>
              <a:defRPr sz="1400" b="1">
                <a:solidFill>
                  <a:srgbClr val="1953B6"/>
                </a:solidFill>
                <a:latin typeface="Aptos"/>
              </a:defRPr>
            </a:pPr>
            <a:r>
              <a:t>LIMITATIONS</a:t>
            </a:r>
          </a:p>
        </p:txBody>
      </p:sp>
      <p:sp>
        <p:nvSpPr>
          <p:cNvPr id="13" name="TextBox 12"/>
          <p:cNvSpPr txBox="1"/>
          <p:nvPr/>
        </p:nvSpPr>
        <p:spPr>
          <a:xfrm>
            <a:off x="8302752" y="4709160"/>
            <a:ext cx="3035808" cy="1033271"/>
          </a:xfrm>
          <a:prstGeom prst="rect">
            <a:avLst/>
          </a:prstGeom>
          <a:noFill/>
        </p:spPr>
        <p:txBody>
          <a:bodyPr wrap="square">
            <a:spAutoFit/>
          </a:bodyPr>
          <a:lstStyle/>
          <a:p>
            <a:pPr>
              <a:spcAft>
                <a:spcPts val="500"/>
              </a:spcAft>
              <a:defRPr sz="1200" b="0">
                <a:solidFill>
                  <a:srgbClr val="18304C"/>
                </a:solidFill>
                <a:latin typeface="Aptos"/>
              </a:defRPr>
            </a:pPr>
            <a:r>
              <a:t>The model uses 42 training and 14 test records. A larger, newer dataset and time-based validation would be needed before deployment decisions.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Conclusions | Four evidence-linked takeaways</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sp>
        <p:nvSpPr>
          <p:cNvPr id="7" name="Rectangle 6"/>
          <p:cNvSpPr/>
          <p:nvPr/>
        </p:nvSpPr>
        <p:spPr>
          <a:xfrm>
            <a:off x="713232" y="1435608"/>
            <a:ext cx="10771632" cy="1033271"/>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435608"/>
            <a:ext cx="64008" cy="1033271"/>
          </a:xfrm>
          <a:prstGeom prst="rect">
            <a:avLst/>
          </a:prstGeom>
          <a:solidFill>
            <a:srgbClr val="16A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45336"/>
            <a:ext cx="9966960" cy="283464"/>
          </a:xfrm>
          <a:prstGeom prst="rect">
            <a:avLst/>
          </a:prstGeom>
          <a:noFill/>
        </p:spPr>
        <p:txBody>
          <a:bodyPr wrap="square">
            <a:spAutoFit/>
          </a:bodyPr>
          <a:lstStyle/>
          <a:p>
            <a:pPr>
              <a:spcAft>
                <a:spcPts val="500"/>
              </a:spcAft>
              <a:defRPr sz="1500" b="1">
                <a:solidFill>
                  <a:srgbClr val="1953B6"/>
                </a:solidFill>
                <a:latin typeface="Aptos"/>
              </a:defRPr>
            </a:pPr>
            <a:r>
              <a:t>01 | Baseline</a:t>
            </a:r>
          </a:p>
        </p:txBody>
      </p:sp>
      <p:sp>
        <p:nvSpPr>
          <p:cNvPr id="10" name="TextBox 9"/>
          <p:cNvSpPr txBox="1"/>
          <p:nvPr/>
        </p:nvSpPr>
        <p:spPr>
          <a:xfrm>
            <a:off x="932688" y="1865376"/>
            <a:ext cx="10040112" cy="521207"/>
          </a:xfrm>
          <a:prstGeom prst="rect">
            <a:avLst/>
          </a:prstGeom>
          <a:noFill/>
        </p:spPr>
        <p:txBody>
          <a:bodyPr wrap="square">
            <a:spAutoFit/>
          </a:bodyPr>
          <a:lstStyle/>
          <a:p>
            <a:pPr>
              <a:spcAft>
                <a:spcPts val="500"/>
              </a:spcAft>
              <a:defRPr sz="1200" b="0">
                <a:solidFill>
                  <a:srgbClr val="18304C"/>
                </a:solidFill>
                <a:latin typeface="Aptos"/>
              </a:defRPr>
            </a:pPr>
            <a:r>
              <a:t>24 of 56 launches (42.9%) in this historical sample are labeled as successful first-stage recoveries. This number must not be generalized to present-day SpaceX operations.</a:t>
            </a:r>
          </a:p>
        </p:txBody>
      </p:sp>
      <p:sp>
        <p:nvSpPr>
          <p:cNvPr id="11" name="Rectangle 10"/>
          <p:cNvSpPr/>
          <p:nvPr/>
        </p:nvSpPr>
        <p:spPr>
          <a:xfrm>
            <a:off x="713232" y="2624328"/>
            <a:ext cx="10771632" cy="1033271"/>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 y="2624328"/>
            <a:ext cx="64008" cy="1033271"/>
          </a:xfrm>
          <a:prstGeom prst="rect">
            <a:avLst/>
          </a:prstGeom>
          <a:solidFill>
            <a:srgbClr val="16A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734056"/>
            <a:ext cx="9966960" cy="283464"/>
          </a:xfrm>
          <a:prstGeom prst="rect">
            <a:avLst/>
          </a:prstGeom>
          <a:noFill/>
        </p:spPr>
        <p:txBody>
          <a:bodyPr wrap="square">
            <a:spAutoFit/>
          </a:bodyPr>
          <a:lstStyle/>
          <a:p>
            <a:pPr>
              <a:spcAft>
                <a:spcPts val="500"/>
              </a:spcAft>
              <a:defRPr sz="1500" b="1">
                <a:solidFill>
                  <a:srgbClr val="1953B6"/>
                </a:solidFill>
                <a:latin typeface="Aptos"/>
              </a:defRPr>
            </a:pPr>
            <a:r>
              <a:t>02 | Explanatory patterns</a:t>
            </a:r>
          </a:p>
        </p:txBody>
      </p:sp>
      <p:sp>
        <p:nvSpPr>
          <p:cNvPr id="14" name="TextBox 13"/>
          <p:cNvSpPr txBox="1"/>
          <p:nvPr/>
        </p:nvSpPr>
        <p:spPr>
          <a:xfrm>
            <a:off x="932688" y="3054096"/>
            <a:ext cx="10040112" cy="521207"/>
          </a:xfrm>
          <a:prstGeom prst="rect">
            <a:avLst/>
          </a:prstGeom>
          <a:noFill/>
        </p:spPr>
        <p:txBody>
          <a:bodyPr wrap="square">
            <a:spAutoFit/>
          </a:bodyPr>
          <a:lstStyle/>
          <a:p>
            <a:pPr>
              <a:spcAft>
                <a:spcPts val="500"/>
              </a:spcAft>
              <a:defRPr sz="1200" b="0">
                <a:solidFill>
                  <a:srgbClr val="18304C"/>
                </a:solidFill>
                <a:latin typeface="Aptos"/>
              </a:defRPr>
            </a:pPr>
            <a:r>
              <a:t>Booster generation and flight progression vary with recovery outcome. Associations can reflect technological maturity, launch conditions, and mission composition.</a:t>
            </a:r>
          </a:p>
        </p:txBody>
      </p:sp>
      <p:sp>
        <p:nvSpPr>
          <p:cNvPr id="15" name="Rectangle 14"/>
          <p:cNvSpPr/>
          <p:nvPr/>
        </p:nvSpPr>
        <p:spPr>
          <a:xfrm>
            <a:off x="713232" y="3813048"/>
            <a:ext cx="10771632" cy="1033271"/>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3813048"/>
            <a:ext cx="64008" cy="1033271"/>
          </a:xfrm>
          <a:prstGeom prst="rect">
            <a:avLst/>
          </a:prstGeom>
          <a:solidFill>
            <a:srgbClr val="16A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922776"/>
            <a:ext cx="9966960" cy="283464"/>
          </a:xfrm>
          <a:prstGeom prst="rect">
            <a:avLst/>
          </a:prstGeom>
          <a:noFill/>
        </p:spPr>
        <p:txBody>
          <a:bodyPr wrap="square">
            <a:spAutoFit/>
          </a:bodyPr>
          <a:lstStyle/>
          <a:p>
            <a:pPr>
              <a:spcAft>
                <a:spcPts val="500"/>
              </a:spcAft>
              <a:defRPr sz="1500" b="1">
                <a:solidFill>
                  <a:srgbClr val="1953B6"/>
                </a:solidFill>
                <a:latin typeface="Aptos"/>
              </a:defRPr>
            </a:pPr>
            <a:r>
              <a:t>03 | Model accuracy</a:t>
            </a:r>
          </a:p>
        </p:txBody>
      </p:sp>
      <p:sp>
        <p:nvSpPr>
          <p:cNvPr id="18" name="TextBox 17"/>
          <p:cNvSpPr txBox="1"/>
          <p:nvPr/>
        </p:nvSpPr>
        <p:spPr>
          <a:xfrm>
            <a:off x="932688" y="4242816"/>
            <a:ext cx="10040112" cy="521207"/>
          </a:xfrm>
          <a:prstGeom prst="rect">
            <a:avLst/>
          </a:prstGeom>
          <a:noFill/>
        </p:spPr>
        <p:txBody>
          <a:bodyPr wrap="square">
            <a:spAutoFit/>
          </a:bodyPr>
          <a:lstStyle/>
          <a:p>
            <a:pPr>
              <a:spcAft>
                <a:spcPts val="500"/>
              </a:spcAft>
              <a:defRPr sz="1200" b="0">
                <a:solidFill>
                  <a:srgbClr val="18304C"/>
                </a:solidFill>
                <a:latin typeface="Aptos"/>
              </a:defRPr>
            </a:pPr>
            <a:r>
              <a:t>SVM was strongest on cross-validation (78.6%) and correctly classified 11 of 14 held-out records. The small test set makes performance uncertain.</a:t>
            </a:r>
          </a:p>
        </p:txBody>
      </p:sp>
      <p:sp>
        <p:nvSpPr>
          <p:cNvPr id="19" name="Rectangle 18"/>
          <p:cNvSpPr/>
          <p:nvPr/>
        </p:nvSpPr>
        <p:spPr>
          <a:xfrm>
            <a:off x="713232" y="5001768"/>
            <a:ext cx="10771632" cy="1033271"/>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5001768"/>
            <a:ext cx="64008" cy="1033271"/>
          </a:xfrm>
          <a:prstGeom prst="rect">
            <a:avLst/>
          </a:prstGeom>
          <a:solidFill>
            <a:srgbClr val="16A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5111496"/>
            <a:ext cx="9966960" cy="283464"/>
          </a:xfrm>
          <a:prstGeom prst="rect">
            <a:avLst/>
          </a:prstGeom>
          <a:noFill/>
        </p:spPr>
        <p:txBody>
          <a:bodyPr wrap="square">
            <a:spAutoFit/>
          </a:bodyPr>
          <a:lstStyle/>
          <a:p>
            <a:pPr>
              <a:spcAft>
                <a:spcPts val="500"/>
              </a:spcAft>
              <a:defRPr sz="1500" b="1">
                <a:solidFill>
                  <a:srgbClr val="1953B6"/>
                </a:solidFill>
                <a:latin typeface="Aptos"/>
              </a:defRPr>
            </a:pPr>
            <a:r>
              <a:t>04 | Next decision</a:t>
            </a:r>
          </a:p>
        </p:txBody>
      </p:sp>
      <p:sp>
        <p:nvSpPr>
          <p:cNvPr id="22" name="TextBox 21"/>
          <p:cNvSpPr txBox="1"/>
          <p:nvPr/>
        </p:nvSpPr>
        <p:spPr>
          <a:xfrm>
            <a:off x="932688" y="5431536"/>
            <a:ext cx="10040112" cy="521207"/>
          </a:xfrm>
          <a:prstGeom prst="rect">
            <a:avLst/>
          </a:prstGeom>
          <a:noFill/>
        </p:spPr>
        <p:txBody>
          <a:bodyPr wrap="square">
            <a:spAutoFit/>
          </a:bodyPr>
          <a:lstStyle/>
          <a:p>
            <a:pPr>
              <a:spcAft>
                <a:spcPts val="500"/>
              </a:spcAft>
              <a:defRPr sz="1200" b="0">
                <a:solidFill>
                  <a:srgbClr val="18304C"/>
                </a:solidFill>
                <a:latin typeface="Aptos"/>
              </a:defRPr>
            </a:pPr>
            <a:r>
              <a:t>Use fresh and consistently labeled launch records, richer weather/trajectory features and chronological validation before comparing launch-provider reliability.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Reproducibility | Source links and evidence</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sp>
        <p:nvSpPr>
          <p:cNvPr id="7" name="Rectangle 6"/>
          <p:cNvSpPr/>
          <p:nvPr/>
        </p:nvSpPr>
        <p:spPr>
          <a:xfrm>
            <a:off x="731520" y="1463040"/>
            <a:ext cx="10716768" cy="804672"/>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81912"/>
            <a:ext cx="2834640" cy="246888"/>
          </a:xfrm>
          <a:prstGeom prst="rect">
            <a:avLst/>
          </a:prstGeom>
          <a:noFill/>
        </p:spPr>
        <p:txBody>
          <a:bodyPr wrap="square">
            <a:spAutoFit/>
          </a:bodyPr>
          <a:lstStyle/>
          <a:p>
            <a:pPr>
              <a:spcAft>
                <a:spcPts val="500"/>
              </a:spcAft>
              <a:defRPr sz="1400" b="1">
                <a:solidFill>
                  <a:srgbClr val="1953B6"/>
                </a:solidFill>
                <a:latin typeface="Aptos"/>
              </a:defRPr>
            </a:pPr>
            <a:r>
              <a:t>Public course dataset</a:t>
            </a:r>
          </a:p>
        </p:txBody>
      </p:sp>
      <p:sp>
        <p:nvSpPr>
          <p:cNvPr id="9" name="TextBox 8"/>
          <p:cNvSpPr txBox="1"/>
          <p:nvPr/>
        </p:nvSpPr>
        <p:spPr>
          <a:xfrm>
            <a:off x="3813048" y="1554480"/>
            <a:ext cx="7333488" cy="566928"/>
          </a:xfrm>
          <a:prstGeom prst="rect">
            <a:avLst/>
          </a:prstGeom>
          <a:noFill/>
        </p:spPr>
        <p:txBody>
          <a:bodyPr wrap="square">
            <a:spAutoFit/>
          </a:bodyPr>
          <a:lstStyle/>
          <a:p>
            <a:pPr>
              <a:spcAft>
                <a:spcPts val="500"/>
              </a:spcAft>
              <a:defRPr sz="1100" b="0">
                <a:solidFill>
                  <a:srgbClr val="18304C"/>
                </a:solidFill>
                <a:latin typeface="Aptos"/>
              </a:defRPr>
            </a:pPr>
            <a:r>
              <a:t>https://github.com/Ahmed-Nezar/IBM-Data-Science-Capstone-SpaceX/blob/main/spacex_launch_dash.csv</a:t>
            </a:r>
          </a:p>
        </p:txBody>
      </p:sp>
      <p:sp>
        <p:nvSpPr>
          <p:cNvPr id="10" name="Rectangle 9"/>
          <p:cNvSpPr/>
          <p:nvPr/>
        </p:nvSpPr>
        <p:spPr>
          <a:xfrm>
            <a:off x="731520" y="2377440"/>
            <a:ext cx="10716768" cy="804672"/>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496312"/>
            <a:ext cx="2834640" cy="246888"/>
          </a:xfrm>
          <a:prstGeom prst="rect">
            <a:avLst/>
          </a:prstGeom>
          <a:noFill/>
        </p:spPr>
        <p:txBody>
          <a:bodyPr wrap="square">
            <a:spAutoFit/>
          </a:bodyPr>
          <a:lstStyle/>
          <a:p>
            <a:pPr>
              <a:spcAft>
                <a:spcPts val="500"/>
              </a:spcAft>
              <a:defRPr sz="1400" b="1">
                <a:solidFill>
                  <a:srgbClr val="1953B6"/>
                </a:solidFill>
                <a:latin typeface="Aptos"/>
              </a:defRPr>
            </a:pPr>
            <a:r>
              <a:t>Interactive map</a:t>
            </a:r>
          </a:p>
        </p:txBody>
      </p:sp>
      <p:sp>
        <p:nvSpPr>
          <p:cNvPr id="12" name="TextBox 11"/>
          <p:cNvSpPr txBox="1"/>
          <p:nvPr/>
        </p:nvSpPr>
        <p:spPr>
          <a:xfrm>
            <a:off x="3813048" y="2468880"/>
            <a:ext cx="7333488" cy="566928"/>
          </a:xfrm>
          <a:prstGeom prst="rect">
            <a:avLst/>
          </a:prstGeom>
          <a:noFill/>
        </p:spPr>
        <p:txBody>
          <a:bodyPr wrap="square">
            <a:spAutoFit/>
          </a:bodyPr>
          <a:lstStyle/>
          <a:p>
            <a:pPr>
              <a:spcAft>
                <a:spcPts val="500"/>
              </a:spcAft>
              <a:defRPr sz="1100" b="0">
                <a:solidFill>
                  <a:srgbClr val="18304C"/>
                </a:solidFill>
                <a:latin typeface="Aptos"/>
              </a:defRPr>
            </a:pPr>
            <a:r>
              <a:t>folium_site_map.html (included in the evidence package)</a:t>
            </a:r>
          </a:p>
        </p:txBody>
      </p:sp>
      <p:sp>
        <p:nvSpPr>
          <p:cNvPr id="13" name="Rectangle 12"/>
          <p:cNvSpPr/>
          <p:nvPr/>
        </p:nvSpPr>
        <p:spPr>
          <a:xfrm>
            <a:off x="731520" y="3291840"/>
            <a:ext cx="10716768" cy="804672"/>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410712"/>
            <a:ext cx="2834640" cy="246888"/>
          </a:xfrm>
          <a:prstGeom prst="rect">
            <a:avLst/>
          </a:prstGeom>
          <a:noFill/>
        </p:spPr>
        <p:txBody>
          <a:bodyPr wrap="square">
            <a:spAutoFit/>
          </a:bodyPr>
          <a:lstStyle/>
          <a:p>
            <a:pPr>
              <a:spcAft>
                <a:spcPts val="500"/>
              </a:spcAft>
              <a:defRPr sz="1400" b="1">
                <a:solidFill>
                  <a:srgbClr val="1953B6"/>
                </a:solidFill>
                <a:latin typeface="Aptos"/>
              </a:defRPr>
            </a:pPr>
            <a:r>
              <a:t>Dashboard code</a:t>
            </a:r>
          </a:p>
        </p:txBody>
      </p:sp>
      <p:sp>
        <p:nvSpPr>
          <p:cNvPr id="15" name="TextBox 14"/>
          <p:cNvSpPr txBox="1"/>
          <p:nvPr/>
        </p:nvSpPr>
        <p:spPr>
          <a:xfrm>
            <a:off x="3813048" y="3383280"/>
            <a:ext cx="7333488" cy="566928"/>
          </a:xfrm>
          <a:prstGeom prst="rect">
            <a:avLst/>
          </a:prstGeom>
          <a:noFill/>
        </p:spPr>
        <p:txBody>
          <a:bodyPr wrap="square">
            <a:spAutoFit/>
          </a:bodyPr>
          <a:lstStyle/>
          <a:p>
            <a:pPr>
              <a:spcAft>
                <a:spcPts val="500"/>
              </a:spcAft>
              <a:defRPr sz="1100" b="0">
                <a:solidFill>
                  <a:srgbClr val="18304C"/>
                </a:solidFill>
                <a:latin typeface="Aptos"/>
              </a:defRPr>
            </a:pPr>
            <a:r>
              <a:t>dashboard_app.py (included in the evidence package)</a:t>
            </a:r>
          </a:p>
        </p:txBody>
      </p:sp>
      <p:sp>
        <p:nvSpPr>
          <p:cNvPr id="16" name="Rectangle 15"/>
          <p:cNvSpPr/>
          <p:nvPr/>
        </p:nvSpPr>
        <p:spPr>
          <a:xfrm>
            <a:off x="731520" y="4206240"/>
            <a:ext cx="10716768" cy="804672"/>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325112"/>
            <a:ext cx="2834640" cy="246888"/>
          </a:xfrm>
          <a:prstGeom prst="rect">
            <a:avLst/>
          </a:prstGeom>
          <a:noFill/>
        </p:spPr>
        <p:txBody>
          <a:bodyPr wrap="square">
            <a:spAutoFit/>
          </a:bodyPr>
          <a:lstStyle/>
          <a:p>
            <a:pPr>
              <a:spcAft>
                <a:spcPts val="500"/>
              </a:spcAft>
              <a:defRPr sz="1400" b="1">
                <a:solidFill>
                  <a:srgbClr val="1953B6"/>
                </a:solidFill>
                <a:latin typeface="Aptos"/>
              </a:defRPr>
            </a:pPr>
            <a:r>
              <a:t>SQL + classifier results</a:t>
            </a:r>
          </a:p>
        </p:txBody>
      </p:sp>
      <p:sp>
        <p:nvSpPr>
          <p:cNvPr id="18" name="TextBox 17"/>
          <p:cNvSpPr txBox="1"/>
          <p:nvPr/>
        </p:nvSpPr>
        <p:spPr>
          <a:xfrm>
            <a:off x="3813048" y="4297679"/>
            <a:ext cx="7333488" cy="566928"/>
          </a:xfrm>
          <a:prstGeom prst="rect">
            <a:avLst/>
          </a:prstGeom>
          <a:noFill/>
        </p:spPr>
        <p:txBody>
          <a:bodyPr wrap="square">
            <a:spAutoFit/>
          </a:bodyPr>
          <a:lstStyle/>
          <a:p>
            <a:pPr>
              <a:spcAft>
                <a:spcPts val="500"/>
              </a:spcAft>
              <a:defRPr sz="1100" b="0">
                <a:solidFill>
                  <a:srgbClr val="18304C"/>
                </a:solidFill>
                <a:latin typeface="Aptos"/>
              </a:defRPr>
            </a:pPr>
            <a:r>
              <a:t>SpaceX_executed_analysis.ipynb, sql_results.txt, model_evaluation.csv</a:t>
            </a:r>
          </a:p>
        </p:txBody>
      </p:sp>
      <p:sp>
        <p:nvSpPr>
          <p:cNvPr id="19" name="Rectangle 18"/>
          <p:cNvSpPr/>
          <p:nvPr/>
        </p:nvSpPr>
        <p:spPr>
          <a:xfrm>
            <a:off x="731520" y="5120640"/>
            <a:ext cx="10716768" cy="804672"/>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239512"/>
            <a:ext cx="2834640" cy="246888"/>
          </a:xfrm>
          <a:prstGeom prst="rect">
            <a:avLst/>
          </a:prstGeom>
          <a:noFill/>
        </p:spPr>
        <p:txBody>
          <a:bodyPr wrap="square">
            <a:spAutoFit/>
          </a:bodyPr>
          <a:lstStyle/>
          <a:p>
            <a:pPr>
              <a:spcAft>
                <a:spcPts val="500"/>
              </a:spcAft>
              <a:defRPr sz="1400" b="1">
                <a:solidFill>
                  <a:srgbClr val="1953B6"/>
                </a:solidFill>
                <a:latin typeface="Aptos"/>
              </a:defRPr>
            </a:pPr>
            <a:r>
              <a:t>Personal GitHub URL</a:t>
            </a:r>
          </a:p>
        </p:txBody>
      </p:sp>
      <p:sp>
        <p:nvSpPr>
          <p:cNvPr id="21" name="TextBox 20"/>
          <p:cNvSpPr txBox="1"/>
          <p:nvPr/>
        </p:nvSpPr>
        <p:spPr>
          <a:xfrm>
            <a:off x="3813048" y="5212079"/>
            <a:ext cx="7333488" cy="566928"/>
          </a:xfrm>
          <a:prstGeom prst="rect">
            <a:avLst/>
          </a:prstGeom>
          <a:noFill/>
        </p:spPr>
        <p:txBody>
          <a:bodyPr wrap="square">
            <a:spAutoFit/>
          </a:bodyPr>
          <a:lstStyle/>
          <a:p>
            <a:pPr>
              <a:spcAft>
                <a:spcPts val="500"/>
              </a:spcAft>
              <a:defRPr sz="1100" b="0">
                <a:solidFill>
                  <a:srgbClr val="18304C"/>
                </a:solidFill>
                <a:latin typeface="Aptos"/>
              </a:defRPr>
            </a:pPr>
            <a:r>
              <a:t>Not available: your repository must be published from your own account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95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058400" cy="210312"/>
          </a:xfrm>
          <a:prstGeom prst="rect">
            <a:avLst/>
          </a:prstGeom>
          <a:noFill/>
        </p:spPr>
        <p:txBody>
          <a:bodyPr wrap="square">
            <a:spAutoFit/>
          </a:bodyPr>
          <a:lstStyle/>
          <a:p>
            <a:pPr>
              <a:spcAft>
                <a:spcPts val="500"/>
              </a:spcAft>
              <a:defRPr sz="1000" b="1">
                <a:solidFill>
                  <a:srgbClr val="1953B6"/>
                </a:solidFill>
                <a:latin typeface="Aptos"/>
              </a:defRPr>
            </a:pPr>
            <a:r>
              <a:t>ADDITIONAL VERIFIED RESULTS / RUBRIC CORRECTIONS</a:t>
            </a:r>
          </a:p>
        </p:txBody>
      </p:sp>
      <p:sp>
        <p:nvSpPr>
          <p:cNvPr id="4" name="TextBox 3"/>
          <p:cNvSpPr txBox="1"/>
          <p:nvPr/>
        </p:nvSpPr>
        <p:spPr>
          <a:xfrm>
            <a:off x="594360" y="557784"/>
            <a:ext cx="10972800" cy="548640"/>
          </a:xfrm>
          <a:prstGeom prst="rect">
            <a:avLst/>
          </a:prstGeom>
          <a:noFill/>
        </p:spPr>
        <p:txBody>
          <a:bodyPr wrap="square">
            <a:spAutoFit/>
          </a:bodyPr>
          <a:lstStyle/>
          <a:p>
            <a:pPr>
              <a:spcAft>
                <a:spcPts val="500"/>
              </a:spcAft>
              <a:defRPr sz="2600" b="1">
                <a:solidFill>
                  <a:srgbClr val="18304C"/>
                </a:solidFill>
                <a:latin typeface="Aptos"/>
              </a:defRPr>
            </a:pPr>
            <a:r>
              <a:t>Rubric audit | Outstanding before full credit</a:t>
            </a:r>
          </a:p>
        </p:txBody>
      </p:sp>
      <p:sp>
        <p:nvSpPr>
          <p:cNvPr id="5" name="Rectangle 4"/>
          <p:cNvSpPr/>
          <p:nvPr/>
        </p:nvSpPr>
        <p:spPr>
          <a:xfrm>
            <a:off x="594360" y="1207008"/>
            <a:ext cx="10991088" cy="22860"/>
          </a:xfrm>
          <a:prstGeom prst="rect">
            <a:avLst/>
          </a:prstGeom>
          <a:solidFill>
            <a:srgbClr val="EA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92240"/>
            <a:ext cx="10058400" cy="164592"/>
          </a:xfrm>
          <a:prstGeom prst="rect">
            <a:avLst/>
          </a:prstGeom>
          <a:noFill/>
        </p:spPr>
        <p:txBody>
          <a:bodyPr wrap="square">
            <a:spAutoFit/>
          </a:bodyPr>
          <a:lstStyle/>
          <a:p>
            <a:pPr>
              <a:spcAft>
                <a:spcPts val="500"/>
              </a:spcAft>
              <a:defRPr sz="800" b="0">
                <a:solidFill>
                  <a:srgbClr val="64798A"/>
                </a:solidFill>
                <a:latin typeface="Aptos"/>
              </a:defRPr>
            </a:pPr>
            <a:r>
              <a:t>Historical IBM dashboard extract: 56 launches • Source identified; distinct from official API lab</a:t>
            </a:r>
          </a:p>
        </p:txBody>
      </p:sp>
      <p:sp>
        <p:nvSpPr>
          <p:cNvPr id="7" name="Rectangle 6"/>
          <p:cNvSpPr/>
          <p:nvPr/>
        </p:nvSpPr>
        <p:spPr>
          <a:xfrm>
            <a:off x="713232" y="1435608"/>
            <a:ext cx="10744200" cy="1024128"/>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45336"/>
            <a:ext cx="10058400" cy="237744"/>
          </a:xfrm>
          <a:prstGeom prst="rect">
            <a:avLst/>
          </a:prstGeom>
          <a:noFill/>
        </p:spPr>
        <p:txBody>
          <a:bodyPr wrap="square">
            <a:spAutoFit/>
          </a:bodyPr>
          <a:lstStyle/>
          <a:p>
            <a:pPr>
              <a:spcAft>
                <a:spcPts val="500"/>
              </a:spcAft>
              <a:defRPr sz="1500" b="1">
                <a:solidFill>
                  <a:srgbClr val="1953B6"/>
                </a:solidFill>
                <a:latin typeface="Aptos"/>
              </a:defRPr>
            </a:pPr>
            <a:r>
              <a:t>Done in report</a:t>
            </a:r>
          </a:p>
        </p:txBody>
      </p:sp>
      <p:sp>
        <p:nvSpPr>
          <p:cNvPr id="9" name="TextBox 8"/>
          <p:cNvSpPr txBox="1"/>
          <p:nvPr/>
        </p:nvSpPr>
        <p:spPr>
          <a:xfrm>
            <a:off x="914400" y="1847088"/>
            <a:ext cx="10241280" cy="484632"/>
          </a:xfrm>
          <a:prstGeom prst="rect">
            <a:avLst/>
          </a:prstGeom>
          <a:noFill/>
        </p:spPr>
        <p:txBody>
          <a:bodyPr wrap="square">
            <a:spAutoFit/>
          </a:bodyPr>
          <a:lstStyle/>
          <a:p>
            <a:pPr>
              <a:spcAft>
                <a:spcPts val="500"/>
              </a:spcAft>
              <a:defRPr sz="1200" b="0">
                <a:solidFill>
                  <a:srgbClr val="18304C"/>
                </a:solidFill>
                <a:latin typeface="Aptos"/>
              </a:defRPr>
            </a:pPr>
            <a:r>
              <a:t>PDF format; introduction; substantive executive summary; collection / cleaning / EDA methods; SQL results; model comparison and confusion matrix.</a:t>
            </a:r>
          </a:p>
        </p:txBody>
      </p:sp>
      <p:sp>
        <p:nvSpPr>
          <p:cNvPr id="10" name="Rectangle 9"/>
          <p:cNvSpPr/>
          <p:nvPr/>
        </p:nvSpPr>
        <p:spPr>
          <a:xfrm>
            <a:off x="713232" y="2633472"/>
            <a:ext cx="10744200" cy="1024128"/>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43200"/>
            <a:ext cx="10058400" cy="237744"/>
          </a:xfrm>
          <a:prstGeom prst="rect">
            <a:avLst/>
          </a:prstGeom>
          <a:noFill/>
        </p:spPr>
        <p:txBody>
          <a:bodyPr wrap="square">
            <a:spAutoFit/>
          </a:bodyPr>
          <a:lstStyle/>
          <a:p>
            <a:pPr>
              <a:spcAft>
                <a:spcPts val="500"/>
              </a:spcAft>
              <a:defRPr sz="1500" b="1">
                <a:solidFill>
                  <a:srgbClr val="1953B6"/>
                </a:solidFill>
                <a:latin typeface="Aptos"/>
              </a:defRPr>
            </a:pPr>
            <a:r>
              <a:t>Included, but limited</a:t>
            </a:r>
          </a:p>
        </p:txBody>
      </p:sp>
      <p:sp>
        <p:nvSpPr>
          <p:cNvPr id="12" name="TextBox 11"/>
          <p:cNvSpPr txBox="1"/>
          <p:nvPr/>
        </p:nvSpPr>
        <p:spPr>
          <a:xfrm>
            <a:off x="914400" y="3044952"/>
            <a:ext cx="10241280" cy="484632"/>
          </a:xfrm>
          <a:prstGeom prst="rect">
            <a:avLst/>
          </a:prstGeom>
          <a:noFill/>
        </p:spPr>
        <p:txBody>
          <a:bodyPr wrap="square">
            <a:spAutoFit/>
          </a:bodyPr>
          <a:lstStyle/>
          <a:p>
            <a:pPr>
              <a:spcAft>
                <a:spcPts val="500"/>
              </a:spcAft>
              <a:defRPr sz="1200" b="0">
                <a:solidFill>
                  <a:srgbClr val="18304C"/>
                </a:solidFill>
                <a:latin typeface="Aptos"/>
              </a:defRPr>
            </a:pPr>
            <a:r>
              <a:t>Folium coordinate map, site success outcomes and source-backed proximity discussion; static outputs from a runnable Dash app.</a:t>
            </a:r>
          </a:p>
        </p:txBody>
      </p:sp>
      <p:sp>
        <p:nvSpPr>
          <p:cNvPr id="13" name="Rectangle 12"/>
          <p:cNvSpPr/>
          <p:nvPr/>
        </p:nvSpPr>
        <p:spPr>
          <a:xfrm>
            <a:off x="713232" y="3831336"/>
            <a:ext cx="10744200" cy="1024128"/>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41064"/>
            <a:ext cx="10058400" cy="237744"/>
          </a:xfrm>
          <a:prstGeom prst="rect">
            <a:avLst/>
          </a:prstGeom>
          <a:noFill/>
        </p:spPr>
        <p:txBody>
          <a:bodyPr wrap="square">
            <a:spAutoFit/>
          </a:bodyPr>
          <a:lstStyle/>
          <a:p>
            <a:pPr>
              <a:spcAft>
                <a:spcPts val="500"/>
              </a:spcAft>
              <a:defRPr sz="1500" b="1">
                <a:solidFill>
                  <a:srgbClr val="1953B6"/>
                </a:solidFill>
                <a:latin typeface="Aptos"/>
              </a:defRPr>
            </a:pPr>
            <a:r>
              <a:t>Not verified complete</a:t>
            </a:r>
          </a:p>
        </p:txBody>
      </p:sp>
      <p:sp>
        <p:nvSpPr>
          <p:cNvPr id="15" name="TextBox 14"/>
          <p:cNvSpPr txBox="1"/>
          <p:nvPr/>
        </p:nvSpPr>
        <p:spPr>
          <a:xfrm>
            <a:off x="914400" y="4242816"/>
            <a:ext cx="10241280" cy="484632"/>
          </a:xfrm>
          <a:prstGeom prst="rect">
            <a:avLst/>
          </a:prstGeom>
          <a:noFill/>
        </p:spPr>
        <p:txBody>
          <a:bodyPr wrap="square">
            <a:spAutoFit/>
          </a:bodyPr>
          <a:lstStyle/>
          <a:p>
            <a:pPr>
              <a:spcAft>
                <a:spcPts val="500"/>
              </a:spcAft>
              <a:defRPr sz="1200" b="0">
                <a:solidFill>
                  <a:srgbClr val="18304C"/>
                </a:solidFill>
                <a:latin typeface="Aptos"/>
              </a:defRPr>
            </a:pPr>
            <a:r>
              <a:t>Actual browser-captured Folium and Dash screenshots; official IBM 90-launch notebook outputs; infrastructure distance calculations.</a:t>
            </a:r>
          </a:p>
        </p:txBody>
      </p:sp>
      <p:sp>
        <p:nvSpPr>
          <p:cNvPr id="16" name="Rectangle 15"/>
          <p:cNvSpPr/>
          <p:nvPr/>
        </p:nvSpPr>
        <p:spPr>
          <a:xfrm>
            <a:off x="713232" y="5029200"/>
            <a:ext cx="10744200" cy="1024128"/>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138928"/>
            <a:ext cx="10058400" cy="237744"/>
          </a:xfrm>
          <a:prstGeom prst="rect">
            <a:avLst/>
          </a:prstGeom>
          <a:noFill/>
        </p:spPr>
        <p:txBody>
          <a:bodyPr wrap="square">
            <a:spAutoFit/>
          </a:bodyPr>
          <a:lstStyle/>
          <a:p>
            <a:pPr>
              <a:spcAft>
                <a:spcPts val="500"/>
              </a:spcAft>
              <a:defRPr sz="1500" b="1">
                <a:solidFill>
                  <a:srgbClr val="1953B6"/>
                </a:solidFill>
                <a:latin typeface="Aptos"/>
              </a:defRPr>
            </a:pPr>
            <a:r>
              <a:t>Must be supplied by learner</a:t>
            </a:r>
          </a:p>
        </p:txBody>
      </p:sp>
      <p:sp>
        <p:nvSpPr>
          <p:cNvPr id="18" name="TextBox 17"/>
          <p:cNvSpPr txBox="1"/>
          <p:nvPr/>
        </p:nvSpPr>
        <p:spPr>
          <a:xfrm>
            <a:off x="914400" y="5440680"/>
            <a:ext cx="10241280" cy="484632"/>
          </a:xfrm>
          <a:prstGeom prst="rect">
            <a:avLst/>
          </a:prstGeom>
          <a:noFill/>
        </p:spPr>
        <p:txBody>
          <a:bodyPr wrap="square">
            <a:spAutoFit/>
          </a:bodyPr>
          <a:lstStyle/>
          <a:p>
            <a:pPr>
              <a:spcAft>
                <a:spcPts val="500"/>
              </a:spcAft>
              <a:defRPr sz="1200" b="0">
                <a:solidFill>
                  <a:srgbClr val="18304C"/>
                </a:solidFill>
                <a:latin typeface="Aptos"/>
              </a:defRPr>
            </a:pPr>
            <a:r>
              <a:t>Personal public GitHub repository with completed original lab notebooks and Python files; a repository URL in the slides.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Winning the Space Race with Data Science</dc:title>
  <dc:subject>IBM Applied Data Science Capstone — reproducible public dataset</dc:subject>
  <dc:creator>Ckyree Campbell</dc:creator>
  <cp:lastModifiedBy>Ckyree Campbell</cp:lastModifiedBy>
  <cp:revision>1</cp:revision>
  <dcterms:created xsi:type="dcterms:W3CDTF">2026-10-26T07:43:25Z</dcterms:created>
  <dcterms:modified xsi:type="dcterms:W3CDTF">2026-10-26T07:43:25Z</dcterms:modified>
</cp:coreProperties>
</file>